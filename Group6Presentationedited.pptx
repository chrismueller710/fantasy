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70" r:id="rId3"/>
    <p:sldId id="263" r:id="rId4"/>
    <p:sldId id="259" r:id="rId5"/>
    <p:sldId id="260" r:id="rId6"/>
    <p:sldId id="261" r:id="rId7"/>
    <p:sldId id="262" r:id="rId8"/>
    <p:sldId id="257" r:id="rId9"/>
    <p:sldId id="258" r:id="rId10"/>
    <p:sldId id="264" r:id="rId11"/>
    <p:sldId id="265" r:id="rId12"/>
    <p:sldId id="266" r:id="rId13"/>
    <p:sldId id="267" r:id="rId14"/>
    <p:sldId id="268" r:id="rId15"/>
    <p:sldId id="269" r:id="rId16"/>
    <p:sldId id="272" r:id="rId17"/>
    <p:sldId id="278" r:id="rId18"/>
    <p:sldId id="277" r:id="rId19"/>
    <p:sldId id="273" r:id="rId20"/>
    <p:sldId id="275" r:id="rId21"/>
    <p:sldId id="276" r:id="rId22"/>
    <p:sldId id="274" r:id="rId23"/>
    <p:sldId id="271" r:id="rId24"/>
    <p:sldId id="279" r:id="rId2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A3CE72D-E18E-43BE-ACB9-7B89D95DA97C}" v="7" dt="2023-04-20T21:24:02.008"/>
    <p1510:client id="{3CFBDD56-123D-6F04-9525-B2E691FCF149}" v="376" dt="2023-04-09T04:03:11.813"/>
    <p1510:client id="{8203982A-0D6E-D577-3E94-92984330D9E8}" v="16" dt="2023-04-20T19:32:03.792"/>
    <p1510:client id="{8260AF7D-87C7-4F70-A643-7EF0A3119F77}" v="10" dt="2023-04-27T16:44:17.660"/>
    <p1510:client id="{B5C2D6C2-518A-E6A1-D3EF-CD4FBFD54E0D}" v="26" dt="2023-04-25T15:19:58.463"/>
    <p1510:client id="{D32D48C7-52E4-42C8-B0A9-DF51E9E66A5E}" v="45" dt="2023-04-09T03:29:03.501"/>
    <p1510:client id="{E4C8BFC0-6741-441F-F0C5-973869BC8860}" v="881" dt="2023-04-28T17:13:57.971"/>
    <p1510:client id="{EB4B665A-5F30-4CEA-D41F-F37D4BCC0884}" v="1293" dt="2023-04-14T22:21:39.006"/>
    <p1510:client id="{ECEB878F-002F-4D33-A8EA-15BBFDF22D59}" v="372" dt="2023-04-17T16:17:31.161"/>
    <p1510:client id="{FDF8B6E9-309E-7DFF-C418-D40474922BBE}" v="93" dt="2023-04-15T22:49:07.95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5" d="100"/>
          <a:sy n="105" d="100"/>
        </p:scale>
        <p:origin x="798"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 Id="rId30" Type="http://schemas.microsoft.com/office/2015/10/relationships/revisionInfo" Target="revisionInfo.xml"/></Relationships>
</file>

<file path=ppt/diagrams/colors1.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AE0FBB62-BBD9-4407-AE05-CDF5EBA44D82}" type="doc">
      <dgm:prSet loTypeId="urn:microsoft.com/office/officeart/2005/8/layout/vList2" loCatId="list" qsTypeId="urn:microsoft.com/office/officeart/2005/8/quickstyle/simple4" qsCatId="simple" csTypeId="urn:microsoft.com/office/officeart/2005/8/colors/colorful5" csCatId="colorful"/>
      <dgm:spPr/>
      <dgm:t>
        <a:bodyPr/>
        <a:lstStyle/>
        <a:p>
          <a:endParaRPr lang="en-US"/>
        </a:p>
      </dgm:t>
    </dgm:pt>
    <dgm:pt modelId="{8E2F4885-12B3-43FB-A7B7-31D440601560}">
      <dgm:prSet/>
      <dgm:spPr/>
      <dgm:t>
        <a:bodyPr/>
        <a:lstStyle/>
        <a:p>
          <a:r>
            <a:rPr lang="en-US"/>
            <a:t>Player: First and Last name of player</a:t>
          </a:r>
        </a:p>
      </dgm:t>
    </dgm:pt>
    <dgm:pt modelId="{66944D9D-FBF1-41CA-968A-1553096F953B}" type="parTrans" cxnId="{E665EFAE-48DA-4784-8CC0-118FE4BC3542}">
      <dgm:prSet/>
      <dgm:spPr/>
      <dgm:t>
        <a:bodyPr/>
        <a:lstStyle/>
        <a:p>
          <a:endParaRPr lang="en-US"/>
        </a:p>
      </dgm:t>
    </dgm:pt>
    <dgm:pt modelId="{1508E5E7-EEDD-447F-AF77-3F40727A708F}" type="sibTrans" cxnId="{E665EFAE-48DA-4784-8CC0-118FE4BC3542}">
      <dgm:prSet/>
      <dgm:spPr/>
      <dgm:t>
        <a:bodyPr/>
        <a:lstStyle/>
        <a:p>
          <a:endParaRPr lang="en-US"/>
        </a:p>
      </dgm:t>
    </dgm:pt>
    <dgm:pt modelId="{10C4B0D8-3963-4833-AB6E-AC1A74B8DD09}">
      <dgm:prSet/>
      <dgm:spPr/>
      <dgm:t>
        <a:bodyPr/>
        <a:lstStyle/>
        <a:p>
          <a:r>
            <a:rPr lang="en-US"/>
            <a:t>State: The state the player was born in</a:t>
          </a:r>
        </a:p>
      </dgm:t>
    </dgm:pt>
    <dgm:pt modelId="{E7DC4A72-42B1-4E7E-AC19-86A905306E06}" type="parTrans" cxnId="{E814FF7B-0C4F-4BA7-BB30-8ED0B32EBCAD}">
      <dgm:prSet/>
      <dgm:spPr/>
      <dgm:t>
        <a:bodyPr/>
        <a:lstStyle/>
        <a:p>
          <a:endParaRPr lang="en-US"/>
        </a:p>
      </dgm:t>
    </dgm:pt>
    <dgm:pt modelId="{71AEC018-3308-456D-9FDD-C87D157FEC5F}" type="sibTrans" cxnId="{E814FF7B-0C4F-4BA7-BB30-8ED0B32EBCAD}">
      <dgm:prSet/>
      <dgm:spPr/>
      <dgm:t>
        <a:bodyPr/>
        <a:lstStyle/>
        <a:p>
          <a:endParaRPr lang="en-US"/>
        </a:p>
      </dgm:t>
    </dgm:pt>
    <dgm:pt modelId="{F00CE929-CD56-4272-8837-344F2DAEC412}">
      <dgm:prSet/>
      <dgm:spPr/>
      <dgm:t>
        <a:bodyPr/>
        <a:lstStyle/>
        <a:p>
          <a:r>
            <a:rPr lang="en-US"/>
            <a:t>College: The last college the player went to</a:t>
          </a:r>
        </a:p>
      </dgm:t>
    </dgm:pt>
    <dgm:pt modelId="{E4CF1C37-47CD-4C51-9415-FA6FA6AE6629}" type="parTrans" cxnId="{5D3D1658-0EB2-458B-B05A-2F562B594CEF}">
      <dgm:prSet/>
      <dgm:spPr/>
      <dgm:t>
        <a:bodyPr/>
        <a:lstStyle/>
        <a:p>
          <a:endParaRPr lang="en-US"/>
        </a:p>
      </dgm:t>
    </dgm:pt>
    <dgm:pt modelId="{7C333297-DA2F-44D4-A11C-673AE2485F3A}" type="sibTrans" cxnId="{5D3D1658-0EB2-458B-B05A-2F562B594CEF}">
      <dgm:prSet/>
      <dgm:spPr/>
      <dgm:t>
        <a:bodyPr/>
        <a:lstStyle/>
        <a:p>
          <a:endParaRPr lang="en-US"/>
        </a:p>
      </dgm:t>
    </dgm:pt>
    <dgm:pt modelId="{038C54AF-4EE3-479F-A304-8B7763336785}">
      <dgm:prSet/>
      <dgm:spPr/>
      <dgm:t>
        <a:bodyPr/>
        <a:lstStyle/>
        <a:p>
          <a:r>
            <a:rPr lang="en-US"/>
            <a:t>Team: The team the player was on for a majority of the 2022 season</a:t>
          </a:r>
        </a:p>
      </dgm:t>
    </dgm:pt>
    <dgm:pt modelId="{B7014E4E-F470-4DFD-BAD1-CAD824262C8C}" type="parTrans" cxnId="{246A35D2-5BE1-4C22-9B34-5B4777296F05}">
      <dgm:prSet/>
      <dgm:spPr/>
      <dgm:t>
        <a:bodyPr/>
        <a:lstStyle/>
        <a:p>
          <a:endParaRPr lang="en-US"/>
        </a:p>
      </dgm:t>
    </dgm:pt>
    <dgm:pt modelId="{A7651157-562D-4E79-A7E3-EC843378432B}" type="sibTrans" cxnId="{246A35D2-5BE1-4C22-9B34-5B4777296F05}">
      <dgm:prSet/>
      <dgm:spPr/>
      <dgm:t>
        <a:bodyPr/>
        <a:lstStyle/>
        <a:p>
          <a:endParaRPr lang="en-US"/>
        </a:p>
      </dgm:t>
    </dgm:pt>
    <dgm:pt modelId="{8570E5D8-9466-41B6-901B-D48B481BEFF7}">
      <dgm:prSet/>
      <dgm:spPr/>
      <dgm:t>
        <a:bodyPr/>
        <a:lstStyle/>
        <a:p>
          <a:r>
            <a:rPr lang="en-US"/>
            <a:t>Position: The position the player plays</a:t>
          </a:r>
        </a:p>
      </dgm:t>
    </dgm:pt>
    <dgm:pt modelId="{B7120D80-9B36-4611-9194-81A948901FF2}" type="parTrans" cxnId="{91E98045-7809-4AAF-999C-96AF5109FEAF}">
      <dgm:prSet/>
      <dgm:spPr/>
      <dgm:t>
        <a:bodyPr/>
        <a:lstStyle/>
        <a:p>
          <a:endParaRPr lang="en-US"/>
        </a:p>
      </dgm:t>
    </dgm:pt>
    <dgm:pt modelId="{AA80EE6A-79A4-429D-8192-9F22765ACD77}" type="sibTrans" cxnId="{91E98045-7809-4AAF-999C-96AF5109FEAF}">
      <dgm:prSet/>
      <dgm:spPr/>
      <dgm:t>
        <a:bodyPr/>
        <a:lstStyle/>
        <a:p>
          <a:endParaRPr lang="en-US"/>
        </a:p>
      </dgm:t>
    </dgm:pt>
    <dgm:pt modelId="{A36D8033-A464-4912-BC20-C605D21597C5}">
      <dgm:prSet/>
      <dgm:spPr/>
      <dgm:t>
        <a:bodyPr/>
        <a:lstStyle/>
        <a:p>
          <a:r>
            <a:rPr lang="en-US"/>
            <a:t>Age: How old the player was at the start of the 2022 season</a:t>
          </a:r>
        </a:p>
      </dgm:t>
    </dgm:pt>
    <dgm:pt modelId="{4B423314-F4BD-4FDA-B787-804E66B53FFA}" type="parTrans" cxnId="{E735A198-0DE8-4D71-A183-BC9C6EB36003}">
      <dgm:prSet/>
      <dgm:spPr/>
      <dgm:t>
        <a:bodyPr/>
        <a:lstStyle/>
        <a:p>
          <a:endParaRPr lang="en-US"/>
        </a:p>
      </dgm:t>
    </dgm:pt>
    <dgm:pt modelId="{9E2177DB-F553-4C32-989B-B7B26969AE48}" type="sibTrans" cxnId="{E735A198-0DE8-4D71-A183-BC9C6EB36003}">
      <dgm:prSet/>
      <dgm:spPr/>
      <dgm:t>
        <a:bodyPr/>
        <a:lstStyle/>
        <a:p>
          <a:endParaRPr lang="en-US"/>
        </a:p>
      </dgm:t>
    </dgm:pt>
    <dgm:pt modelId="{ACE6F904-4224-4F4E-BCAD-299E9A246BA3}">
      <dgm:prSet/>
      <dgm:spPr/>
      <dgm:t>
        <a:bodyPr/>
        <a:lstStyle/>
        <a:p>
          <a:r>
            <a:rPr lang="en-US"/>
            <a:t>Games: How many games the player played in in the 2022 season</a:t>
          </a:r>
        </a:p>
      </dgm:t>
    </dgm:pt>
    <dgm:pt modelId="{64F4349A-77B1-4B47-BD9D-4FF57F20FC51}" type="parTrans" cxnId="{6D54C435-9F6C-4E34-B5DD-C93739277B28}">
      <dgm:prSet/>
      <dgm:spPr/>
      <dgm:t>
        <a:bodyPr/>
        <a:lstStyle/>
        <a:p>
          <a:endParaRPr lang="en-US"/>
        </a:p>
      </dgm:t>
    </dgm:pt>
    <dgm:pt modelId="{C58F7AA9-0EB7-4B58-BE95-5E28CE1A1B2F}" type="sibTrans" cxnId="{6D54C435-9F6C-4E34-B5DD-C93739277B28}">
      <dgm:prSet/>
      <dgm:spPr/>
      <dgm:t>
        <a:bodyPr/>
        <a:lstStyle/>
        <a:p>
          <a:endParaRPr lang="en-US"/>
        </a:p>
      </dgm:t>
    </dgm:pt>
    <dgm:pt modelId="{58AF18F5-E591-4231-9AA9-6D0A74484462}" type="pres">
      <dgm:prSet presAssocID="{AE0FBB62-BBD9-4407-AE05-CDF5EBA44D82}" presName="linear" presStyleCnt="0">
        <dgm:presLayoutVars>
          <dgm:animLvl val="lvl"/>
          <dgm:resizeHandles val="exact"/>
        </dgm:presLayoutVars>
      </dgm:prSet>
      <dgm:spPr/>
    </dgm:pt>
    <dgm:pt modelId="{E7B9B4F2-AB6C-4531-A5B8-EEE5F3A7FFD1}" type="pres">
      <dgm:prSet presAssocID="{8E2F4885-12B3-43FB-A7B7-31D440601560}" presName="parentText" presStyleLbl="node1" presStyleIdx="0" presStyleCnt="7">
        <dgm:presLayoutVars>
          <dgm:chMax val="0"/>
          <dgm:bulletEnabled val="1"/>
        </dgm:presLayoutVars>
      </dgm:prSet>
      <dgm:spPr/>
    </dgm:pt>
    <dgm:pt modelId="{9586C22C-1DD8-45F3-9B72-96A3466768DB}" type="pres">
      <dgm:prSet presAssocID="{1508E5E7-EEDD-447F-AF77-3F40727A708F}" presName="spacer" presStyleCnt="0"/>
      <dgm:spPr/>
    </dgm:pt>
    <dgm:pt modelId="{C34726F4-5CFF-4B1B-B77A-3B9F86E5C786}" type="pres">
      <dgm:prSet presAssocID="{10C4B0D8-3963-4833-AB6E-AC1A74B8DD09}" presName="parentText" presStyleLbl="node1" presStyleIdx="1" presStyleCnt="7">
        <dgm:presLayoutVars>
          <dgm:chMax val="0"/>
          <dgm:bulletEnabled val="1"/>
        </dgm:presLayoutVars>
      </dgm:prSet>
      <dgm:spPr/>
    </dgm:pt>
    <dgm:pt modelId="{41603F93-FED5-47DD-ADA1-C25E9077500D}" type="pres">
      <dgm:prSet presAssocID="{71AEC018-3308-456D-9FDD-C87D157FEC5F}" presName="spacer" presStyleCnt="0"/>
      <dgm:spPr/>
    </dgm:pt>
    <dgm:pt modelId="{C830E30D-33F0-4E80-95E1-CFC593CE11BD}" type="pres">
      <dgm:prSet presAssocID="{F00CE929-CD56-4272-8837-344F2DAEC412}" presName="parentText" presStyleLbl="node1" presStyleIdx="2" presStyleCnt="7">
        <dgm:presLayoutVars>
          <dgm:chMax val="0"/>
          <dgm:bulletEnabled val="1"/>
        </dgm:presLayoutVars>
      </dgm:prSet>
      <dgm:spPr/>
    </dgm:pt>
    <dgm:pt modelId="{358C40D2-BD1B-40E5-BDA4-D365C8D23F72}" type="pres">
      <dgm:prSet presAssocID="{7C333297-DA2F-44D4-A11C-673AE2485F3A}" presName="spacer" presStyleCnt="0"/>
      <dgm:spPr/>
    </dgm:pt>
    <dgm:pt modelId="{8BA4F2E0-D5ED-4DD3-A727-93DB18E6FACA}" type="pres">
      <dgm:prSet presAssocID="{038C54AF-4EE3-479F-A304-8B7763336785}" presName="parentText" presStyleLbl="node1" presStyleIdx="3" presStyleCnt="7">
        <dgm:presLayoutVars>
          <dgm:chMax val="0"/>
          <dgm:bulletEnabled val="1"/>
        </dgm:presLayoutVars>
      </dgm:prSet>
      <dgm:spPr/>
    </dgm:pt>
    <dgm:pt modelId="{31004BA5-57C4-4888-85F7-963675890B4B}" type="pres">
      <dgm:prSet presAssocID="{A7651157-562D-4E79-A7E3-EC843378432B}" presName="spacer" presStyleCnt="0"/>
      <dgm:spPr/>
    </dgm:pt>
    <dgm:pt modelId="{87BC5D8F-795C-4B86-ADCE-6D5C26A27936}" type="pres">
      <dgm:prSet presAssocID="{8570E5D8-9466-41B6-901B-D48B481BEFF7}" presName="parentText" presStyleLbl="node1" presStyleIdx="4" presStyleCnt="7">
        <dgm:presLayoutVars>
          <dgm:chMax val="0"/>
          <dgm:bulletEnabled val="1"/>
        </dgm:presLayoutVars>
      </dgm:prSet>
      <dgm:spPr/>
    </dgm:pt>
    <dgm:pt modelId="{85684A9B-D923-4C56-98CA-3F5B8066500E}" type="pres">
      <dgm:prSet presAssocID="{AA80EE6A-79A4-429D-8192-9F22765ACD77}" presName="spacer" presStyleCnt="0"/>
      <dgm:spPr/>
    </dgm:pt>
    <dgm:pt modelId="{74219E4F-1703-4337-B4FF-1B99EF3095AD}" type="pres">
      <dgm:prSet presAssocID="{A36D8033-A464-4912-BC20-C605D21597C5}" presName="parentText" presStyleLbl="node1" presStyleIdx="5" presStyleCnt="7">
        <dgm:presLayoutVars>
          <dgm:chMax val="0"/>
          <dgm:bulletEnabled val="1"/>
        </dgm:presLayoutVars>
      </dgm:prSet>
      <dgm:spPr/>
    </dgm:pt>
    <dgm:pt modelId="{A5F44E06-C571-42EA-9BDC-D91E98D20DF8}" type="pres">
      <dgm:prSet presAssocID="{9E2177DB-F553-4C32-989B-B7B26969AE48}" presName="spacer" presStyleCnt="0"/>
      <dgm:spPr/>
    </dgm:pt>
    <dgm:pt modelId="{189389E7-AB1A-4288-965C-151B3053B575}" type="pres">
      <dgm:prSet presAssocID="{ACE6F904-4224-4F4E-BCAD-299E9A246BA3}" presName="parentText" presStyleLbl="node1" presStyleIdx="6" presStyleCnt="7">
        <dgm:presLayoutVars>
          <dgm:chMax val="0"/>
          <dgm:bulletEnabled val="1"/>
        </dgm:presLayoutVars>
      </dgm:prSet>
      <dgm:spPr/>
    </dgm:pt>
  </dgm:ptLst>
  <dgm:cxnLst>
    <dgm:cxn modelId="{0D87810F-250A-4FD2-9FBE-246FF8F30364}" type="presOf" srcId="{8570E5D8-9466-41B6-901B-D48B481BEFF7}" destId="{87BC5D8F-795C-4B86-ADCE-6D5C26A27936}" srcOrd="0" destOrd="0" presId="urn:microsoft.com/office/officeart/2005/8/layout/vList2"/>
    <dgm:cxn modelId="{64496429-6257-4040-8B9F-C57E04363B81}" type="presOf" srcId="{038C54AF-4EE3-479F-A304-8B7763336785}" destId="{8BA4F2E0-D5ED-4DD3-A727-93DB18E6FACA}" srcOrd="0" destOrd="0" presId="urn:microsoft.com/office/officeart/2005/8/layout/vList2"/>
    <dgm:cxn modelId="{6D54C435-9F6C-4E34-B5DD-C93739277B28}" srcId="{AE0FBB62-BBD9-4407-AE05-CDF5EBA44D82}" destId="{ACE6F904-4224-4F4E-BCAD-299E9A246BA3}" srcOrd="6" destOrd="0" parTransId="{64F4349A-77B1-4B47-BD9D-4FF57F20FC51}" sibTransId="{C58F7AA9-0EB7-4B58-BE95-5E28CE1A1B2F}"/>
    <dgm:cxn modelId="{2A8A6E3C-3BD9-4634-9617-5A13D1033E46}" type="presOf" srcId="{8E2F4885-12B3-43FB-A7B7-31D440601560}" destId="{E7B9B4F2-AB6C-4531-A5B8-EEE5F3A7FFD1}" srcOrd="0" destOrd="0" presId="urn:microsoft.com/office/officeart/2005/8/layout/vList2"/>
    <dgm:cxn modelId="{4EE87A3E-2ABA-492D-AB5A-ECC72085E6C8}" type="presOf" srcId="{AE0FBB62-BBD9-4407-AE05-CDF5EBA44D82}" destId="{58AF18F5-E591-4231-9AA9-6D0A74484462}" srcOrd="0" destOrd="0" presId="urn:microsoft.com/office/officeart/2005/8/layout/vList2"/>
    <dgm:cxn modelId="{91E98045-7809-4AAF-999C-96AF5109FEAF}" srcId="{AE0FBB62-BBD9-4407-AE05-CDF5EBA44D82}" destId="{8570E5D8-9466-41B6-901B-D48B481BEFF7}" srcOrd="4" destOrd="0" parTransId="{B7120D80-9B36-4611-9194-81A948901FF2}" sibTransId="{AA80EE6A-79A4-429D-8192-9F22765ACD77}"/>
    <dgm:cxn modelId="{337E856F-6202-452B-865F-99863D4E0B8B}" type="presOf" srcId="{A36D8033-A464-4912-BC20-C605D21597C5}" destId="{74219E4F-1703-4337-B4FF-1B99EF3095AD}" srcOrd="0" destOrd="0" presId="urn:microsoft.com/office/officeart/2005/8/layout/vList2"/>
    <dgm:cxn modelId="{5D3D1658-0EB2-458B-B05A-2F562B594CEF}" srcId="{AE0FBB62-BBD9-4407-AE05-CDF5EBA44D82}" destId="{F00CE929-CD56-4272-8837-344F2DAEC412}" srcOrd="2" destOrd="0" parTransId="{E4CF1C37-47CD-4C51-9415-FA6FA6AE6629}" sibTransId="{7C333297-DA2F-44D4-A11C-673AE2485F3A}"/>
    <dgm:cxn modelId="{E814FF7B-0C4F-4BA7-BB30-8ED0B32EBCAD}" srcId="{AE0FBB62-BBD9-4407-AE05-CDF5EBA44D82}" destId="{10C4B0D8-3963-4833-AB6E-AC1A74B8DD09}" srcOrd="1" destOrd="0" parTransId="{E7DC4A72-42B1-4E7E-AC19-86A905306E06}" sibTransId="{71AEC018-3308-456D-9FDD-C87D157FEC5F}"/>
    <dgm:cxn modelId="{1811E891-8943-456E-B92C-25CE7C38698E}" type="presOf" srcId="{ACE6F904-4224-4F4E-BCAD-299E9A246BA3}" destId="{189389E7-AB1A-4288-965C-151B3053B575}" srcOrd="0" destOrd="0" presId="urn:microsoft.com/office/officeart/2005/8/layout/vList2"/>
    <dgm:cxn modelId="{E735A198-0DE8-4D71-A183-BC9C6EB36003}" srcId="{AE0FBB62-BBD9-4407-AE05-CDF5EBA44D82}" destId="{A36D8033-A464-4912-BC20-C605D21597C5}" srcOrd="5" destOrd="0" parTransId="{4B423314-F4BD-4FDA-B787-804E66B53FFA}" sibTransId="{9E2177DB-F553-4C32-989B-B7B26969AE48}"/>
    <dgm:cxn modelId="{A0AC63A9-7450-43DA-AC1A-C42A3CF931EF}" type="presOf" srcId="{F00CE929-CD56-4272-8837-344F2DAEC412}" destId="{C830E30D-33F0-4E80-95E1-CFC593CE11BD}" srcOrd="0" destOrd="0" presId="urn:microsoft.com/office/officeart/2005/8/layout/vList2"/>
    <dgm:cxn modelId="{E665EFAE-48DA-4784-8CC0-118FE4BC3542}" srcId="{AE0FBB62-BBD9-4407-AE05-CDF5EBA44D82}" destId="{8E2F4885-12B3-43FB-A7B7-31D440601560}" srcOrd="0" destOrd="0" parTransId="{66944D9D-FBF1-41CA-968A-1553096F953B}" sibTransId="{1508E5E7-EEDD-447F-AF77-3F40727A708F}"/>
    <dgm:cxn modelId="{246A35D2-5BE1-4C22-9B34-5B4777296F05}" srcId="{AE0FBB62-BBD9-4407-AE05-CDF5EBA44D82}" destId="{038C54AF-4EE3-479F-A304-8B7763336785}" srcOrd="3" destOrd="0" parTransId="{B7014E4E-F470-4DFD-BAD1-CAD824262C8C}" sibTransId="{A7651157-562D-4E79-A7E3-EC843378432B}"/>
    <dgm:cxn modelId="{7A3E4BE2-2A56-44C8-8BFF-07A46229BD0E}" type="presOf" srcId="{10C4B0D8-3963-4833-AB6E-AC1A74B8DD09}" destId="{C34726F4-5CFF-4B1B-B77A-3B9F86E5C786}" srcOrd="0" destOrd="0" presId="urn:microsoft.com/office/officeart/2005/8/layout/vList2"/>
    <dgm:cxn modelId="{8D0145E1-17B5-4BF2-B8F3-E1488231C14D}" type="presParOf" srcId="{58AF18F5-E591-4231-9AA9-6D0A74484462}" destId="{E7B9B4F2-AB6C-4531-A5B8-EEE5F3A7FFD1}" srcOrd="0" destOrd="0" presId="urn:microsoft.com/office/officeart/2005/8/layout/vList2"/>
    <dgm:cxn modelId="{6B7B34EE-343B-4452-A98C-B62CA0F0786E}" type="presParOf" srcId="{58AF18F5-E591-4231-9AA9-6D0A74484462}" destId="{9586C22C-1DD8-45F3-9B72-96A3466768DB}" srcOrd="1" destOrd="0" presId="urn:microsoft.com/office/officeart/2005/8/layout/vList2"/>
    <dgm:cxn modelId="{06AB938A-6A3A-412A-AD70-31D3B8C6297F}" type="presParOf" srcId="{58AF18F5-E591-4231-9AA9-6D0A74484462}" destId="{C34726F4-5CFF-4B1B-B77A-3B9F86E5C786}" srcOrd="2" destOrd="0" presId="urn:microsoft.com/office/officeart/2005/8/layout/vList2"/>
    <dgm:cxn modelId="{0458F85E-E792-46A0-A4FE-BE5A7515223C}" type="presParOf" srcId="{58AF18F5-E591-4231-9AA9-6D0A74484462}" destId="{41603F93-FED5-47DD-ADA1-C25E9077500D}" srcOrd="3" destOrd="0" presId="urn:microsoft.com/office/officeart/2005/8/layout/vList2"/>
    <dgm:cxn modelId="{D4F36DE2-ABD8-41F2-A4C9-6729624A9C92}" type="presParOf" srcId="{58AF18F5-E591-4231-9AA9-6D0A74484462}" destId="{C830E30D-33F0-4E80-95E1-CFC593CE11BD}" srcOrd="4" destOrd="0" presId="urn:microsoft.com/office/officeart/2005/8/layout/vList2"/>
    <dgm:cxn modelId="{40B545EE-3651-49A4-B500-B002AB6F1099}" type="presParOf" srcId="{58AF18F5-E591-4231-9AA9-6D0A74484462}" destId="{358C40D2-BD1B-40E5-BDA4-D365C8D23F72}" srcOrd="5" destOrd="0" presId="urn:microsoft.com/office/officeart/2005/8/layout/vList2"/>
    <dgm:cxn modelId="{E4070063-8A7B-4F9F-B412-D58D93C5AD1E}" type="presParOf" srcId="{58AF18F5-E591-4231-9AA9-6D0A74484462}" destId="{8BA4F2E0-D5ED-4DD3-A727-93DB18E6FACA}" srcOrd="6" destOrd="0" presId="urn:microsoft.com/office/officeart/2005/8/layout/vList2"/>
    <dgm:cxn modelId="{9E6E668D-3513-4E00-BF9E-14C07193C068}" type="presParOf" srcId="{58AF18F5-E591-4231-9AA9-6D0A74484462}" destId="{31004BA5-57C4-4888-85F7-963675890B4B}" srcOrd="7" destOrd="0" presId="urn:microsoft.com/office/officeart/2005/8/layout/vList2"/>
    <dgm:cxn modelId="{EBEEE98F-0BC7-4421-9B81-3A120816D149}" type="presParOf" srcId="{58AF18F5-E591-4231-9AA9-6D0A74484462}" destId="{87BC5D8F-795C-4B86-ADCE-6D5C26A27936}" srcOrd="8" destOrd="0" presId="urn:microsoft.com/office/officeart/2005/8/layout/vList2"/>
    <dgm:cxn modelId="{0F99727D-F1F4-4CD4-850E-6E2230EB47B0}" type="presParOf" srcId="{58AF18F5-E591-4231-9AA9-6D0A74484462}" destId="{85684A9B-D923-4C56-98CA-3F5B8066500E}" srcOrd="9" destOrd="0" presId="urn:microsoft.com/office/officeart/2005/8/layout/vList2"/>
    <dgm:cxn modelId="{A81DA42B-F63F-4114-8093-0DA6BF4E18BF}" type="presParOf" srcId="{58AF18F5-E591-4231-9AA9-6D0A74484462}" destId="{74219E4F-1703-4337-B4FF-1B99EF3095AD}" srcOrd="10" destOrd="0" presId="urn:microsoft.com/office/officeart/2005/8/layout/vList2"/>
    <dgm:cxn modelId="{EDBAD960-9805-472E-AC66-E8CB8C4B0695}" type="presParOf" srcId="{58AF18F5-E591-4231-9AA9-6D0A74484462}" destId="{A5F44E06-C571-42EA-9BDC-D91E98D20DF8}" srcOrd="11" destOrd="0" presId="urn:microsoft.com/office/officeart/2005/8/layout/vList2"/>
    <dgm:cxn modelId="{F17DE44D-BA80-4452-97C5-094AD3E39606}" type="presParOf" srcId="{58AF18F5-E591-4231-9AA9-6D0A74484462}" destId="{189389E7-AB1A-4288-965C-151B3053B575}" srcOrd="12"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7B9B4F2-AB6C-4531-A5B8-EEE5F3A7FFD1}">
      <dsp:nvSpPr>
        <dsp:cNvPr id="0" name=""/>
        <dsp:cNvSpPr/>
      </dsp:nvSpPr>
      <dsp:spPr>
        <a:xfrm>
          <a:off x="0" y="1060384"/>
          <a:ext cx="6666833" cy="431730"/>
        </a:xfrm>
        <a:prstGeom prst="roundRect">
          <a:avLst/>
        </a:prstGeom>
        <a:gradFill rotWithShape="0">
          <a:gsLst>
            <a:gs pos="0">
              <a:schemeClr val="accent5">
                <a:hueOff val="0"/>
                <a:satOff val="0"/>
                <a:lumOff val="0"/>
                <a:alphaOff val="0"/>
                <a:satMod val="103000"/>
                <a:lumMod val="102000"/>
                <a:tint val="94000"/>
              </a:schemeClr>
            </a:gs>
            <a:gs pos="50000">
              <a:schemeClr val="accent5">
                <a:hueOff val="0"/>
                <a:satOff val="0"/>
                <a:lumOff val="0"/>
                <a:alphaOff val="0"/>
                <a:satMod val="110000"/>
                <a:lumMod val="100000"/>
                <a:shade val="100000"/>
              </a:schemeClr>
            </a:gs>
            <a:gs pos="100000">
              <a:schemeClr val="accent5">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kern="1200"/>
            <a:t>Player: First and Last name of player</a:t>
          </a:r>
        </a:p>
      </dsp:txBody>
      <dsp:txXfrm>
        <a:off x="21075" y="1081459"/>
        <a:ext cx="6624683" cy="389580"/>
      </dsp:txXfrm>
    </dsp:sp>
    <dsp:sp modelId="{C34726F4-5CFF-4B1B-B77A-3B9F86E5C786}">
      <dsp:nvSpPr>
        <dsp:cNvPr id="0" name=""/>
        <dsp:cNvSpPr/>
      </dsp:nvSpPr>
      <dsp:spPr>
        <a:xfrm>
          <a:off x="0" y="1543955"/>
          <a:ext cx="6666833" cy="431730"/>
        </a:xfrm>
        <a:prstGeom prst="roundRect">
          <a:avLst/>
        </a:prstGeom>
        <a:gradFill rotWithShape="0">
          <a:gsLst>
            <a:gs pos="0">
              <a:schemeClr val="accent5">
                <a:hueOff val="-1126424"/>
                <a:satOff val="-2903"/>
                <a:lumOff val="-1961"/>
                <a:alphaOff val="0"/>
                <a:satMod val="103000"/>
                <a:lumMod val="102000"/>
                <a:tint val="94000"/>
              </a:schemeClr>
            </a:gs>
            <a:gs pos="50000">
              <a:schemeClr val="accent5">
                <a:hueOff val="-1126424"/>
                <a:satOff val="-2903"/>
                <a:lumOff val="-1961"/>
                <a:alphaOff val="0"/>
                <a:satMod val="110000"/>
                <a:lumMod val="100000"/>
                <a:shade val="100000"/>
              </a:schemeClr>
            </a:gs>
            <a:gs pos="100000">
              <a:schemeClr val="accent5">
                <a:hueOff val="-1126424"/>
                <a:satOff val="-2903"/>
                <a:lumOff val="-1961"/>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kern="1200"/>
            <a:t>State: The state the player was born in</a:t>
          </a:r>
        </a:p>
      </dsp:txBody>
      <dsp:txXfrm>
        <a:off x="21075" y="1565030"/>
        <a:ext cx="6624683" cy="389580"/>
      </dsp:txXfrm>
    </dsp:sp>
    <dsp:sp modelId="{C830E30D-33F0-4E80-95E1-CFC593CE11BD}">
      <dsp:nvSpPr>
        <dsp:cNvPr id="0" name=""/>
        <dsp:cNvSpPr/>
      </dsp:nvSpPr>
      <dsp:spPr>
        <a:xfrm>
          <a:off x="0" y="2027525"/>
          <a:ext cx="6666833" cy="431730"/>
        </a:xfrm>
        <a:prstGeom prst="roundRect">
          <a:avLst/>
        </a:prstGeom>
        <a:gradFill rotWithShape="0">
          <a:gsLst>
            <a:gs pos="0">
              <a:schemeClr val="accent5">
                <a:hueOff val="-2252848"/>
                <a:satOff val="-5806"/>
                <a:lumOff val="-3922"/>
                <a:alphaOff val="0"/>
                <a:satMod val="103000"/>
                <a:lumMod val="102000"/>
                <a:tint val="94000"/>
              </a:schemeClr>
            </a:gs>
            <a:gs pos="50000">
              <a:schemeClr val="accent5">
                <a:hueOff val="-2252848"/>
                <a:satOff val="-5806"/>
                <a:lumOff val="-3922"/>
                <a:alphaOff val="0"/>
                <a:satMod val="110000"/>
                <a:lumMod val="100000"/>
                <a:shade val="100000"/>
              </a:schemeClr>
            </a:gs>
            <a:gs pos="100000">
              <a:schemeClr val="accent5">
                <a:hueOff val="-2252848"/>
                <a:satOff val="-5806"/>
                <a:lumOff val="-3922"/>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kern="1200"/>
            <a:t>College: The last college the player went to</a:t>
          </a:r>
        </a:p>
      </dsp:txBody>
      <dsp:txXfrm>
        <a:off x="21075" y="2048600"/>
        <a:ext cx="6624683" cy="389580"/>
      </dsp:txXfrm>
    </dsp:sp>
    <dsp:sp modelId="{8BA4F2E0-D5ED-4DD3-A727-93DB18E6FACA}">
      <dsp:nvSpPr>
        <dsp:cNvPr id="0" name=""/>
        <dsp:cNvSpPr/>
      </dsp:nvSpPr>
      <dsp:spPr>
        <a:xfrm>
          <a:off x="0" y="2511094"/>
          <a:ext cx="6666833" cy="431730"/>
        </a:xfrm>
        <a:prstGeom prst="roundRect">
          <a:avLst/>
        </a:prstGeom>
        <a:gradFill rotWithShape="0">
          <a:gsLst>
            <a:gs pos="0">
              <a:schemeClr val="accent5">
                <a:hueOff val="-3379271"/>
                <a:satOff val="-8710"/>
                <a:lumOff val="-5883"/>
                <a:alphaOff val="0"/>
                <a:satMod val="103000"/>
                <a:lumMod val="102000"/>
                <a:tint val="94000"/>
              </a:schemeClr>
            </a:gs>
            <a:gs pos="50000">
              <a:schemeClr val="accent5">
                <a:hueOff val="-3379271"/>
                <a:satOff val="-8710"/>
                <a:lumOff val="-5883"/>
                <a:alphaOff val="0"/>
                <a:satMod val="110000"/>
                <a:lumMod val="100000"/>
                <a:shade val="100000"/>
              </a:schemeClr>
            </a:gs>
            <a:gs pos="100000">
              <a:schemeClr val="accent5">
                <a:hueOff val="-3379271"/>
                <a:satOff val="-8710"/>
                <a:lumOff val="-5883"/>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kern="1200"/>
            <a:t>Team: The team the player was on for a majority of the 2022 season</a:t>
          </a:r>
        </a:p>
      </dsp:txBody>
      <dsp:txXfrm>
        <a:off x="21075" y="2532169"/>
        <a:ext cx="6624683" cy="389580"/>
      </dsp:txXfrm>
    </dsp:sp>
    <dsp:sp modelId="{87BC5D8F-795C-4B86-ADCE-6D5C26A27936}">
      <dsp:nvSpPr>
        <dsp:cNvPr id="0" name=""/>
        <dsp:cNvSpPr/>
      </dsp:nvSpPr>
      <dsp:spPr>
        <a:xfrm>
          <a:off x="0" y="2994664"/>
          <a:ext cx="6666833" cy="431730"/>
        </a:xfrm>
        <a:prstGeom prst="roundRect">
          <a:avLst/>
        </a:prstGeom>
        <a:gradFill rotWithShape="0">
          <a:gsLst>
            <a:gs pos="0">
              <a:schemeClr val="accent5">
                <a:hueOff val="-4505695"/>
                <a:satOff val="-11613"/>
                <a:lumOff val="-7843"/>
                <a:alphaOff val="0"/>
                <a:satMod val="103000"/>
                <a:lumMod val="102000"/>
                <a:tint val="94000"/>
              </a:schemeClr>
            </a:gs>
            <a:gs pos="50000">
              <a:schemeClr val="accent5">
                <a:hueOff val="-4505695"/>
                <a:satOff val="-11613"/>
                <a:lumOff val="-7843"/>
                <a:alphaOff val="0"/>
                <a:satMod val="110000"/>
                <a:lumMod val="100000"/>
                <a:shade val="100000"/>
              </a:schemeClr>
            </a:gs>
            <a:gs pos="100000">
              <a:schemeClr val="accent5">
                <a:hueOff val="-4505695"/>
                <a:satOff val="-11613"/>
                <a:lumOff val="-7843"/>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kern="1200"/>
            <a:t>Position: The position the player plays</a:t>
          </a:r>
        </a:p>
      </dsp:txBody>
      <dsp:txXfrm>
        <a:off x="21075" y="3015739"/>
        <a:ext cx="6624683" cy="389580"/>
      </dsp:txXfrm>
    </dsp:sp>
    <dsp:sp modelId="{74219E4F-1703-4337-B4FF-1B99EF3095AD}">
      <dsp:nvSpPr>
        <dsp:cNvPr id="0" name=""/>
        <dsp:cNvSpPr/>
      </dsp:nvSpPr>
      <dsp:spPr>
        <a:xfrm>
          <a:off x="0" y="3478234"/>
          <a:ext cx="6666833" cy="431730"/>
        </a:xfrm>
        <a:prstGeom prst="roundRect">
          <a:avLst/>
        </a:prstGeom>
        <a:gradFill rotWithShape="0">
          <a:gsLst>
            <a:gs pos="0">
              <a:schemeClr val="accent5">
                <a:hueOff val="-5632119"/>
                <a:satOff val="-14516"/>
                <a:lumOff val="-9804"/>
                <a:alphaOff val="0"/>
                <a:satMod val="103000"/>
                <a:lumMod val="102000"/>
                <a:tint val="94000"/>
              </a:schemeClr>
            </a:gs>
            <a:gs pos="50000">
              <a:schemeClr val="accent5">
                <a:hueOff val="-5632119"/>
                <a:satOff val="-14516"/>
                <a:lumOff val="-9804"/>
                <a:alphaOff val="0"/>
                <a:satMod val="110000"/>
                <a:lumMod val="100000"/>
                <a:shade val="100000"/>
              </a:schemeClr>
            </a:gs>
            <a:gs pos="100000">
              <a:schemeClr val="accent5">
                <a:hueOff val="-5632119"/>
                <a:satOff val="-14516"/>
                <a:lumOff val="-9804"/>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kern="1200"/>
            <a:t>Age: How old the player was at the start of the 2022 season</a:t>
          </a:r>
        </a:p>
      </dsp:txBody>
      <dsp:txXfrm>
        <a:off x="21075" y="3499309"/>
        <a:ext cx="6624683" cy="389580"/>
      </dsp:txXfrm>
    </dsp:sp>
    <dsp:sp modelId="{189389E7-AB1A-4288-965C-151B3053B575}">
      <dsp:nvSpPr>
        <dsp:cNvPr id="0" name=""/>
        <dsp:cNvSpPr/>
      </dsp:nvSpPr>
      <dsp:spPr>
        <a:xfrm>
          <a:off x="0" y="3961805"/>
          <a:ext cx="6666833" cy="431730"/>
        </a:xfrm>
        <a:prstGeom prst="roundRect">
          <a:avLst/>
        </a:prstGeom>
        <a:gradFill rotWithShape="0">
          <a:gsLst>
            <a:gs pos="0">
              <a:schemeClr val="accent5">
                <a:hueOff val="-6758543"/>
                <a:satOff val="-17419"/>
                <a:lumOff val="-11765"/>
                <a:alphaOff val="0"/>
                <a:satMod val="103000"/>
                <a:lumMod val="102000"/>
                <a:tint val="94000"/>
              </a:schemeClr>
            </a:gs>
            <a:gs pos="50000">
              <a:schemeClr val="accent5">
                <a:hueOff val="-6758543"/>
                <a:satOff val="-17419"/>
                <a:lumOff val="-11765"/>
                <a:alphaOff val="0"/>
                <a:satMod val="110000"/>
                <a:lumMod val="100000"/>
                <a:shade val="100000"/>
              </a:schemeClr>
            </a:gs>
            <a:gs pos="100000">
              <a:schemeClr val="accent5">
                <a:hueOff val="-6758543"/>
                <a:satOff val="-17419"/>
                <a:lumOff val="-11765"/>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kern="1200"/>
            <a:t>Games: How many games the player played in in the 2022 season</a:t>
          </a:r>
        </a:p>
      </dsp:txBody>
      <dsp:txXfrm>
        <a:off x="21075" y="3982880"/>
        <a:ext cx="6624683" cy="389580"/>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846CE7D5-CF57-46EF-B807-FDD0502418D4}" type="datetimeFigureOut">
              <a:rPr lang="en-US" smtClean="0"/>
              <a:t>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3853878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9491384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46CE7D5-CF57-46EF-B807-FDD0502418D4}" type="datetimeFigureOut">
              <a:rPr lang="en-US" smtClean="0"/>
              <a:t>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5915245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846CE7D5-CF57-46EF-B807-FDD0502418D4}" type="datetimeFigureOut">
              <a:rPr lang="en-US" smtClean="0"/>
              <a:t>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2030920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846CE7D5-CF57-46EF-B807-FDD0502418D4}" type="datetimeFigureOut">
              <a:rPr lang="en-US" smtClean="0"/>
              <a:t>1/3/2026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7331723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846CE7D5-CF57-46EF-B807-FDD0502418D4}" type="datetimeFigureOut">
              <a:rPr lang="en-US" smtClean="0"/>
              <a:t>1/3/2026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2103125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6CE7D5-CF57-46EF-B807-FDD0502418D4}" type="datetimeFigureOut">
              <a:rPr lang="en-US" smtClean="0"/>
              <a:t>1/3/2026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463889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718414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7189582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2029054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4794456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46CE7D5-CF57-46EF-B807-FDD0502418D4}" type="datetimeFigureOut">
              <a:rPr lang="en-US" smtClean="0"/>
              <a:t>1/3/2026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30EA680-D336-4FF7-8B7A-9848BB0A1C32}" type="slidenum">
              <a:rPr lang="en-US" smtClean="0"/>
              <a:t>‹#›</a:t>
            </a:fld>
            <a:endParaRPr lang="en-US"/>
          </a:p>
        </p:txBody>
      </p:sp>
    </p:spTree>
    <p:extLst>
      <p:ext uri="{BB962C8B-B14F-4D97-AF65-F5344CB8AC3E}">
        <p14:creationId xmlns:p14="http://schemas.microsoft.com/office/powerpoint/2010/main" val="246095407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5.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4.png"/><Relationship Id="rId7" Type="http://schemas.openxmlformats.org/officeDocument/2006/relationships/image" Target="../media/image18.png"/><Relationship Id="rId2" Type="http://schemas.openxmlformats.org/officeDocument/2006/relationships/image" Target="../media/image13.png"/><Relationship Id="rId1" Type="http://schemas.openxmlformats.org/officeDocument/2006/relationships/slideLayout" Target="../slideLayouts/slideLayout2.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s>
</file>

<file path=ppt/slides/_rels/slide1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 Id="rId5" Type="http://schemas.openxmlformats.org/officeDocument/2006/relationships/image" Target="../media/image22.png"/><Relationship Id="rId4" Type="http://schemas.openxmlformats.org/officeDocument/2006/relationships/image" Target="../media/image21.png"/></Relationships>
</file>

<file path=ppt/slides/_rels/slide15.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2.xml"/><Relationship Id="rId5" Type="http://schemas.openxmlformats.org/officeDocument/2006/relationships/image" Target="../media/image28.png"/><Relationship Id="rId4" Type="http://schemas.openxmlformats.org/officeDocument/2006/relationships/image" Target="../media/image27.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8" Type="http://schemas.openxmlformats.org/officeDocument/2006/relationships/image" Target="../media/image35.png"/><Relationship Id="rId3" Type="http://schemas.openxmlformats.org/officeDocument/2006/relationships/image" Target="../media/image30.png"/><Relationship Id="rId7" Type="http://schemas.openxmlformats.org/officeDocument/2006/relationships/image" Target="../media/image34.png"/><Relationship Id="rId2" Type="http://schemas.openxmlformats.org/officeDocument/2006/relationships/image" Target="../media/image29.png"/><Relationship Id="rId1" Type="http://schemas.openxmlformats.org/officeDocument/2006/relationships/slideLayout" Target="../slideLayouts/slideLayout2.xml"/><Relationship Id="rId6" Type="http://schemas.openxmlformats.org/officeDocument/2006/relationships/image" Target="../media/image33.png"/><Relationship Id="rId11" Type="http://schemas.openxmlformats.org/officeDocument/2006/relationships/image" Target="../media/image38.png"/><Relationship Id="rId5" Type="http://schemas.openxmlformats.org/officeDocument/2006/relationships/image" Target="../media/image32.png"/><Relationship Id="rId10" Type="http://schemas.openxmlformats.org/officeDocument/2006/relationships/image" Target="../media/image37.png"/><Relationship Id="rId4" Type="http://schemas.openxmlformats.org/officeDocument/2006/relationships/image" Target="../media/image31.png"/><Relationship Id="rId9" Type="http://schemas.openxmlformats.org/officeDocument/2006/relationships/image" Target="../media/image36.png"/></Relationships>
</file>

<file path=ppt/slides/_rels/slide19.xml.rels><?xml version="1.0" encoding="UTF-8" standalone="yes"?>
<Relationships xmlns="http://schemas.openxmlformats.org/package/2006/relationships"><Relationship Id="rId8" Type="http://schemas.openxmlformats.org/officeDocument/2006/relationships/image" Target="../media/image45.png"/><Relationship Id="rId3" Type="http://schemas.openxmlformats.org/officeDocument/2006/relationships/image" Target="../media/image40.png"/><Relationship Id="rId7" Type="http://schemas.openxmlformats.org/officeDocument/2006/relationships/image" Target="../media/image44.png"/><Relationship Id="rId2" Type="http://schemas.openxmlformats.org/officeDocument/2006/relationships/image" Target="../media/image39.png"/><Relationship Id="rId1" Type="http://schemas.openxmlformats.org/officeDocument/2006/relationships/slideLayout" Target="../slideLayouts/slideLayout2.xml"/><Relationship Id="rId6" Type="http://schemas.openxmlformats.org/officeDocument/2006/relationships/image" Target="../media/image43.png"/><Relationship Id="rId11" Type="http://schemas.openxmlformats.org/officeDocument/2006/relationships/image" Target="../media/image48.png"/><Relationship Id="rId5" Type="http://schemas.openxmlformats.org/officeDocument/2006/relationships/image" Target="../media/image42.png"/><Relationship Id="rId10" Type="http://schemas.openxmlformats.org/officeDocument/2006/relationships/image" Target="../media/image47.png"/><Relationship Id="rId4" Type="http://schemas.openxmlformats.org/officeDocument/2006/relationships/image" Target="../media/image41.png"/><Relationship Id="rId9" Type="http://schemas.openxmlformats.org/officeDocument/2006/relationships/image" Target="../media/image46.png"/></Relationships>
</file>

<file path=ppt/slides/_rels/slide20.xml.rels><?xml version="1.0" encoding="UTF-8" standalone="yes"?>
<Relationships xmlns="http://schemas.openxmlformats.org/package/2006/relationships"><Relationship Id="rId8" Type="http://schemas.openxmlformats.org/officeDocument/2006/relationships/image" Target="../media/image55.png"/><Relationship Id="rId3" Type="http://schemas.openxmlformats.org/officeDocument/2006/relationships/image" Target="../media/image50.png"/><Relationship Id="rId7" Type="http://schemas.openxmlformats.org/officeDocument/2006/relationships/image" Target="../media/image54.png"/><Relationship Id="rId2" Type="http://schemas.openxmlformats.org/officeDocument/2006/relationships/image" Target="../media/image49.png"/><Relationship Id="rId1" Type="http://schemas.openxmlformats.org/officeDocument/2006/relationships/slideLayout" Target="../slideLayouts/slideLayout2.xml"/><Relationship Id="rId6" Type="http://schemas.openxmlformats.org/officeDocument/2006/relationships/image" Target="../media/image53.png"/><Relationship Id="rId11" Type="http://schemas.openxmlformats.org/officeDocument/2006/relationships/image" Target="../media/image58.png"/><Relationship Id="rId5" Type="http://schemas.openxmlformats.org/officeDocument/2006/relationships/image" Target="../media/image52.png"/><Relationship Id="rId10" Type="http://schemas.openxmlformats.org/officeDocument/2006/relationships/image" Target="../media/image57.png"/><Relationship Id="rId4" Type="http://schemas.openxmlformats.org/officeDocument/2006/relationships/image" Target="../media/image51.png"/><Relationship Id="rId9" Type="http://schemas.openxmlformats.org/officeDocument/2006/relationships/image" Target="../media/image56.png"/></Relationships>
</file>

<file path=ppt/slides/_rels/slide21.xml.rels><?xml version="1.0" encoding="UTF-8" standalone="yes"?>
<Relationships xmlns="http://schemas.openxmlformats.org/package/2006/relationships"><Relationship Id="rId8" Type="http://schemas.openxmlformats.org/officeDocument/2006/relationships/image" Target="../media/image65.png"/><Relationship Id="rId3" Type="http://schemas.openxmlformats.org/officeDocument/2006/relationships/image" Target="../media/image60.png"/><Relationship Id="rId7" Type="http://schemas.openxmlformats.org/officeDocument/2006/relationships/image" Target="../media/image64.png"/><Relationship Id="rId2" Type="http://schemas.openxmlformats.org/officeDocument/2006/relationships/image" Target="../media/image59.png"/><Relationship Id="rId1" Type="http://schemas.openxmlformats.org/officeDocument/2006/relationships/slideLayout" Target="../slideLayouts/slideLayout2.xml"/><Relationship Id="rId6" Type="http://schemas.openxmlformats.org/officeDocument/2006/relationships/image" Target="../media/image63.png"/><Relationship Id="rId11" Type="http://schemas.openxmlformats.org/officeDocument/2006/relationships/image" Target="../media/image68.png"/><Relationship Id="rId5" Type="http://schemas.openxmlformats.org/officeDocument/2006/relationships/image" Target="../media/image62.png"/><Relationship Id="rId10" Type="http://schemas.openxmlformats.org/officeDocument/2006/relationships/image" Target="../media/image67.png"/><Relationship Id="rId4" Type="http://schemas.openxmlformats.org/officeDocument/2006/relationships/image" Target="../media/image61.png"/><Relationship Id="rId9" Type="http://schemas.openxmlformats.org/officeDocument/2006/relationships/image" Target="../media/image66.png"/></Relationships>
</file>

<file path=ppt/slides/_rels/slide22.xml.rels><?xml version="1.0" encoding="UTF-8" standalone="yes"?>
<Relationships xmlns="http://schemas.openxmlformats.org/package/2006/relationships"><Relationship Id="rId2" Type="http://schemas.openxmlformats.org/officeDocument/2006/relationships/image" Target="../media/image69.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hyperlink" Target="https://www.pro-football-reference.com/"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E91DC736-0EF8-4F87-9146-EBF1D2EE4D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4" descr="A picture containing text, person&#10;&#10;Description automatically generated">
            <a:extLst>
              <a:ext uri="{FF2B5EF4-FFF2-40B4-BE49-F238E27FC236}">
                <a16:creationId xmlns:a16="http://schemas.microsoft.com/office/drawing/2014/main" id="{A942BC00-B24D-788B-29B2-39073A0E1278}"/>
              </a:ext>
            </a:extLst>
          </p:cNvPr>
          <p:cNvPicPr>
            <a:picLocks noChangeAspect="1"/>
          </p:cNvPicPr>
          <p:nvPr/>
        </p:nvPicPr>
        <p:blipFill rotWithShape="1">
          <a:blip r:embed="rId2"/>
          <a:srcRect t="3643" r="45705" b="5447"/>
          <a:stretch/>
        </p:blipFill>
        <p:spPr>
          <a:xfrm>
            <a:off x="3523488" y="10"/>
            <a:ext cx="8668512" cy="6857990"/>
          </a:xfrm>
          <a:prstGeom prst="rect">
            <a:avLst/>
          </a:prstGeom>
        </p:spPr>
      </p:pic>
      <p:sp>
        <p:nvSpPr>
          <p:cNvPr id="11" name="Rectangle 10">
            <a:extLst>
              <a:ext uri="{FF2B5EF4-FFF2-40B4-BE49-F238E27FC236}">
                <a16:creationId xmlns:a16="http://schemas.microsoft.com/office/drawing/2014/main" id="{097CD68E-23E3-4007-8847-CD0944C4F7B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756601" cy="6858000"/>
          </a:xfrm>
          <a:prstGeom prst="rect">
            <a:avLst/>
          </a:prstGeom>
          <a:gradFill>
            <a:gsLst>
              <a:gs pos="58000">
                <a:schemeClr val="bg1"/>
              </a:gs>
              <a:gs pos="35000">
                <a:schemeClr val="bg1">
                  <a:alpha val="79000"/>
                </a:schemeClr>
              </a:gs>
              <a:gs pos="19000">
                <a:schemeClr val="bg1">
                  <a:alpha val="38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ctrTitle"/>
          </p:nvPr>
        </p:nvSpPr>
        <p:spPr>
          <a:xfrm>
            <a:off x="477981" y="1122363"/>
            <a:ext cx="3494625" cy="2779073"/>
          </a:xfrm>
          <a:solidFill>
            <a:srgbClr val="ED7D31"/>
          </a:solidFill>
        </p:spPr>
        <p:txBody>
          <a:bodyPr anchor="b">
            <a:normAutofit/>
          </a:bodyPr>
          <a:lstStyle/>
          <a:p>
            <a:pPr algn="l"/>
            <a:r>
              <a:rPr lang="en-US">
                <a:ea typeface="Calibri Light"/>
                <a:cs typeface="Calibri Light"/>
              </a:rPr>
              <a:t>Who Helps you WIN?!</a:t>
            </a:r>
          </a:p>
        </p:txBody>
      </p:sp>
      <p:sp>
        <p:nvSpPr>
          <p:cNvPr id="3" name="Subtitle 2"/>
          <p:cNvSpPr>
            <a:spLocks noGrp="1"/>
          </p:cNvSpPr>
          <p:nvPr>
            <p:ph type="subTitle" idx="1"/>
          </p:nvPr>
        </p:nvSpPr>
        <p:spPr>
          <a:xfrm>
            <a:off x="477980" y="4872922"/>
            <a:ext cx="4023359" cy="1208141"/>
          </a:xfrm>
        </p:spPr>
        <p:txBody>
          <a:bodyPr vert="horz" lIns="91440" tIns="45720" rIns="91440" bIns="45720" rtlCol="0" anchor="t">
            <a:normAutofit/>
          </a:bodyPr>
          <a:lstStyle/>
          <a:p>
            <a:pPr algn="l"/>
            <a:endParaRPr lang="en-US" sz="3600" dirty="0">
              <a:ea typeface="Calibri"/>
              <a:cs typeface="Calibri"/>
            </a:endParaRPr>
          </a:p>
        </p:txBody>
      </p:sp>
      <p:sp>
        <p:nvSpPr>
          <p:cNvPr id="13" name="Rectangle 12">
            <a:extLst>
              <a:ext uri="{FF2B5EF4-FFF2-40B4-BE49-F238E27FC236}">
                <a16:creationId xmlns:a16="http://schemas.microsoft.com/office/drawing/2014/main" id="{AF2F604E-43BE-4DC3-B983-E071523364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59921" y="346791"/>
            <a:ext cx="146304"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5" name="Rectangle 14">
            <a:extLst>
              <a:ext uri="{FF2B5EF4-FFF2-40B4-BE49-F238E27FC236}">
                <a16:creationId xmlns:a16="http://schemas.microsoft.com/office/drawing/2014/main" id="{08C9B587-E65E-4B52-B37C-ABEBB6E879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1029" y="4546920"/>
            <a:ext cx="397764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98572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2B97F24A-32CE-4C1C-A50D-3016B394DC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4D659A4-7AD6-A690-C3FA-16EE044C59F0}"/>
              </a:ext>
            </a:extLst>
          </p:cNvPr>
          <p:cNvSpPr>
            <a:spLocks noGrp="1"/>
          </p:cNvSpPr>
          <p:nvPr>
            <p:ph type="title"/>
          </p:nvPr>
        </p:nvSpPr>
        <p:spPr>
          <a:xfrm>
            <a:off x="641304" y="1532564"/>
            <a:ext cx="3429000" cy="826028"/>
          </a:xfrm>
          <a:solidFill>
            <a:srgbClr val="ED7D31"/>
          </a:solidFill>
        </p:spPr>
        <p:txBody>
          <a:bodyPr anchor="b">
            <a:normAutofit/>
          </a:bodyPr>
          <a:lstStyle/>
          <a:p>
            <a:r>
              <a:rPr lang="en-US" sz="5000">
                <a:cs typeface="Calibri Light"/>
              </a:rPr>
              <a:t>Introduction</a:t>
            </a:r>
          </a:p>
        </p:txBody>
      </p:sp>
      <p:sp>
        <p:nvSpPr>
          <p:cNvPr id="12" name="sketch line">
            <a:extLst>
              <a:ext uri="{FF2B5EF4-FFF2-40B4-BE49-F238E27FC236}">
                <a16:creationId xmlns:a16="http://schemas.microsoft.com/office/drawing/2014/main" id="{CD8B4F24-440B-49E9-B85D-733523DC06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2573756"/>
            <a:ext cx="3255095" cy="18288"/>
          </a:xfrm>
          <a:custGeom>
            <a:avLst/>
            <a:gdLst>
              <a:gd name="csX0" fmla="*/ 0 w 3255095"/>
              <a:gd name="csY0" fmla="*/ 0 h 18288"/>
              <a:gd name="csX1" fmla="*/ 618468 w 3255095"/>
              <a:gd name="csY1" fmla="*/ 0 h 18288"/>
              <a:gd name="csX2" fmla="*/ 1269487 w 3255095"/>
              <a:gd name="csY2" fmla="*/ 0 h 18288"/>
              <a:gd name="csX3" fmla="*/ 1953057 w 3255095"/>
              <a:gd name="csY3" fmla="*/ 0 h 18288"/>
              <a:gd name="csX4" fmla="*/ 2636627 w 3255095"/>
              <a:gd name="csY4" fmla="*/ 0 h 18288"/>
              <a:gd name="csX5" fmla="*/ 3255095 w 3255095"/>
              <a:gd name="csY5" fmla="*/ 0 h 18288"/>
              <a:gd name="csX6" fmla="*/ 3255095 w 3255095"/>
              <a:gd name="csY6" fmla="*/ 18288 h 18288"/>
              <a:gd name="csX7" fmla="*/ 2538974 w 3255095"/>
              <a:gd name="csY7" fmla="*/ 18288 h 18288"/>
              <a:gd name="csX8" fmla="*/ 1822853 w 3255095"/>
              <a:gd name="csY8" fmla="*/ 18288 h 18288"/>
              <a:gd name="csX9" fmla="*/ 1171834 w 3255095"/>
              <a:gd name="csY9" fmla="*/ 18288 h 18288"/>
              <a:gd name="csX10" fmla="*/ 0 w 3255095"/>
              <a:gd name="csY10" fmla="*/ 18288 h 18288"/>
              <a:gd name="csX11" fmla="*/ 0 w 3255095"/>
              <a:gd name="csY11"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41B7324B-B64B-9A00-087D-0B260C9FFFB0}"/>
              </a:ext>
            </a:extLst>
          </p:cNvPr>
          <p:cNvSpPr>
            <a:spLocks noGrp="1"/>
          </p:cNvSpPr>
          <p:nvPr>
            <p:ph idx="1"/>
          </p:nvPr>
        </p:nvSpPr>
        <p:spPr>
          <a:xfrm>
            <a:off x="159222" y="2807208"/>
            <a:ext cx="4989285" cy="3846140"/>
          </a:xfrm>
        </p:spPr>
        <p:txBody>
          <a:bodyPr vert="horz" lIns="91440" tIns="45720" rIns="91440" bIns="45720" rtlCol="0" anchor="t">
            <a:noAutofit/>
          </a:bodyPr>
          <a:lstStyle/>
          <a:p>
            <a:r>
              <a:rPr lang="en-US" sz="2400" b="1">
                <a:cs typeface="Calibri"/>
              </a:rPr>
              <a:t>What are we doing?</a:t>
            </a:r>
          </a:p>
          <a:p>
            <a:pPr marL="457200" lvl="1" indent="0">
              <a:buNone/>
            </a:pPr>
            <a:endParaRPr lang="en-US">
              <a:cs typeface="Calibri"/>
            </a:endParaRPr>
          </a:p>
          <a:p>
            <a:pPr marL="457200" lvl="1" indent="0">
              <a:buNone/>
            </a:pPr>
            <a:r>
              <a:rPr lang="en-US">
                <a:cs typeface="Calibri"/>
              </a:rPr>
              <a:t>We are going to show you who on your fantasy football team contributes most to your point total.  Where do they come from?  What team are they on now?  What position do they play?  How old are these guys anyway?  How much does position contribute to </a:t>
            </a:r>
            <a:r>
              <a:rPr lang="en-US" i="1">
                <a:cs typeface="Calibri"/>
              </a:rPr>
              <a:t>your </a:t>
            </a:r>
            <a:r>
              <a:rPr lang="en-US">
                <a:cs typeface="Calibri"/>
              </a:rPr>
              <a:t>point total?</a:t>
            </a:r>
          </a:p>
          <a:p>
            <a:pPr marL="457200" lvl="1" indent="0">
              <a:buNone/>
            </a:pPr>
            <a:endParaRPr lang="en-US" sz="1700">
              <a:cs typeface="Calibri"/>
            </a:endParaRPr>
          </a:p>
          <a:p>
            <a:pPr marL="457200" lvl="1" indent="0">
              <a:buNone/>
            </a:pPr>
            <a:endParaRPr lang="en-US" sz="1700">
              <a:cs typeface="Calibri"/>
            </a:endParaRPr>
          </a:p>
        </p:txBody>
      </p:sp>
      <p:pic>
        <p:nvPicPr>
          <p:cNvPr id="7" name="Graphic 6" descr="Football">
            <a:extLst>
              <a:ext uri="{FF2B5EF4-FFF2-40B4-BE49-F238E27FC236}">
                <a16:creationId xmlns:a16="http://schemas.microsoft.com/office/drawing/2014/main" id="{39426294-F781-81CD-A125-49415D9BB7C6}"/>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216248" y="272851"/>
            <a:ext cx="5577840" cy="5577840"/>
          </a:xfrm>
          <a:prstGeom prst="rect">
            <a:avLst/>
          </a:prstGeom>
        </p:spPr>
      </p:pic>
      <p:sp>
        <p:nvSpPr>
          <p:cNvPr id="4" name="TextBox 3">
            <a:extLst>
              <a:ext uri="{FF2B5EF4-FFF2-40B4-BE49-F238E27FC236}">
                <a16:creationId xmlns:a16="http://schemas.microsoft.com/office/drawing/2014/main" id="{4CF78E51-87E1-A27C-B558-757606AAE0E4}"/>
              </a:ext>
            </a:extLst>
          </p:cNvPr>
          <p:cNvSpPr txBox="1"/>
          <p:nvPr/>
        </p:nvSpPr>
        <p:spPr>
          <a:xfrm>
            <a:off x="9184010" y="4247645"/>
            <a:ext cx="3005289" cy="249784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200">
                <a:cs typeface="Segoe UI"/>
              </a:rPr>
              <a:t>proc import datafile="M:\My_Private_Files\stat356\final\test.xlsx" </a:t>
            </a:r>
          </a:p>
          <a:p>
            <a:r>
              <a:rPr lang="en-US" sz="1200">
                <a:cs typeface="Segoe UI"/>
              </a:rPr>
              <a:t>out=final356.test replace </a:t>
            </a:r>
          </a:p>
          <a:p>
            <a:r>
              <a:rPr lang="en-US" sz="1200">
                <a:cs typeface="Segoe UI"/>
              </a:rPr>
              <a:t>dbms=xlsx; </a:t>
            </a:r>
          </a:p>
          <a:p>
            <a:r>
              <a:rPr lang="en-US" sz="1200">
                <a:cs typeface="Segoe UI"/>
              </a:rPr>
              <a:t>run; </a:t>
            </a:r>
          </a:p>
          <a:p>
            <a:endParaRPr lang="en-US" sz="1200">
              <a:cs typeface="Segoe UI"/>
            </a:endParaRPr>
          </a:p>
          <a:p>
            <a:r>
              <a:rPr lang="en-US" sz="1200">
                <a:cs typeface="Segoe UI"/>
              </a:rPr>
              <a:t>proc import datafile="M:\My_Private_Files\stat356\final\2022 Fantasy Points.xlsx" </a:t>
            </a:r>
          </a:p>
          <a:p>
            <a:r>
              <a:rPr lang="en-US" sz="1200">
                <a:cs typeface="Segoe UI"/>
              </a:rPr>
              <a:t>out=final356.fantasy replace </a:t>
            </a:r>
          </a:p>
          <a:p>
            <a:r>
              <a:rPr lang="en-US" sz="1200">
                <a:cs typeface="Segoe UI"/>
              </a:rPr>
              <a:t>dbms=xlsx; </a:t>
            </a:r>
          </a:p>
          <a:p>
            <a:r>
              <a:rPr lang="en-US" sz="1200">
                <a:cs typeface="Segoe UI"/>
              </a:rPr>
              <a:t>run; </a:t>
            </a:r>
          </a:p>
        </p:txBody>
      </p:sp>
    </p:spTree>
    <p:extLst>
      <p:ext uri="{BB962C8B-B14F-4D97-AF65-F5344CB8AC3E}">
        <p14:creationId xmlns:p14="http://schemas.microsoft.com/office/powerpoint/2010/main" val="351112936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10">
            <a:extLst>
              <a:ext uri="{FF2B5EF4-FFF2-40B4-BE49-F238E27FC236}">
                <a16:creationId xmlns:a16="http://schemas.microsoft.com/office/drawing/2014/main" id="{2B97F24A-32CE-4C1C-A50D-3016B394DC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3312F2D-F94E-9FCA-ED34-8471F2214DBA}"/>
              </a:ext>
            </a:extLst>
          </p:cNvPr>
          <p:cNvSpPr>
            <a:spLocks noGrp="1"/>
          </p:cNvSpPr>
          <p:nvPr>
            <p:ph type="title"/>
          </p:nvPr>
        </p:nvSpPr>
        <p:spPr>
          <a:xfrm>
            <a:off x="630936" y="639520"/>
            <a:ext cx="3429000" cy="1719072"/>
          </a:xfrm>
          <a:solidFill>
            <a:srgbClr val="ED7D31"/>
          </a:solidFill>
        </p:spPr>
        <p:txBody>
          <a:bodyPr vert="horz" lIns="91440" tIns="45720" rIns="91440" bIns="45720" rtlCol="0" anchor="b">
            <a:normAutofit/>
          </a:bodyPr>
          <a:lstStyle/>
          <a:p>
            <a:r>
              <a:rPr lang="en-US" sz="5400" kern="1200">
                <a:solidFill>
                  <a:schemeClr val="tx1"/>
                </a:solidFill>
                <a:latin typeface="+mj-lt"/>
                <a:ea typeface="+mj-ea"/>
                <a:cs typeface="+mj-cs"/>
              </a:rPr>
              <a:t>Contents Procedure</a:t>
            </a:r>
          </a:p>
        </p:txBody>
      </p:sp>
      <p:sp>
        <p:nvSpPr>
          <p:cNvPr id="9" name="sketch line">
            <a:extLst>
              <a:ext uri="{FF2B5EF4-FFF2-40B4-BE49-F238E27FC236}">
                <a16:creationId xmlns:a16="http://schemas.microsoft.com/office/drawing/2014/main" id="{CD8B4F24-440B-49E9-B85D-733523DC06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2573756"/>
            <a:ext cx="3255095" cy="18288"/>
          </a:xfrm>
          <a:custGeom>
            <a:avLst/>
            <a:gdLst>
              <a:gd name="csX0" fmla="*/ 0 w 3255095"/>
              <a:gd name="csY0" fmla="*/ 0 h 18288"/>
              <a:gd name="csX1" fmla="*/ 618468 w 3255095"/>
              <a:gd name="csY1" fmla="*/ 0 h 18288"/>
              <a:gd name="csX2" fmla="*/ 1269487 w 3255095"/>
              <a:gd name="csY2" fmla="*/ 0 h 18288"/>
              <a:gd name="csX3" fmla="*/ 1953057 w 3255095"/>
              <a:gd name="csY3" fmla="*/ 0 h 18288"/>
              <a:gd name="csX4" fmla="*/ 2636627 w 3255095"/>
              <a:gd name="csY4" fmla="*/ 0 h 18288"/>
              <a:gd name="csX5" fmla="*/ 3255095 w 3255095"/>
              <a:gd name="csY5" fmla="*/ 0 h 18288"/>
              <a:gd name="csX6" fmla="*/ 3255095 w 3255095"/>
              <a:gd name="csY6" fmla="*/ 18288 h 18288"/>
              <a:gd name="csX7" fmla="*/ 2538974 w 3255095"/>
              <a:gd name="csY7" fmla="*/ 18288 h 18288"/>
              <a:gd name="csX8" fmla="*/ 1822853 w 3255095"/>
              <a:gd name="csY8" fmla="*/ 18288 h 18288"/>
              <a:gd name="csX9" fmla="*/ 1171834 w 3255095"/>
              <a:gd name="csY9" fmla="*/ 18288 h 18288"/>
              <a:gd name="csX10" fmla="*/ 0 w 3255095"/>
              <a:gd name="csY10" fmla="*/ 18288 h 18288"/>
              <a:gd name="csX11" fmla="*/ 0 w 3255095"/>
              <a:gd name="csY11"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F12E613E-B40F-D524-7C5E-18CD6239B53B}"/>
              </a:ext>
            </a:extLst>
          </p:cNvPr>
          <p:cNvSpPr txBox="1"/>
          <p:nvPr/>
        </p:nvSpPr>
        <p:spPr>
          <a:xfrm>
            <a:off x="635789" y="2807208"/>
            <a:ext cx="3967739" cy="3405859"/>
          </a:xfrm>
          <a:prstGeom prst="rect">
            <a:avLst/>
          </a:prstGeom>
        </p:spPr>
        <p:txBody>
          <a:bodyPr rot="0" spcFirstLastPara="0" vertOverflow="overflow" horzOverflow="overflow" vert="horz" lIns="91440" tIns="45720" rIns="91440" bIns="45720" numCol="1" spcCol="0" rtlCol="0" fromWordArt="0" anchor="t" anchorCtr="0" forceAA="0" compatLnSpc="1">
            <a:prstTxWarp prst="textNoShape">
              <a:avLst/>
            </a:prstTxWarp>
            <a:normAutofit fontScale="92500" lnSpcReduction="10000"/>
          </a:bodyPr>
          <a:lstStyle/>
          <a:p>
            <a:pPr marL="285750" indent="-228600">
              <a:lnSpc>
                <a:spcPct val="90000"/>
              </a:lnSpc>
              <a:spcAft>
                <a:spcPts val="600"/>
              </a:spcAft>
              <a:buFont typeface="Arial" panose="020B0604020202020204" pitchFamily="34" charset="0"/>
              <a:buChar char="•"/>
            </a:pPr>
            <a:r>
              <a:rPr lang="en-US" sz="2200" dirty="0"/>
              <a:t>We are working with 307 players in this data set</a:t>
            </a:r>
          </a:p>
          <a:p>
            <a:pPr marL="57150">
              <a:lnSpc>
                <a:spcPct val="90000"/>
              </a:lnSpc>
              <a:spcAft>
                <a:spcPts val="600"/>
              </a:spcAft>
            </a:pPr>
            <a:endParaRPr lang="en-US" sz="2200">
              <a:cs typeface="Calibri" panose="020F0502020204030204"/>
            </a:endParaRPr>
          </a:p>
          <a:p>
            <a:pPr marL="285750" indent="-228600">
              <a:lnSpc>
                <a:spcPct val="90000"/>
              </a:lnSpc>
              <a:spcAft>
                <a:spcPts val="600"/>
              </a:spcAft>
              <a:buFont typeface="Arial" panose="020B0604020202020204" pitchFamily="34" charset="0"/>
              <a:buChar char="•"/>
            </a:pPr>
            <a:r>
              <a:rPr lang="en-US" sz="2200" dirty="0"/>
              <a:t>We have 25 variables with a combination of categorical as well as numerical values</a:t>
            </a:r>
            <a:endParaRPr lang="en-US" sz="2200" dirty="0">
              <a:cs typeface="Calibri"/>
            </a:endParaRPr>
          </a:p>
          <a:p>
            <a:pPr marL="285750" indent="-228600">
              <a:lnSpc>
                <a:spcPct val="90000"/>
              </a:lnSpc>
              <a:spcAft>
                <a:spcPts val="600"/>
              </a:spcAft>
              <a:buFont typeface="Arial" panose="020B0604020202020204" pitchFamily="34" charset="0"/>
              <a:buChar char="•"/>
            </a:pPr>
            <a:endParaRPr lang="en-US" sz="2200" dirty="0">
              <a:ea typeface="+mn-lt"/>
              <a:cs typeface="+mn-lt"/>
            </a:endParaRPr>
          </a:p>
          <a:p>
            <a:pPr marL="285750" indent="-228600">
              <a:lnSpc>
                <a:spcPct val="90000"/>
              </a:lnSpc>
              <a:spcAft>
                <a:spcPts val="600"/>
              </a:spcAft>
              <a:buFont typeface="Arial" panose="020B0604020202020204" pitchFamily="34" charset="0"/>
              <a:buChar char="•"/>
            </a:pPr>
            <a:r>
              <a:rPr lang="en-US" sz="2000" dirty="0">
                <a:ea typeface="+mn-lt"/>
                <a:cs typeface="+mn-lt"/>
              </a:rPr>
              <a:t>The data used was manually pulled from pro-football-reference.com, a reference website for everything to do with professional American Football</a:t>
            </a:r>
            <a:endParaRPr lang="en-US" sz="2000" dirty="0">
              <a:cs typeface="Calibri"/>
            </a:endParaRPr>
          </a:p>
          <a:p>
            <a:pPr marL="285750" indent="-228600">
              <a:lnSpc>
                <a:spcPct val="90000"/>
              </a:lnSpc>
              <a:spcAft>
                <a:spcPts val="600"/>
              </a:spcAft>
              <a:buFont typeface="Arial" panose="020B0604020202020204" pitchFamily="34" charset="0"/>
              <a:buChar char="•"/>
            </a:pPr>
            <a:endParaRPr lang="en-US" sz="2200">
              <a:cs typeface="Calibri" panose="020F0502020204030204"/>
            </a:endParaRPr>
          </a:p>
        </p:txBody>
      </p:sp>
      <p:pic>
        <p:nvPicPr>
          <p:cNvPr id="4" name="Picture 4" descr="Table&#10;&#10;Description automatically generated">
            <a:extLst>
              <a:ext uri="{FF2B5EF4-FFF2-40B4-BE49-F238E27FC236}">
                <a16:creationId xmlns:a16="http://schemas.microsoft.com/office/drawing/2014/main" id="{22B755C1-DE9E-45EB-799B-97197AA6B4E1}"/>
              </a:ext>
            </a:extLst>
          </p:cNvPr>
          <p:cNvPicPr>
            <a:picLocks noGrp="1" noChangeAspect="1"/>
          </p:cNvPicPr>
          <p:nvPr>
            <p:ph idx="1"/>
          </p:nvPr>
        </p:nvPicPr>
        <p:blipFill>
          <a:blip r:embed="rId2"/>
          <a:stretch>
            <a:fillRect/>
          </a:stretch>
        </p:blipFill>
        <p:spPr>
          <a:xfrm>
            <a:off x="4654296" y="1578352"/>
            <a:ext cx="6903720" cy="3701295"/>
          </a:xfrm>
          <a:prstGeom prst="rect">
            <a:avLst/>
          </a:prstGeom>
        </p:spPr>
      </p:pic>
      <p:sp>
        <p:nvSpPr>
          <p:cNvPr id="5" name="TextBox 4">
            <a:extLst>
              <a:ext uri="{FF2B5EF4-FFF2-40B4-BE49-F238E27FC236}">
                <a16:creationId xmlns:a16="http://schemas.microsoft.com/office/drawing/2014/main" id="{239808FE-83FA-8C4C-B16D-6039B3C46747}"/>
              </a:ext>
            </a:extLst>
          </p:cNvPr>
          <p:cNvSpPr txBox="1"/>
          <p:nvPr/>
        </p:nvSpPr>
        <p:spPr>
          <a:xfrm>
            <a:off x="4724400" y="3200400"/>
            <a:ext cx="274320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endParaRPr lang="en-US"/>
          </a:p>
        </p:txBody>
      </p:sp>
      <p:sp>
        <p:nvSpPr>
          <p:cNvPr id="3" name="TextBox 2">
            <a:extLst>
              <a:ext uri="{FF2B5EF4-FFF2-40B4-BE49-F238E27FC236}">
                <a16:creationId xmlns:a16="http://schemas.microsoft.com/office/drawing/2014/main" id="{3CEC59A9-A505-1E57-5449-9D5A5D0BC1C6}"/>
              </a:ext>
            </a:extLst>
          </p:cNvPr>
          <p:cNvSpPr txBox="1"/>
          <p:nvPr/>
        </p:nvSpPr>
        <p:spPr>
          <a:xfrm>
            <a:off x="9775961" y="6213666"/>
            <a:ext cx="2743200" cy="45720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200">
                <a:cs typeface="Segoe UI"/>
              </a:rPr>
              <a:t>proc contents data=final356.test; </a:t>
            </a:r>
          </a:p>
          <a:p>
            <a:r>
              <a:rPr lang="en-US" sz="1200">
                <a:cs typeface="Segoe UI"/>
              </a:rPr>
              <a:t>run; </a:t>
            </a:r>
          </a:p>
        </p:txBody>
      </p:sp>
    </p:spTree>
    <p:extLst>
      <p:ext uri="{BB962C8B-B14F-4D97-AF65-F5344CB8AC3E}">
        <p14:creationId xmlns:p14="http://schemas.microsoft.com/office/powerpoint/2010/main" val="70402191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256B2C21-A230-48C0-8DF1-C46611373C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3847E18C-932D-4C95-AABA-FEC7C9499A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3150CB11-0C61-439E-910F-5787759E72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reeform: Shape 16">
            <a:extLst>
              <a:ext uri="{FF2B5EF4-FFF2-40B4-BE49-F238E27FC236}">
                <a16:creationId xmlns:a16="http://schemas.microsoft.com/office/drawing/2014/main" id="{43F8A58B-5155-44CE-A5FF-7647B47D0A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9" name="Rectangle 18">
            <a:extLst>
              <a:ext uri="{FF2B5EF4-FFF2-40B4-BE49-F238E27FC236}">
                <a16:creationId xmlns:a16="http://schemas.microsoft.com/office/drawing/2014/main" id="{443F2ACA-E6D6-4028-82DD-F03C262D5D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5" y="1410079"/>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1986C49-AF80-64EE-1447-AF2B42591F55}"/>
              </a:ext>
            </a:extLst>
          </p:cNvPr>
          <p:cNvSpPr>
            <a:spLocks noGrp="1"/>
          </p:cNvSpPr>
          <p:nvPr>
            <p:ph type="title"/>
          </p:nvPr>
        </p:nvSpPr>
        <p:spPr>
          <a:xfrm>
            <a:off x="586478" y="1683756"/>
            <a:ext cx="3115265" cy="2396359"/>
          </a:xfrm>
        </p:spPr>
        <p:txBody>
          <a:bodyPr anchor="b">
            <a:normAutofit/>
          </a:bodyPr>
          <a:lstStyle/>
          <a:p>
            <a:pPr algn="r"/>
            <a:r>
              <a:rPr lang="en-US" sz="4000">
                <a:solidFill>
                  <a:srgbClr val="FFFFFF"/>
                </a:solidFill>
                <a:cs typeface="Calibri Light"/>
              </a:rPr>
              <a:t>Variables: Pt.1</a:t>
            </a:r>
            <a:br>
              <a:rPr lang="en-US" sz="4000">
                <a:solidFill>
                  <a:srgbClr val="FFFFFF"/>
                </a:solidFill>
                <a:cs typeface="Calibri Light"/>
              </a:rPr>
            </a:br>
            <a:endParaRPr lang="en-US" sz="4000">
              <a:cs typeface="Calibri Light"/>
            </a:endParaRPr>
          </a:p>
        </p:txBody>
      </p:sp>
      <p:graphicFrame>
        <p:nvGraphicFramePr>
          <p:cNvPr id="5" name="Content Placeholder 2">
            <a:extLst>
              <a:ext uri="{FF2B5EF4-FFF2-40B4-BE49-F238E27FC236}">
                <a16:creationId xmlns:a16="http://schemas.microsoft.com/office/drawing/2014/main" id="{5C08FBA7-3E4F-6D64-5D9B-EDCD862A30BB}"/>
              </a:ext>
            </a:extLst>
          </p:cNvPr>
          <p:cNvGraphicFramePr>
            <a:graphicFrameLocks noGrp="1"/>
          </p:cNvGraphicFramePr>
          <p:nvPr>
            <p:ph idx="1"/>
            <p:extLst>
              <p:ext uri="{D42A27DB-BD31-4B8C-83A1-F6EECF244321}">
                <p14:modId xmlns:p14="http://schemas.microsoft.com/office/powerpoint/2010/main" val="494989083"/>
              </p:ext>
            </p:extLst>
          </p:nvPr>
        </p:nvGraphicFramePr>
        <p:xfrm>
          <a:off x="4905052" y="750440"/>
          <a:ext cx="6666833" cy="545392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93453506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 name="Rectangle 8">
            <a:extLst>
              <a:ext uri="{FF2B5EF4-FFF2-40B4-BE49-F238E27FC236}">
                <a16:creationId xmlns:a16="http://schemas.microsoft.com/office/drawing/2014/main" id="{E8A8EAB8-D2FF-444D-B34B-7D32F106AD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 name="Title 1">
            <a:extLst>
              <a:ext uri="{FF2B5EF4-FFF2-40B4-BE49-F238E27FC236}">
                <a16:creationId xmlns:a16="http://schemas.microsoft.com/office/drawing/2014/main" id="{8444E538-E7FE-9759-5FE5-6958A3F7D42C}"/>
              </a:ext>
            </a:extLst>
          </p:cNvPr>
          <p:cNvSpPr>
            <a:spLocks noGrp="1"/>
          </p:cNvSpPr>
          <p:nvPr>
            <p:ph type="title"/>
          </p:nvPr>
        </p:nvSpPr>
        <p:spPr>
          <a:xfrm>
            <a:off x="895220" y="583497"/>
            <a:ext cx="4712854" cy="1101242"/>
          </a:xfrm>
        </p:spPr>
        <p:txBody>
          <a:bodyPr anchor="b">
            <a:normAutofit/>
          </a:bodyPr>
          <a:lstStyle/>
          <a:p>
            <a:r>
              <a:rPr lang="en-US" sz="3800" u="sng">
                <a:solidFill>
                  <a:schemeClr val="bg1"/>
                </a:solidFill>
                <a:cs typeface="Calibri Light"/>
              </a:rPr>
              <a:t>Variables: Pt.2</a:t>
            </a:r>
            <a:br>
              <a:rPr lang="en-US" sz="3800" u="sng">
                <a:solidFill>
                  <a:schemeClr val="bg1"/>
                </a:solidFill>
                <a:cs typeface="Calibri Light"/>
              </a:rPr>
            </a:br>
            <a:r>
              <a:rPr lang="en-US" sz="2800">
                <a:solidFill>
                  <a:schemeClr val="bg1"/>
                </a:solidFill>
                <a:cs typeface="Calibri Light"/>
              </a:rPr>
              <a:t>Player Variables</a:t>
            </a:r>
          </a:p>
        </p:txBody>
      </p:sp>
      <p:cxnSp>
        <p:nvCxnSpPr>
          <p:cNvPr id="7" name="Straight Connector 10">
            <a:extLst>
              <a:ext uri="{FF2B5EF4-FFF2-40B4-BE49-F238E27FC236}">
                <a16:creationId xmlns:a16="http://schemas.microsoft.com/office/drawing/2014/main" id="{EEA38897-7BA3-4408-8083-3235339C4A6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1873" y="1749756"/>
            <a:ext cx="4718304"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28D7D279-C440-9828-866D-A6D6B520B24C}"/>
              </a:ext>
            </a:extLst>
          </p:cNvPr>
          <p:cNvSpPr>
            <a:spLocks noGrp="1"/>
          </p:cNvSpPr>
          <p:nvPr>
            <p:ph idx="1"/>
          </p:nvPr>
        </p:nvSpPr>
        <p:spPr>
          <a:xfrm>
            <a:off x="897769" y="1909192"/>
            <a:ext cx="4586513" cy="4331954"/>
          </a:xfrm>
        </p:spPr>
        <p:txBody>
          <a:bodyPr vert="horz" lIns="91440" tIns="45720" rIns="91440" bIns="45720" rtlCol="0" anchor="t">
            <a:noAutofit/>
          </a:bodyPr>
          <a:lstStyle/>
          <a:p>
            <a:pPr marL="0" indent="0">
              <a:buNone/>
            </a:pPr>
            <a:r>
              <a:rPr lang="en-US" sz="2000" err="1">
                <a:solidFill>
                  <a:schemeClr val="bg1"/>
                </a:solidFill>
                <a:cs typeface="Calibri" panose="020F0502020204030204"/>
              </a:rPr>
              <a:t>Pass_Yards</a:t>
            </a:r>
            <a:r>
              <a:rPr lang="en-US" sz="2000">
                <a:solidFill>
                  <a:schemeClr val="bg1"/>
                </a:solidFill>
                <a:cs typeface="Calibri" panose="020F0502020204030204"/>
              </a:rPr>
              <a:t>: Total Passing Yards by the player for the 2022 season</a:t>
            </a:r>
          </a:p>
          <a:p>
            <a:pPr marL="0" indent="0">
              <a:buNone/>
            </a:pPr>
            <a:r>
              <a:rPr lang="en-US" sz="2000" err="1">
                <a:solidFill>
                  <a:schemeClr val="bg1"/>
                </a:solidFill>
                <a:cs typeface="Calibri" panose="020F0502020204030204"/>
              </a:rPr>
              <a:t>Pass_TDs</a:t>
            </a:r>
            <a:r>
              <a:rPr lang="en-US" sz="2000">
                <a:solidFill>
                  <a:schemeClr val="bg1"/>
                </a:solidFill>
                <a:cs typeface="Calibri" panose="020F0502020204030204"/>
              </a:rPr>
              <a:t>: Total Passing TDs</a:t>
            </a:r>
          </a:p>
          <a:p>
            <a:pPr marL="0" indent="0">
              <a:buNone/>
            </a:pPr>
            <a:r>
              <a:rPr lang="en-US" sz="2000" err="1">
                <a:solidFill>
                  <a:schemeClr val="bg1"/>
                </a:solidFill>
                <a:cs typeface="Calibri" panose="020F0502020204030204"/>
              </a:rPr>
              <a:t>Ints</a:t>
            </a:r>
            <a:r>
              <a:rPr lang="en-US" sz="2000">
                <a:solidFill>
                  <a:schemeClr val="bg1"/>
                </a:solidFill>
                <a:cs typeface="Calibri" panose="020F0502020204030204"/>
              </a:rPr>
              <a:t>: Total Interceptions</a:t>
            </a:r>
          </a:p>
          <a:p>
            <a:pPr marL="0" indent="0">
              <a:buNone/>
            </a:pPr>
            <a:r>
              <a:rPr lang="en-US" sz="2000" err="1">
                <a:solidFill>
                  <a:schemeClr val="bg1"/>
                </a:solidFill>
                <a:cs typeface="Calibri" panose="020F0502020204030204"/>
              </a:rPr>
              <a:t>Rush_Yards</a:t>
            </a:r>
            <a:r>
              <a:rPr lang="en-US" sz="2000">
                <a:solidFill>
                  <a:schemeClr val="bg1"/>
                </a:solidFill>
                <a:cs typeface="Calibri" panose="020F0502020204030204"/>
              </a:rPr>
              <a:t>: Total Rushing Yards</a:t>
            </a:r>
          </a:p>
          <a:p>
            <a:pPr marL="0" indent="0">
              <a:buNone/>
            </a:pPr>
            <a:r>
              <a:rPr lang="en-US" sz="2000" err="1">
                <a:solidFill>
                  <a:schemeClr val="bg1"/>
                </a:solidFill>
                <a:cs typeface="Calibri" panose="020F0502020204030204"/>
              </a:rPr>
              <a:t>Rush_TDs</a:t>
            </a:r>
            <a:r>
              <a:rPr lang="en-US" sz="2000">
                <a:solidFill>
                  <a:schemeClr val="bg1"/>
                </a:solidFill>
                <a:cs typeface="Calibri" panose="020F0502020204030204"/>
              </a:rPr>
              <a:t>: Total Rushing TDs</a:t>
            </a:r>
          </a:p>
          <a:p>
            <a:pPr marL="0" indent="0">
              <a:buNone/>
            </a:pPr>
            <a:r>
              <a:rPr lang="en-US" sz="2000">
                <a:solidFill>
                  <a:schemeClr val="bg1"/>
                </a:solidFill>
                <a:cs typeface="Calibri" panose="020F0502020204030204"/>
              </a:rPr>
              <a:t>Receptions: Total Receptions</a:t>
            </a:r>
          </a:p>
          <a:p>
            <a:pPr marL="0" indent="0">
              <a:buNone/>
            </a:pPr>
            <a:r>
              <a:rPr lang="en-US" sz="2000" err="1">
                <a:solidFill>
                  <a:schemeClr val="bg1"/>
                </a:solidFill>
                <a:cs typeface="Calibri" panose="020F0502020204030204"/>
              </a:rPr>
              <a:t>Rec_Yards</a:t>
            </a:r>
            <a:r>
              <a:rPr lang="en-US" sz="2000">
                <a:solidFill>
                  <a:schemeClr val="bg1"/>
                </a:solidFill>
                <a:cs typeface="Calibri" panose="020F0502020204030204"/>
              </a:rPr>
              <a:t>: Total Receiving Yards</a:t>
            </a:r>
          </a:p>
          <a:p>
            <a:pPr marL="0" indent="0">
              <a:buNone/>
            </a:pPr>
            <a:r>
              <a:rPr lang="en-US" sz="2000" err="1">
                <a:solidFill>
                  <a:schemeClr val="bg1"/>
                </a:solidFill>
                <a:cs typeface="Calibri" panose="020F0502020204030204"/>
              </a:rPr>
              <a:t>Rec_TDs</a:t>
            </a:r>
            <a:r>
              <a:rPr lang="en-US" sz="2000">
                <a:solidFill>
                  <a:schemeClr val="bg1"/>
                </a:solidFill>
                <a:cs typeface="Calibri" panose="020F0502020204030204"/>
              </a:rPr>
              <a:t>: Total Receiving TDs</a:t>
            </a:r>
          </a:p>
          <a:p>
            <a:pPr marL="0" indent="0">
              <a:buNone/>
            </a:pPr>
            <a:r>
              <a:rPr lang="en-US" sz="2000">
                <a:solidFill>
                  <a:schemeClr val="bg1"/>
                </a:solidFill>
                <a:cs typeface="Calibri" panose="020F0502020204030204"/>
              </a:rPr>
              <a:t>Fumbles: Total Fumbles</a:t>
            </a:r>
          </a:p>
          <a:p>
            <a:pPr marL="0" indent="0">
              <a:buNone/>
            </a:pPr>
            <a:r>
              <a:rPr lang="en-US" sz="2000" err="1">
                <a:solidFill>
                  <a:schemeClr val="bg1"/>
                </a:solidFill>
                <a:cs typeface="Calibri" panose="020F0502020204030204"/>
              </a:rPr>
              <a:t>Two_Pt</a:t>
            </a:r>
            <a:r>
              <a:rPr lang="en-US" sz="2000">
                <a:solidFill>
                  <a:schemeClr val="bg1"/>
                </a:solidFill>
                <a:cs typeface="Calibri" panose="020F0502020204030204"/>
              </a:rPr>
              <a:t>: Total Two-Point Conversions</a:t>
            </a:r>
          </a:p>
        </p:txBody>
      </p:sp>
      <p:cxnSp>
        <p:nvCxnSpPr>
          <p:cNvPr id="8" name="Straight Connector 12">
            <a:extLst>
              <a:ext uri="{FF2B5EF4-FFF2-40B4-BE49-F238E27FC236}">
                <a16:creationId xmlns:a16="http://schemas.microsoft.com/office/drawing/2014/main" id="{F11AD06B-AB20-4097-8606-5DA00DBACE8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4027" y="5707672"/>
            <a:ext cx="4713997"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pic>
        <p:nvPicPr>
          <p:cNvPr id="10" name="Picture 4" descr="Graph on document with pen">
            <a:extLst>
              <a:ext uri="{FF2B5EF4-FFF2-40B4-BE49-F238E27FC236}">
                <a16:creationId xmlns:a16="http://schemas.microsoft.com/office/drawing/2014/main" id="{2FC90480-979C-C9E3-5154-C55D0F0AEA54}"/>
              </a:ext>
            </a:extLst>
          </p:cNvPr>
          <p:cNvPicPr>
            <a:picLocks noChangeAspect="1"/>
          </p:cNvPicPr>
          <p:nvPr/>
        </p:nvPicPr>
        <p:blipFill>
          <a:blip r:embed="rId2"/>
          <a:stretch>
            <a:fillRect/>
          </a:stretch>
        </p:blipFill>
        <p:spPr>
          <a:xfrm>
            <a:off x="6525453" y="1540612"/>
            <a:ext cx="5666547" cy="3776775"/>
          </a:xfrm>
          <a:prstGeom prst="rect">
            <a:avLst/>
          </a:prstGeom>
        </p:spPr>
      </p:pic>
    </p:spTree>
    <p:extLst>
      <p:ext uri="{BB962C8B-B14F-4D97-AF65-F5344CB8AC3E}">
        <p14:creationId xmlns:p14="http://schemas.microsoft.com/office/powerpoint/2010/main" val="269490537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6" name="Rectangle 8">
            <a:extLst>
              <a:ext uri="{FF2B5EF4-FFF2-40B4-BE49-F238E27FC236}">
                <a16:creationId xmlns:a16="http://schemas.microsoft.com/office/drawing/2014/main" id="{04C21BAE-6866-4C7A-A7EC-C1B2E572D5B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4" descr="Two referees near the goal signalling touchdown to large stadium">
            <a:extLst>
              <a:ext uri="{FF2B5EF4-FFF2-40B4-BE49-F238E27FC236}">
                <a16:creationId xmlns:a16="http://schemas.microsoft.com/office/drawing/2014/main" id="{14721388-E907-7EE2-BB9A-92D8FFBA1777}"/>
              </a:ext>
            </a:extLst>
          </p:cNvPr>
          <p:cNvPicPr>
            <a:picLocks noChangeAspect="1"/>
          </p:cNvPicPr>
          <p:nvPr/>
        </p:nvPicPr>
        <p:blipFill rotWithShape="1">
          <a:blip r:embed="rId2"/>
          <a:srcRect t="12417" r="-2" b="3062"/>
          <a:stretch/>
        </p:blipFill>
        <p:spPr>
          <a:xfrm>
            <a:off x="1" y="1"/>
            <a:ext cx="12192000" cy="6857999"/>
          </a:xfrm>
          <a:prstGeom prst="rect">
            <a:avLst/>
          </a:prstGeom>
        </p:spPr>
      </p:pic>
      <p:sp useBgFill="1">
        <p:nvSpPr>
          <p:cNvPr id="8" name="Freeform: Shape 10">
            <a:extLst>
              <a:ext uri="{FF2B5EF4-FFF2-40B4-BE49-F238E27FC236}">
                <a16:creationId xmlns:a16="http://schemas.microsoft.com/office/drawing/2014/main" id="{7E7D0C94-08B4-48AE-8813-CC4D60294F4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23899" y="609600"/>
            <a:ext cx="5372101" cy="5513767"/>
          </a:xfrm>
          <a:custGeom>
            <a:avLst/>
            <a:gdLst>
              <a:gd name="connsiteX0" fmla="*/ 0 w 5372101"/>
              <a:gd name="connsiteY0" fmla="*/ 0 h 5513767"/>
              <a:gd name="connsiteX1" fmla="*/ 5372101 w 5372101"/>
              <a:gd name="connsiteY1" fmla="*/ 0 h 5513767"/>
              <a:gd name="connsiteX2" fmla="*/ 5372101 w 5372101"/>
              <a:gd name="connsiteY2" fmla="*/ 5513767 h 5513767"/>
              <a:gd name="connsiteX3" fmla="*/ 5363126 w 5372101"/>
              <a:gd name="connsiteY3" fmla="*/ 5512835 h 5513767"/>
              <a:gd name="connsiteX4" fmla="*/ 5316714 w 5372101"/>
              <a:gd name="connsiteY4" fmla="*/ 5491247 h 5513767"/>
              <a:gd name="connsiteX5" fmla="*/ 5198331 w 5372101"/>
              <a:gd name="connsiteY5" fmla="*/ 5470092 h 5513767"/>
              <a:gd name="connsiteX6" fmla="*/ 5150428 w 5372101"/>
              <a:gd name="connsiteY6" fmla="*/ 5472506 h 5513767"/>
              <a:gd name="connsiteX7" fmla="*/ 5085506 w 5372101"/>
              <a:gd name="connsiteY7" fmla="*/ 5468851 h 5513767"/>
              <a:gd name="connsiteX8" fmla="*/ 4968663 w 5372101"/>
              <a:gd name="connsiteY8" fmla="*/ 5470487 h 5513767"/>
              <a:gd name="connsiteX9" fmla="*/ 4815623 w 5372101"/>
              <a:gd name="connsiteY9" fmla="*/ 5458622 h 5513767"/>
              <a:gd name="connsiteX10" fmla="*/ 4716679 w 5372101"/>
              <a:gd name="connsiteY10" fmla="*/ 5405365 h 5513767"/>
              <a:gd name="connsiteX11" fmla="*/ 4704891 w 5372101"/>
              <a:gd name="connsiteY11" fmla="*/ 5411529 h 5513767"/>
              <a:gd name="connsiteX12" fmla="*/ 4630496 w 5372101"/>
              <a:gd name="connsiteY12" fmla="*/ 5396532 h 5513767"/>
              <a:gd name="connsiteX13" fmla="*/ 4506964 w 5372101"/>
              <a:gd name="connsiteY13" fmla="*/ 5396685 h 5513767"/>
              <a:gd name="connsiteX14" fmla="*/ 4427135 w 5372101"/>
              <a:gd name="connsiteY14" fmla="*/ 5358585 h 5513767"/>
              <a:gd name="connsiteX15" fmla="*/ 4028338 w 5372101"/>
              <a:gd name="connsiteY15" fmla="*/ 5313494 h 5513767"/>
              <a:gd name="connsiteX16" fmla="*/ 4015367 w 5372101"/>
              <a:gd name="connsiteY16" fmla="*/ 5320766 h 5513767"/>
              <a:gd name="connsiteX17" fmla="*/ 4002837 w 5372101"/>
              <a:gd name="connsiteY17" fmla="*/ 5322294 h 5513767"/>
              <a:gd name="connsiteX18" fmla="*/ 3997650 w 5372101"/>
              <a:gd name="connsiteY18" fmla="*/ 5329513 h 5513767"/>
              <a:gd name="connsiteX19" fmla="*/ 3991991 w 5372101"/>
              <a:gd name="connsiteY19" fmla="*/ 5331908 h 5513767"/>
              <a:gd name="connsiteX20" fmla="*/ 3925210 w 5372101"/>
              <a:gd name="connsiteY20" fmla="*/ 5319395 h 5513767"/>
              <a:gd name="connsiteX21" fmla="*/ 3837014 w 5372101"/>
              <a:gd name="connsiteY21" fmla="*/ 5289023 h 5513767"/>
              <a:gd name="connsiteX22" fmla="*/ 3798765 w 5372101"/>
              <a:gd name="connsiteY22" fmla="*/ 5299431 h 5513767"/>
              <a:gd name="connsiteX23" fmla="*/ 3792144 w 5372101"/>
              <a:gd name="connsiteY23" fmla="*/ 5301616 h 5513767"/>
              <a:gd name="connsiteX24" fmla="*/ 3766249 w 5372101"/>
              <a:gd name="connsiteY24" fmla="*/ 5301869 h 5513767"/>
              <a:gd name="connsiteX25" fmla="*/ 3718651 w 5372101"/>
              <a:gd name="connsiteY25" fmla="*/ 5320541 h 5513767"/>
              <a:gd name="connsiteX26" fmla="*/ 3671207 w 5372101"/>
              <a:gd name="connsiteY26" fmla="*/ 5318046 h 5513767"/>
              <a:gd name="connsiteX27" fmla="*/ 3446863 w 5372101"/>
              <a:gd name="connsiteY27" fmla="*/ 5294348 h 5513767"/>
              <a:gd name="connsiteX28" fmla="*/ 3312000 w 5372101"/>
              <a:gd name="connsiteY28" fmla="*/ 5286923 h 5513767"/>
              <a:gd name="connsiteX29" fmla="*/ 3259756 w 5372101"/>
              <a:gd name="connsiteY29" fmla="*/ 5294712 h 5513767"/>
              <a:gd name="connsiteX30" fmla="*/ 3187481 w 5372101"/>
              <a:gd name="connsiteY30" fmla="*/ 5298457 h 5513767"/>
              <a:gd name="connsiteX31" fmla="*/ 3124115 w 5372101"/>
              <a:gd name="connsiteY31" fmla="*/ 5294626 h 5513767"/>
              <a:gd name="connsiteX32" fmla="*/ 3099907 w 5372101"/>
              <a:gd name="connsiteY32" fmla="*/ 5302443 h 5513767"/>
              <a:gd name="connsiteX33" fmla="*/ 3017494 w 5372101"/>
              <a:gd name="connsiteY33" fmla="*/ 5301439 h 5513767"/>
              <a:gd name="connsiteX34" fmla="*/ 3010848 w 5372101"/>
              <a:gd name="connsiteY34" fmla="*/ 5307225 h 5513767"/>
              <a:gd name="connsiteX35" fmla="*/ 2994286 w 5372101"/>
              <a:gd name="connsiteY35" fmla="*/ 5309060 h 5513767"/>
              <a:gd name="connsiteX36" fmla="*/ 2988160 w 5372101"/>
              <a:gd name="connsiteY36" fmla="*/ 5310041 h 5513767"/>
              <a:gd name="connsiteX37" fmla="*/ 2984260 w 5372101"/>
              <a:gd name="connsiteY37" fmla="*/ 5307528 h 5513767"/>
              <a:gd name="connsiteX38" fmla="*/ 2979127 w 5372101"/>
              <a:gd name="connsiteY38" fmla="*/ 5308389 h 5513767"/>
              <a:gd name="connsiteX39" fmla="*/ 2978660 w 5372101"/>
              <a:gd name="connsiteY39" fmla="*/ 5311563 h 5513767"/>
              <a:gd name="connsiteX40" fmla="*/ 2946326 w 5372101"/>
              <a:gd name="connsiteY40" fmla="*/ 5316745 h 5513767"/>
              <a:gd name="connsiteX41" fmla="*/ 2713134 w 5372101"/>
              <a:gd name="connsiteY41" fmla="*/ 5331381 h 5513767"/>
              <a:gd name="connsiteX42" fmla="*/ 2352072 w 5372101"/>
              <a:gd name="connsiteY42" fmla="*/ 5342761 h 5513767"/>
              <a:gd name="connsiteX43" fmla="*/ 2260922 w 5372101"/>
              <a:gd name="connsiteY43" fmla="*/ 5328122 h 5513767"/>
              <a:gd name="connsiteX44" fmla="*/ 2178497 w 5372101"/>
              <a:gd name="connsiteY44" fmla="*/ 5351065 h 5513767"/>
              <a:gd name="connsiteX45" fmla="*/ 2034408 w 5372101"/>
              <a:gd name="connsiteY45" fmla="*/ 5307958 h 5513767"/>
              <a:gd name="connsiteX46" fmla="*/ 1831505 w 5372101"/>
              <a:gd name="connsiteY46" fmla="*/ 5312691 h 5513767"/>
              <a:gd name="connsiteX47" fmla="*/ 1710387 w 5372101"/>
              <a:gd name="connsiteY47" fmla="*/ 5308705 h 5513767"/>
              <a:gd name="connsiteX48" fmla="*/ 1664816 w 5372101"/>
              <a:gd name="connsiteY48" fmla="*/ 5296479 h 5513767"/>
              <a:gd name="connsiteX49" fmla="*/ 1600883 w 5372101"/>
              <a:gd name="connsiteY49" fmla="*/ 5286607 h 5513767"/>
              <a:gd name="connsiteX50" fmla="*/ 1488397 w 5372101"/>
              <a:gd name="connsiteY50" fmla="*/ 5260898 h 5513767"/>
              <a:gd name="connsiteX51" fmla="*/ 1336670 w 5372101"/>
              <a:gd name="connsiteY51" fmla="*/ 5240770 h 5513767"/>
              <a:gd name="connsiteX52" fmla="*/ 1224297 w 5372101"/>
              <a:gd name="connsiteY52" fmla="*/ 5271845 h 5513767"/>
              <a:gd name="connsiteX53" fmla="*/ 1214830 w 5372101"/>
              <a:gd name="connsiteY53" fmla="*/ 5263450 h 5513767"/>
              <a:gd name="connsiteX54" fmla="*/ 1138181 w 5372101"/>
              <a:gd name="connsiteY54" fmla="*/ 5262590 h 5513767"/>
              <a:gd name="connsiteX55" fmla="*/ 943575 w 5372101"/>
              <a:gd name="connsiteY55" fmla="*/ 5290808 h 5513767"/>
              <a:gd name="connsiteX56" fmla="*/ 529813 w 5372101"/>
              <a:gd name="connsiteY56" fmla="*/ 5218555 h 5513767"/>
              <a:gd name="connsiteX57" fmla="*/ 519546 w 5372101"/>
              <a:gd name="connsiteY57" fmla="*/ 5208845 h 5513767"/>
              <a:gd name="connsiteX58" fmla="*/ 507906 w 5372101"/>
              <a:gd name="connsiteY58" fmla="*/ 5204779 h 5513767"/>
              <a:gd name="connsiteX59" fmla="*/ 505153 w 5372101"/>
              <a:gd name="connsiteY59" fmla="*/ 5196726 h 5513767"/>
              <a:gd name="connsiteX60" fmla="*/ 500429 w 5372101"/>
              <a:gd name="connsiteY60" fmla="*/ 5193241 h 5513767"/>
              <a:gd name="connsiteX61" fmla="*/ 431923 w 5372101"/>
              <a:gd name="connsiteY61" fmla="*/ 5191553 h 5513767"/>
              <a:gd name="connsiteX62" fmla="*/ 337115 w 5372101"/>
              <a:gd name="connsiteY62" fmla="*/ 5202714 h 5513767"/>
              <a:gd name="connsiteX63" fmla="*/ 303383 w 5372101"/>
              <a:gd name="connsiteY63" fmla="*/ 5184750 h 5513767"/>
              <a:gd name="connsiteX64" fmla="*/ 297664 w 5372101"/>
              <a:gd name="connsiteY64" fmla="*/ 5181269 h 5513767"/>
              <a:gd name="connsiteX65" fmla="*/ 272701 w 5372101"/>
              <a:gd name="connsiteY65" fmla="*/ 5175678 h 5513767"/>
              <a:gd name="connsiteX66" fmla="*/ 268242 w 5372101"/>
              <a:gd name="connsiteY66" fmla="*/ 5163678 h 5513767"/>
              <a:gd name="connsiteX67" fmla="*/ 232517 w 5372101"/>
              <a:gd name="connsiteY67" fmla="*/ 5147792 h 5513767"/>
              <a:gd name="connsiteX68" fmla="*/ 185851 w 5372101"/>
              <a:gd name="connsiteY68" fmla="*/ 5140408 h 5513767"/>
              <a:gd name="connsiteX69" fmla="*/ 20337 w 5372101"/>
              <a:gd name="connsiteY69" fmla="*/ 5113040 h 5513767"/>
              <a:gd name="connsiteX70" fmla="*/ 0 w 5372101"/>
              <a:gd name="connsiteY70" fmla="*/ 5112243 h 55137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5372101" h="5513767">
                <a:moveTo>
                  <a:pt x="0" y="0"/>
                </a:moveTo>
                <a:lnTo>
                  <a:pt x="5372101" y="0"/>
                </a:lnTo>
                <a:lnTo>
                  <a:pt x="5372101" y="5513767"/>
                </a:lnTo>
                <a:lnTo>
                  <a:pt x="5363126" y="5512835"/>
                </a:lnTo>
                <a:cubicBezTo>
                  <a:pt x="5345779" y="5509071"/>
                  <a:pt x="5329767" y="5502649"/>
                  <a:pt x="5316714" y="5491247"/>
                </a:cubicBezTo>
                <a:cubicBezTo>
                  <a:pt x="5295689" y="5478131"/>
                  <a:pt x="5219502" y="5459909"/>
                  <a:pt x="5198331" y="5470092"/>
                </a:cubicBezTo>
                <a:cubicBezTo>
                  <a:pt x="5181052" y="5469102"/>
                  <a:pt x="5165047" y="5459569"/>
                  <a:pt x="5150428" y="5472506"/>
                </a:cubicBezTo>
                <a:cubicBezTo>
                  <a:pt x="5129562" y="5487248"/>
                  <a:pt x="5088050" y="5445894"/>
                  <a:pt x="5085506" y="5468851"/>
                </a:cubicBezTo>
                <a:cubicBezTo>
                  <a:pt x="5055692" y="5440170"/>
                  <a:pt x="5006122" y="5469577"/>
                  <a:pt x="4968663" y="5470487"/>
                </a:cubicBezTo>
                <a:cubicBezTo>
                  <a:pt x="4947085" y="5444049"/>
                  <a:pt x="4889767" y="5472037"/>
                  <a:pt x="4815623" y="5458622"/>
                </a:cubicBezTo>
                <a:cubicBezTo>
                  <a:pt x="4792418" y="5428488"/>
                  <a:pt x="4765548" y="5449887"/>
                  <a:pt x="4716679" y="5405365"/>
                </a:cubicBezTo>
                <a:cubicBezTo>
                  <a:pt x="4713235" y="5407807"/>
                  <a:pt x="4709266" y="5409883"/>
                  <a:pt x="4704891" y="5411529"/>
                </a:cubicBezTo>
                <a:cubicBezTo>
                  <a:pt x="4679473" y="5421092"/>
                  <a:pt x="4646164" y="5414379"/>
                  <a:pt x="4630496" y="5396532"/>
                </a:cubicBezTo>
                <a:cubicBezTo>
                  <a:pt x="4590205" y="5365061"/>
                  <a:pt x="4548419" y="5412094"/>
                  <a:pt x="4506964" y="5396685"/>
                </a:cubicBezTo>
                <a:lnTo>
                  <a:pt x="4427135" y="5358585"/>
                </a:lnTo>
                <a:cubicBezTo>
                  <a:pt x="4319267" y="5308575"/>
                  <a:pt x="4152341" y="5340956"/>
                  <a:pt x="4028338" y="5313494"/>
                </a:cubicBezTo>
                <a:lnTo>
                  <a:pt x="4015367" y="5320766"/>
                </a:lnTo>
                <a:lnTo>
                  <a:pt x="4002837" y="5322294"/>
                </a:lnTo>
                <a:lnTo>
                  <a:pt x="3997650" y="5329513"/>
                </a:lnTo>
                <a:lnTo>
                  <a:pt x="3991991" y="5331908"/>
                </a:lnTo>
                <a:cubicBezTo>
                  <a:pt x="3969659" y="5338581"/>
                  <a:pt x="3978880" y="5316131"/>
                  <a:pt x="3925210" y="5319395"/>
                </a:cubicBezTo>
                <a:cubicBezTo>
                  <a:pt x="3947765" y="5277139"/>
                  <a:pt x="3837331" y="5338342"/>
                  <a:pt x="3837014" y="5289023"/>
                </a:cubicBezTo>
                <a:cubicBezTo>
                  <a:pt x="3824001" y="5291376"/>
                  <a:pt x="3811407" y="5295212"/>
                  <a:pt x="3798765" y="5299431"/>
                </a:cubicBezTo>
                <a:lnTo>
                  <a:pt x="3792144" y="5301616"/>
                </a:lnTo>
                <a:lnTo>
                  <a:pt x="3766249" y="5301869"/>
                </a:lnTo>
                <a:lnTo>
                  <a:pt x="3718651" y="5320541"/>
                </a:lnTo>
                <a:cubicBezTo>
                  <a:pt x="3703968" y="5321892"/>
                  <a:pt x="3688308" y="5321427"/>
                  <a:pt x="3671207" y="5318046"/>
                </a:cubicBezTo>
                <a:cubicBezTo>
                  <a:pt x="3616458" y="5288532"/>
                  <a:pt x="3514048" y="5333307"/>
                  <a:pt x="3446863" y="5294348"/>
                </a:cubicBezTo>
                <a:cubicBezTo>
                  <a:pt x="3420930" y="5283822"/>
                  <a:pt x="3333157" y="5274511"/>
                  <a:pt x="3312000" y="5286923"/>
                </a:cubicBezTo>
                <a:cubicBezTo>
                  <a:pt x="3292759" y="5287903"/>
                  <a:pt x="3273112" y="5280334"/>
                  <a:pt x="3259756" y="5294712"/>
                </a:cubicBezTo>
                <a:cubicBezTo>
                  <a:pt x="3239905" y="5311572"/>
                  <a:pt x="3185410" y="5275588"/>
                  <a:pt x="3187481" y="5298457"/>
                </a:cubicBezTo>
                <a:cubicBezTo>
                  <a:pt x="3168018" y="5286036"/>
                  <a:pt x="3146200" y="5288458"/>
                  <a:pt x="3124115" y="5294626"/>
                </a:cubicBezTo>
                <a:lnTo>
                  <a:pt x="3099907" y="5302443"/>
                </a:lnTo>
                <a:lnTo>
                  <a:pt x="3017494" y="5301439"/>
                </a:lnTo>
                <a:lnTo>
                  <a:pt x="3010848" y="5307225"/>
                </a:lnTo>
                <a:lnTo>
                  <a:pt x="2994286" y="5309060"/>
                </a:lnTo>
                <a:lnTo>
                  <a:pt x="2988160" y="5310041"/>
                </a:lnTo>
                <a:lnTo>
                  <a:pt x="2984260" y="5307528"/>
                </a:lnTo>
                <a:cubicBezTo>
                  <a:pt x="2981957" y="5306419"/>
                  <a:pt x="2980273" y="5306402"/>
                  <a:pt x="2979127" y="5308389"/>
                </a:cubicBezTo>
                <a:cubicBezTo>
                  <a:pt x="2978971" y="5309447"/>
                  <a:pt x="2978816" y="5310505"/>
                  <a:pt x="2978660" y="5311563"/>
                </a:cubicBezTo>
                <a:lnTo>
                  <a:pt x="2946326" y="5316745"/>
                </a:lnTo>
                <a:lnTo>
                  <a:pt x="2713134" y="5331381"/>
                </a:lnTo>
                <a:cubicBezTo>
                  <a:pt x="2610698" y="5372328"/>
                  <a:pt x="2466037" y="5325762"/>
                  <a:pt x="2352072" y="5342761"/>
                </a:cubicBezTo>
                <a:cubicBezTo>
                  <a:pt x="2293501" y="5293708"/>
                  <a:pt x="2324138" y="5338538"/>
                  <a:pt x="2260922" y="5328122"/>
                </a:cubicBezTo>
                <a:cubicBezTo>
                  <a:pt x="2275681" y="5372347"/>
                  <a:pt x="2185007" y="5301703"/>
                  <a:pt x="2178497" y="5351065"/>
                </a:cubicBezTo>
                <a:cubicBezTo>
                  <a:pt x="2133294" y="5337229"/>
                  <a:pt x="2097074" y="5300208"/>
                  <a:pt x="2034408" y="5307958"/>
                </a:cubicBezTo>
                <a:cubicBezTo>
                  <a:pt x="1981894" y="5332879"/>
                  <a:pt x="1896288" y="5279365"/>
                  <a:pt x="1831505" y="5312691"/>
                </a:cubicBezTo>
                <a:cubicBezTo>
                  <a:pt x="1807063" y="5321035"/>
                  <a:pt x="1727674" y="5322925"/>
                  <a:pt x="1710387" y="5308705"/>
                </a:cubicBezTo>
                <a:cubicBezTo>
                  <a:pt x="1693367" y="5306094"/>
                  <a:pt x="1674901" y="5312009"/>
                  <a:pt x="1664816" y="5296479"/>
                </a:cubicBezTo>
                <a:cubicBezTo>
                  <a:pt x="1649255" y="5277912"/>
                  <a:pt x="1596152" y="5309335"/>
                  <a:pt x="1600883" y="5286607"/>
                </a:cubicBezTo>
                <a:cubicBezTo>
                  <a:pt x="1563066" y="5308189"/>
                  <a:pt x="1524339" y="5269513"/>
                  <a:pt x="1488397" y="5260898"/>
                </a:cubicBezTo>
                <a:cubicBezTo>
                  <a:pt x="1459246" y="5282011"/>
                  <a:pt x="1412580" y="5243108"/>
                  <a:pt x="1336670" y="5240770"/>
                </a:cubicBezTo>
                <a:cubicBezTo>
                  <a:pt x="1304792" y="5265122"/>
                  <a:pt x="1285508" y="5238878"/>
                  <a:pt x="1224297" y="5271845"/>
                </a:cubicBezTo>
                <a:cubicBezTo>
                  <a:pt x="1221731" y="5268771"/>
                  <a:pt x="1218543" y="5265944"/>
                  <a:pt x="1214830" y="5263450"/>
                </a:cubicBezTo>
                <a:cubicBezTo>
                  <a:pt x="1193241" y="5248952"/>
                  <a:pt x="1158925" y="5248567"/>
                  <a:pt x="1138181" y="5262590"/>
                </a:cubicBezTo>
                <a:lnTo>
                  <a:pt x="943575" y="5290808"/>
                </a:lnTo>
                <a:cubicBezTo>
                  <a:pt x="823587" y="5316899"/>
                  <a:pt x="658340" y="5217603"/>
                  <a:pt x="529813" y="5218555"/>
                </a:cubicBezTo>
                <a:lnTo>
                  <a:pt x="519546" y="5208845"/>
                </a:lnTo>
                <a:lnTo>
                  <a:pt x="507906" y="5204779"/>
                </a:lnTo>
                <a:lnTo>
                  <a:pt x="505153" y="5196726"/>
                </a:lnTo>
                <a:lnTo>
                  <a:pt x="500429" y="5193241"/>
                </a:lnTo>
                <a:cubicBezTo>
                  <a:pt x="480923" y="5182176"/>
                  <a:pt x="482807" y="5205793"/>
                  <a:pt x="431923" y="5191553"/>
                </a:cubicBezTo>
                <a:cubicBezTo>
                  <a:pt x="440499" y="5237077"/>
                  <a:pt x="352872" y="5155083"/>
                  <a:pt x="337115" y="5202714"/>
                </a:cubicBezTo>
                <a:cubicBezTo>
                  <a:pt x="325265" y="5197752"/>
                  <a:pt x="314288" y="5191441"/>
                  <a:pt x="303383" y="5184750"/>
                </a:cubicBezTo>
                <a:lnTo>
                  <a:pt x="297664" y="5181269"/>
                </a:lnTo>
                <a:lnTo>
                  <a:pt x="272701" y="5175678"/>
                </a:lnTo>
                <a:lnTo>
                  <a:pt x="268242" y="5163678"/>
                </a:lnTo>
                <a:lnTo>
                  <a:pt x="232517" y="5147792"/>
                </a:lnTo>
                <a:cubicBezTo>
                  <a:pt x="218741" y="5143453"/>
                  <a:pt x="203450" y="5140668"/>
                  <a:pt x="185851" y="5140408"/>
                </a:cubicBezTo>
                <a:cubicBezTo>
                  <a:pt x="139207" y="5153337"/>
                  <a:pt x="79723" y="5120316"/>
                  <a:pt x="20337" y="5113040"/>
                </a:cubicBezTo>
                <a:lnTo>
                  <a:pt x="0" y="5112243"/>
                </a:lnTo>
                <a:close/>
              </a:path>
            </a:pathLst>
          </a:custGeom>
          <a:ln>
            <a:noFill/>
          </a:ln>
          <a:effectLst>
            <a:outerShdw blurRad="25400" dist="12700" dir="3000000" algn="tl" rotWithShape="0">
              <a:prstClr val="black">
                <a:alpha val="27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75B22B2C-2F89-F125-C489-BECA15DEFFE0}"/>
              </a:ext>
            </a:extLst>
          </p:cNvPr>
          <p:cNvSpPr>
            <a:spLocks noGrp="1"/>
          </p:cNvSpPr>
          <p:nvPr>
            <p:ph type="title"/>
          </p:nvPr>
        </p:nvSpPr>
        <p:spPr>
          <a:xfrm>
            <a:off x="1037809" y="1071350"/>
            <a:ext cx="4775162" cy="1339382"/>
          </a:xfrm>
        </p:spPr>
        <p:txBody>
          <a:bodyPr>
            <a:normAutofit/>
          </a:bodyPr>
          <a:lstStyle/>
          <a:p>
            <a:pPr algn="ctr"/>
            <a:r>
              <a:rPr lang="en-US" sz="4000" u="sng">
                <a:cs typeface="Calibri Light"/>
              </a:rPr>
              <a:t>Variables: Pt.3</a:t>
            </a:r>
            <a:br>
              <a:rPr lang="en-US" sz="3600">
                <a:cs typeface="Calibri Light"/>
              </a:rPr>
            </a:br>
            <a:r>
              <a:rPr lang="en-US" sz="2800">
                <a:cs typeface="Calibri Light"/>
              </a:rPr>
              <a:t>Kicker Variables</a:t>
            </a:r>
            <a:endParaRPr lang="en-US" sz="2800"/>
          </a:p>
        </p:txBody>
      </p:sp>
      <p:sp>
        <p:nvSpPr>
          <p:cNvPr id="10" name="Rectangle 6">
            <a:extLst>
              <a:ext uri="{FF2B5EF4-FFF2-40B4-BE49-F238E27FC236}">
                <a16:creationId xmlns:a16="http://schemas.microsoft.com/office/drawing/2014/main" id="{F0C518C2-0AA4-470C-87B9-9CBF428FBA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564666" y="399531"/>
            <a:ext cx="1707751" cy="428984"/>
          </a:xfrm>
          <a:custGeom>
            <a:avLst/>
            <a:gdLst>
              <a:gd name="connsiteX0" fmla="*/ 0 w 2142503"/>
              <a:gd name="connsiteY0" fmla="*/ 0 h 571500"/>
              <a:gd name="connsiteX1" fmla="*/ 2142503 w 2142503"/>
              <a:gd name="connsiteY1" fmla="*/ 0 h 571500"/>
              <a:gd name="connsiteX2" fmla="*/ 2142503 w 2142503"/>
              <a:gd name="connsiteY2" fmla="*/ 571500 h 571500"/>
              <a:gd name="connsiteX3" fmla="*/ 0 w 2142503"/>
              <a:gd name="connsiteY3" fmla="*/ 571500 h 571500"/>
              <a:gd name="connsiteX4" fmla="*/ 0 w 2142503"/>
              <a:gd name="connsiteY4" fmla="*/ 0 h 571500"/>
              <a:gd name="connsiteX0" fmla="*/ 0 w 2142503"/>
              <a:gd name="connsiteY0" fmla="*/ 0 h 582145"/>
              <a:gd name="connsiteX1" fmla="*/ 2142503 w 2142503"/>
              <a:gd name="connsiteY1" fmla="*/ 0 h 582145"/>
              <a:gd name="connsiteX2" fmla="*/ 2142503 w 2142503"/>
              <a:gd name="connsiteY2" fmla="*/ 571500 h 582145"/>
              <a:gd name="connsiteX3" fmla="*/ 2050917 w 2142503"/>
              <a:gd name="connsiteY3" fmla="*/ 582088 h 582145"/>
              <a:gd name="connsiteX4" fmla="*/ 0 w 2142503"/>
              <a:gd name="connsiteY4" fmla="*/ 571500 h 582145"/>
              <a:gd name="connsiteX5" fmla="*/ 0 w 2142503"/>
              <a:gd name="connsiteY5" fmla="*/ 0 h 582145"/>
              <a:gd name="connsiteX0" fmla="*/ 0 w 2159832"/>
              <a:gd name="connsiteY0" fmla="*/ 0 h 582145"/>
              <a:gd name="connsiteX1" fmla="*/ 2142503 w 2159832"/>
              <a:gd name="connsiteY1" fmla="*/ 0 h 582145"/>
              <a:gd name="connsiteX2" fmla="*/ 2159829 w 2159832"/>
              <a:gd name="connsiteY2" fmla="*/ 96526 h 582145"/>
              <a:gd name="connsiteX3" fmla="*/ 2142503 w 2159832"/>
              <a:gd name="connsiteY3" fmla="*/ 571500 h 582145"/>
              <a:gd name="connsiteX4" fmla="*/ 2050917 w 2159832"/>
              <a:gd name="connsiteY4" fmla="*/ 582088 h 582145"/>
              <a:gd name="connsiteX5" fmla="*/ 0 w 2159832"/>
              <a:gd name="connsiteY5" fmla="*/ 571500 h 582145"/>
              <a:gd name="connsiteX6" fmla="*/ 0 w 2159832"/>
              <a:gd name="connsiteY6" fmla="*/ 0 h 582145"/>
              <a:gd name="connsiteX0" fmla="*/ 0 w 2159832"/>
              <a:gd name="connsiteY0" fmla="*/ 12386 h 594531"/>
              <a:gd name="connsiteX1" fmla="*/ 67826 w 2159832"/>
              <a:gd name="connsiteY1" fmla="*/ 0 h 594531"/>
              <a:gd name="connsiteX2" fmla="*/ 2142503 w 2159832"/>
              <a:gd name="connsiteY2" fmla="*/ 12386 h 594531"/>
              <a:gd name="connsiteX3" fmla="*/ 2159829 w 2159832"/>
              <a:gd name="connsiteY3" fmla="*/ 108912 h 594531"/>
              <a:gd name="connsiteX4" fmla="*/ 2142503 w 2159832"/>
              <a:gd name="connsiteY4" fmla="*/ 583886 h 594531"/>
              <a:gd name="connsiteX5" fmla="*/ 2050917 w 2159832"/>
              <a:gd name="connsiteY5" fmla="*/ 594474 h 594531"/>
              <a:gd name="connsiteX6" fmla="*/ 0 w 2159832"/>
              <a:gd name="connsiteY6" fmla="*/ 583886 h 594531"/>
              <a:gd name="connsiteX7" fmla="*/ 0 w 2159832"/>
              <a:gd name="connsiteY7" fmla="*/ 12386 h 594531"/>
              <a:gd name="connsiteX0" fmla="*/ 0 w 2168908"/>
              <a:gd name="connsiteY0" fmla="*/ 26000 h 594531"/>
              <a:gd name="connsiteX1" fmla="*/ 76902 w 2168908"/>
              <a:gd name="connsiteY1" fmla="*/ 0 h 594531"/>
              <a:gd name="connsiteX2" fmla="*/ 2151579 w 2168908"/>
              <a:gd name="connsiteY2" fmla="*/ 12386 h 594531"/>
              <a:gd name="connsiteX3" fmla="*/ 2168905 w 2168908"/>
              <a:gd name="connsiteY3" fmla="*/ 108912 h 594531"/>
              <a:gd name="connsiteX4" fmla="*/ 2151579 w 2168908"/>
              <a:gd name="connsiteY4" fmla="*/ 583886 h 594531"/>
              <a:gd name="connsiteX5" fmla="*/ 2059993 w 2168908"/>
              <a:gd name="connsiteY5" fmla="*/ 594474 h 594531"/>
              <a:gd name="connsiteX6" fmla="*/ 9076 w 2168908"/>
              <a:gd name="connsiteY6" fmla="*/ 583886 h 594531"/>
              <a:gd name="connsiteX7" fmla="*/ 0 w 2168908"/>
              <a:gd name="connsiteY7" fmla="*/ 26000 h 594531"/>
              <a:gd name="connsiteX0" fmla="*/ 5393 w 2174301"/>
              <a:gd name="connsiteY0" fmla="*/ 26000 h 594531"/>
              <a:gd name="connsiteX1" fmla="*/ 82295 w 2174301"/>
              <a:gd name="connsiteY1" fmla="*/ 0 h 594531"/>
              <a:gd name="connsiteX2" fmla="*/ 2156972 w 2174301"/>
              <a:gd name="connsiteY2" fmla="*/ 12386 h 594531"/>
              <a:gd name="connsiteX3" fmla="*/ 2174298 w 2174301"/>
              <a:gd name="connsiteY3" fmla="*/ 108912 h 594531"/>
              <a:gd name="connsiteX4" fmla="*/ 2156972 w 2174301"/>
              <a:gd name="connsiteY4" fmla="*/ 583886 h 594531"/>
              <a:gd name="connsiteX5" fmla="*/ 2065386 w 2174301"/>
              <a:gd name="connsiteY5" fmla="*/ 594474 h 594531"/>
              <a:gd name="connsiteX6" fmla="*/ 14469 w 2174301"/>
              <a:gd name="connsiteY6" fmla="*/ 583886 h 594531"/>
              <a:gd name="connsiteX7" fmla="*/ 5393 w 2174301"/>
              <a:gd name="connsiteY7" fmla="*/ 26000 h 594531"/>
              <a:gd name="connsiteX0" fmla="*/ 5393 w 2174301"/>
              <a:gd name="connsiteY0" fmla="*/ 26000 h 594531"/>
              <a:gd name="connsiteX1" fmla="*/ 82295 w 2174301"/>
              <a:gd name="connsiteY1" fmla="*/ 0 h 594531"/>
              <a:gd name="connsiteX2" fmla="*/ 2156972 w 2174301"/>
              <a:gd name="connsiteY2" fmla="*/ 12386 h 594531"/>
              <a:gd name="connsiteX3" fmla="*/ 2174298 w 2174301"/>
              <a:gd name="connsiteY3" fmla="*/ 108912 h 594531"/>
              <a:gd name="connsiteX4" fmla="*/ 2156972 w 2174301"/>
              <a:gd name="connsiteY4" fmla="*/ 583886 h 594531"/>
              <a:gd name="connsiteX5" fmla="*/ 2065386 w 2174301"/>
              <a:gd name="connsiteY5" fmla="*/ 594474 h 594531"/>
              <a:gd name="connsiteX6" fmla="*/ 14469 w 2174301"/>
              <a:gd name="connsiteY6" fmla="*/ 583886 h 594531"/>
              <a:gd name="connsiteX7" fmla="*/ 5393 w 2174301"/>
              <a:gd name="connsiteY7" fmla="*/ 26000 h 594531"/>
              <a:gd name="connsiteX0" fmla="*/ 5393 w 2174301"/>
              <a:gd name="connsiteY0" fmla="*/ 26000 h 594531"/>
              <a:gd name="connsiteX1" fmla="*/ 82295 w 2174301"/>
              <a:gd name="connsiteY1" fmla="*/ 0 h 594531"/>
              <a:gd name="connsiteX2" fmla="*/ 2156972 w 2174301"/>
              <a:gd name="connsiteY2" fmla="*/ 12386 h 594531"/>
              <a:gd name="connsiteX3" fmla="*/ 2174298 w 2174301"/>
              <a:gd name="connsiteY3" fmla="*/ 108912 h 594531"/>
              <a:gd name="connsiteX4" fmla="*/ 2156972 w 2174301"/>
              <a:gd name="connsiteY4" fmla="*/ 583886 h 594531"/>
              <a:gd name="connsiteX5" fmla="*/ 2065386 w 2174301"/>
              <a:gd name="connsiteY5" fmla="*/ 594474 h 594531"/>
              <a:gd name="connsiteX6" fmla="*/ 14469 w 2174301"/>
              <a:gd name="connsiteY6" fmla="*/ 583886 h 594531"/>
              <a:gd name="connsiteX7" fmla="*/ 5393 w 2174301"/>
              <a:gd name="connsiteY7" fmla="*/ 26000 h 594531"/>
              <a:gd name="connsiteX0" fmla="*/ 5393 w 2174301"/>
              <a:gd name="connsiteY0" fmla="*/ 26000 h 594531"/>
              <a:gd name="connsiteX1" fmla="*/ 82295 w 2174301"/>
              <a:gd name="connsiteY1" fmla="*/ 0 h 594531"/>
              <a:gd name="connsiteX2" fmla="*/ 2156972 w 2174301"/>
              <a:gd name="connsiteY2" fmla="*/ 12386 h 594531"/>
              <a:gd name="connsiteX3" fmla="*/ 2174298 w 2174301"/>
              <a:gd name="connsiteY3" fmla="*/ 108912 h 594531"/>
              <a:gd name="connsiteX4" fmla="*/ 2156972 w 2174301"/>
              <a:gd name="connsiteY4" fmla="*/ 583886 h 594531"/>
              <a:gd name="connsiteX5" fmla="*/ 2065386 w 2174301"/>
              <a:gd name="connsiteY5" fmla="*/ 594474 h 594531"/>
              <a:gd name="connsiteX6" fmla="*/ 14469 w 2174301"/>
              <a:gd name="connsiteY6" fmla="*/ 583886 h 594531"/>
              <a:gd name="connsiteX7" fmla="*/ 5393 w 2174301"/>
              <a:gd name="connsiteY7" fmla="*/ 26000 h 594531"/>
              <a:gd name="connsiteX0" fmla="*/ 147197 w 2316105"/>
              <a:gd name="connsiteY0" fmla="*/ 26000 h 594531"/>
              <a:gd name="connsiteX1" fmla="*/ 224099 w 2316105"/>
              <a:gd name="connsiteY1" fmla="*/ 0 h 594531"/>
              <a:gd name="connsiteX2" fmla="*/ 2298776 w 2316105"/>
              <a:gd name="connsiteY2" fmla="*/ 12386 h 594531"/>
              <a:gd name="connsiteX3" fmla="*/ 2316102 w 2316105"/>
              <a:gd name="connsiteY3" fmla="*/ 108912 h 594531"/>
              <a:gd name="connsiteX4" fmla="*/ 2298776 w 2316105"/>
              <a:gd name="connsiteY4" fmla="*/ 583886 h 594531"/>
              <a:gd name="connsiteX5" fmla="*/ 2207190 w 2316105"/>
              <a:gd name="connsiteY5" fmla="*/ 594474 h 594531"/>
              <a:gd name="connsiteX6" fmla="*/ 156273 w 2316105"/>
              <a:gd name="connsiteY6" fmla="*/ 583886 h 594531"/>
              <a:gd name="connsiteX7" fmla="*/ 142416 w 2316105"/>
              <a:gd name="connsiteY7" fmla="*/ 235975 h 594531"/>
              <a:gd name="connsiteX8" fmla="*/ 147197 w 2316105"/>
              <a:gd name="connsiteY8" fmla="*/ 26000 h 594531"/>
              <a:gd name="connsiteX0" fmla="*/ 154684 w 2323592"/>
              <a:gd name="connsiteY0" fmla="*/ 26000 h 594531"/>
              <a:gd name="connsiteX1" fmla="*/ 231586 w 2323592"/>
              <a:gd name="connsiteY1" fmla="*/ 0 h 594531"/>
              <a:gd name="connsiteX2" fmla="*/ 2306263 w 2323592"/>
              <a:gd name="connsiteY2" fmla="*/ 12386 h 594531"/>
              <a:gd name="connsiteX3" fmla="*/ 2323589 w 2323592"/>
              <a:gd name="connsiteY3" fmla="*/ 108912 h 594531"/>
              <a:gd name="connsiteX4" fmla="*/ 2306263 w 2323592"/>
              <a:gd name="connsiteY4" fmla="*/ 583886 h 594531"/>
              <a:gd name="connsiteX5" fmla="*/ 2214677 w 2323592"/>
              <a:gd name="connsiteY5" fmla="*/ 594474 h 594531"/>
              <a:gd name="connsiteX6" fmla="*/ 163760 w 2323592"/>
              <a:gd name="connsiteY6" fmla="*/ 583886 h 594531"/>
              <a:gd name="connsiteX7" fmla="*/ 158979 w 2323592"/>
              <a:gd name="connsiteY7" fmla="*/ 403879 h 594531"/>
              <a:gd name="connsiteX8" fmla="*/ 149903 w 2323592"/>
              <a:gd name="connsiteY8" fmla="*/ 235975 h 594531"/>
              <a:gd name="connsiteX9" fmla="*/ 154684 w 2323592"/>
              <a:gd name="connsiteY9" fmla="*/ 26000 h 594531"/>
              <a:gd name="connsiteX0" fmla="*/ 13665 w 2182573"/>
              <a:gd name="connsiteY0" fmla="*/ 26000 h 594531"/>
              <a:gd name="connsiteX1" fmla="*/ 90567 w 2182573"/>
              <a:gd name="connsiteY1" fmla="*/ 0 h 594531"/>
              <a:gd name="connsiteX2" fmla="*/ 2165244 w 2182573"/>
              <a:gd name="connsiteY2" fmla="*/ 12386 h 594531"/>
              <a:gd name="connsiteX3" fmla="*/ 2182570 w 2182573"/>
              <a:gd name="connsiteY3" fmla="*/ 108912 h 594531"/>
              <a:gd name="connsiteX4" fmla="*/ 2165244 w 2182573"/>
              <a:gd name="connsiteY4" fmla="*/ 583886 h 594531"/>
              <a:gd name="connsiteX5" fmla="*/ 2073658 w 2182573"/>
              <a:gd name="connsiteY5" fmla="*/ 594474 h 594531"/>
              <a:gd name="connsiteX6" fmla="*/ 22741 w 2182573"/>
              <a:gd name="connsiteY6" fmla="*/ 583886 h 594531"/>
              <a:gd name="connsiteX7" fmla="*/ 17960 w 2182573"/>
              <a:gd name="connsiteY7" fmla="*/ 403879 h 594531"/>
              <a:gd name="connsiteX8" fmla="*/ 8884 w 2182573"/>
              <a:gd name="connsiteY8" fmla="*/ 235975 h 594531"/>
              <a:gd name="connsiteX9" fmla="*/ 13665 w 2182573"/>
              <a:gd name="connsiteY9" fmla="*/ 26000 h 594531"/>
              <a:gd name="connsiteX0" fmla="*/ 13665 w 2202120"/>
              <a:gd name="connsiteY0" fmla="*/ 26000 h 594531"/>
              <a:gd name="connsiteX1" fmla="*/ 90567 w 2202120"/>
              <a:gd name="connsiteY1" fmla="*/ 0 h 594531"/>
              <a:gd name="connsiteX2" fmla="*/ 2165244 w 2202120"/>
              <a:gd name="connsiteY2" fmla="*/ 12386 h 594531"/>
              <a:gd name="connsiteX3" fmla="*/ 2182570 w 2202120"/>
              <a:gd name="connsiteY3" fmla="*/ 108912 h 594531"/>
              <a:gd name="connsiteX4" fmla="*/ 2192471 w 2202120"/>
              <a:gd name="connsiteY4" fmla="*/ 583886 h 594531"/>
              <a:gd name="connsiteX5" fmla="*/ 2073658 w 2202120"/>
              <a:gd name="connsiteY5" fmla="*/ 594474 h 594531"/>
              <a:gd name="connsiteX6" fmla="*/ 22741 w 2202120"/>
              <a:gd name="connsiteY6" fmla="*/ 583886 h 594531"/>
              <a:gd name="connsiteX7" fmla="*/ 17960 w 2202120"/>
              <a:gd name="connsiteY7" fmla="*/ 403879 h 594531"/>
              <a:gd name="connsiteX8" fmla="*/ 8884 w 2202120"/>
              <a:gd name="connsiteY8" fmla="*/ 235975 h 594531"/>
              <a:gd name="connsiteX9" fmla="*/ 13665 w 2202120"/>
              <a:gd name="connsiteY9" fmla="*/ 26000 h 594531"/>
              <a:gd name="connsiteX0" fmla="*/ 13665 w 2202036"/>
              <a:gd name="connsiteY0" fmla="*/ 26000 h 594531"/>
              <a:gd name="connsiteX1" fmla="*/ 90567 w 2202036"/>
              <a:gd name="connsiteY1" fmla="*/ 0 h 594531"/>
              <a:gd name="connsiteX2" fmla="*/ 2165244 w 2202036"/>
              <a:gd name="connsiteY2" fmla="*/ 12386 h 594531"/>
              <a:gd name="connsiteX3" fmla="*/ 2182570 w 2202036"/>
              <a:gd name="connsiteY3" fmla="*/ 108912 h 594531"/>
              <a:gd name="connsiteX4" fmla="*/ 2191645 w 2202036"/>
              <a:gd name="connsiteY4" fmla="*/ 422031 h 594531"/>
              <a:gd name="connsiteX5" fmla="*/ 2192471 w 2202036"/>
              <a:gd name="connsiteY5" fmla="*/ 583886 h 594531"/>
              <a:gd name="connsiteX6" fmla="*/ 2073658 w 2202036"/>
              <a:gd name="connsiteY6" fmla="*/ 594474 h 594531"/>
              <a:gd name="connsiteX7" fmla="*/ 22741 w 2202036"/>
              <a:gd name="connsiteY7" fmla="*/ 583886 h 594531"/>
              <a:gd name="connsiteX8" fmla="*/ 17960 w 2202036"/>
              <a:gd name="connsiteY8" fmla="*/ 403879 h 594531"/>
              <a:gd name="connsiteX9" fmla="*/ 8884 w 2202036"/>
              <a:gd name="connsiteY9" fmla="*/ 235975 h 594531"/>
              <a:gd name="connsiteX10" fmla="*/ 13665 w 2202036"/>
              <a:gd name="connsiteY10" fmla="*/ 26000 h 594531"/>
              <a:gd name="connsiteX0" fmla="*/ 142254 w 2330625"/>
              <a:gd name="connsiteY0" fmla="*/ 26000 h 594531"/>
              <a:gd name="connsiteX1" fmla="*/ 219156 w 2330625"/>
              <a:gd name="connsiteY1" fmla="*/ 0 h 594531"/>
              <a:gd name="connsiteX2" fmla="*/ 2293833 w 2330625"/>
              <a:gd name="connsiteY2" fmla="*/ 12386 h 594531"/>
              <a:gd name="connsiteX3" fmla="*/ 2311159 w 2330625"/>
              <a:gd name="connsiteY3" fmla="*/ 108912 h 594531"/>
              <a:gd name="connsiteX4" fmla="*/ 2320234 w 2330625"/>
              <a:gd name="connsiteY4" fmla="*/ 422031 h 594531"/>
              <a:gd name="connsiteX5" fmla="*/ 2321060 w 2330625"/>
              <a:gd name="connsiteY5" fmla="*/ 583886 h 594531"/>
              <a:gd name="connsiteX6" fmla="*/ 2202247 w 2330625"/>
              <a:gd name="connsiteY6" fmla="*/ 594474 h 594531"/>
              <a:gd name="connsiteX7" fmla="*/ 151330 w 2330625"/>
              <a:gd name="connsiteY7" fmla="*/ 583886 h 594531"/>
              <a:gd name="connsiteX8" fmla="*/ 155624 w 2330625"/>
              <a:gd name="connsiteY8" fmla="*/ 512790 h 594531"/>
              <a:gd name="connsiteX9" fmla="*/ 146549 w 2330625"/>
              <a:gd name="connsiteY9" fmla="*/ 403879 h 594531"/>
              <a:gd name="connsiteX10" fmla="*/ 137473 w 2330625"/>
              <a:gd name="connsiteY10" fmla="*/ 235975 h 594531"/>
              <a:gd name="connsiteX11" fmla="*/ 142254 w 2330625"/>
              <a:gd name="connsiteY11" fmla="*/ 26000 h 594531"/>
              <a:gd name="connsiteX0" fmla="*/ 13413 w 2201784"/>
              <a:gd name="connsiteY0" fmla="*/ 26000 h 594531"/>
              <a:gd name="connsiteX1" fmla="*/ 90315 w 2201784"/>
              <a:gd name="connsiteY1" fmla="*/ 0 h 594531"/>
              <a:gd name="connsiteX2" fmla="*/ 2164992 w 2201784"/>
              <a:gd name="connsiteY2" fmla="*/ 12386 h 594531"/>
              <a:gd name="connsiteX3" fmla="*/ 2182318 w 2201784"/>
              <a:gd name="connsiteY3" fmla="*/ 108912 h 594531"/>
              <a:gd name="connsiteX4" fmla="*/ 2191393 w 2201784"/>
              <a:gd name="connsiteY4" fmla="*/ 422031 h 594531"/>
              <a:gd name="connsiteX5" fmla="*/ 2192219 w 2201784"/>
              <a:gd name="connsiteY5" fmla="*/ 583886 h 594531"/>
              <a:gd name="connsiteX6" fmla="*/ 2073406 w 2201784"/>
              <a:gd name="connsiteY6" fmla="*/ 594474 h 594531"/>
              <a:gd name="connsiteX7" fmla="*/ 22489 w 2201784"/>
              <a:gd name="connsiteY7" fmla="*/ 583886 h 594531"/>
              <a:gd name="connsiteX8" fmla="*/ 26783 w 2201784"/>
              <a:gd name="connsiteY8" fmla="*/ 512790 h 594531"/>
              <a:gd name="connsiteX9" fmla="*/ 17708 w 2201784"/>
              <a:gd name="connsiteY9" fmla="*/ 403879 h 594531"/>
              <a:gd name="connsiteX10" fmla="*/ 8632 w 2201784"/>
              <a:gd name="connsiteY10" fmla="*/ 235975 h 594531"/>
              <a:gd name="connsiteX11" fmla="*/ 13413 w 2201784"/>
              <a:gd name="connsiteY11" fmla="*/ 26000 h 5945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201784" h="594531">
                <a:moveTo>
                  <a:pt x="13413" y="26000"/>
                </a:moveTo>
                <a:cubicBezTo>
                  <a:pt x="37534" y="24897"/>
                  <a:pt x="66194" y="1103"/>
                  <a:pt x="90315" y="0"/>
                </a:cubicBezTo>
                <a:lnTo>
                  <a:pt x="2164992" y="12386"/>
                </a:lnTo>
                <a:cubicBezTo>
                  <a:pt x="2164717" y="43049"/>
                  <a:pt x="2182593" y="78249"/>
                  <a:pt x="2182318" y="108912"/>
                </a:cubicBezTo>
                <a:cubicBezTo>
                  <a:pt x="2188231" y="177186"/>
                  <a:pt x="2189743" y="342869"/>
                  <a:pt x="2191393" y="422031"/>
                </a:cubicBezTo>
                <a:cubicBezTo>
                  <a:pt x="2193043" y="501193"/>
                  <a:pt x="2213396" y="555146"/>
                  <a:pt x="2192219" y="583886"/>
                </a:cubicBezTo>
                <a:cubicBezTo>
                  <a:pt x="2172279" y="582877"/>
                  <a:pt x="2093346" y="595483"/>
                  <a:pt x="2073406" y="594474"/>
                </a:cubicBezTo>
                <a:lnTo>
                  <a:pt x="22489" y="583886"/>
                </a:lnTo>
                <a:cubicBezTo>
                  <a:pt x="5849" y="592962"/>
                  <a:pt x="27580" y="542791"/>
                  <a:pt x="26783" y="512790"/>
                </a:cubicBezTo>
                <a:cubicBezTo>
                  <a:pt x="25986" y="482789"/>
                  <a:pt x="18464" y="450015"/>
                  <a:pt x="17708" y="403879"/>
                </a:cubicBezTo>
                <a:cubicBezTo>
                  <a:pt x="16952" y="357743"/>
                  <a:pt x="-14855" y="308787"/>
                  <a:pt x="8632" y="235975"/>
                </a:cubicBezTo>
                <a:cubicBezTo>
                  <a:pt x="7119" y="142994"/>
                  <a:pt x="-201" y="65329"/>
                  <a:pt x="13413" y="26000"/>
                </a:cubicBezTo>
                <a:close/>
              </a:path>
            </a:pathLst>
          </a:custGeom>
          <a:solidFill>
            <a:srgbClr val="D9D4D0">
              <a:alpha val="60000"/>
            </a:srgbClr>
          </a:solidFill>
          <a:ln>
            <a:noFill/>
          </a:ln>
          <a:effectLst>
            <a:softEdge rad="635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1E4E3FE1-392D-A575-444F-CE9C5DA7FC60}"/>
              </a:ext>
            </a:extLst>
          </p:cNvPr>
          <p:cNvSpPr>
            <a:spLocks noGrp="1"/>
          </p:cNvSpPr>
          <p:nvPr>
            <p:ph idx="1"/>
          </p:nvPr>
        </p:nvSpPr>
        <p:spPr>
          <a:xfrm>
            <a:off x="1189319" y="2547257"/>
            <a:ext cx="4458446" cy="3109740"/>
          </a:xfrm>
        </p:spPr>
        <p:txBody>
          <a:bodyPr vert="horz" lIns="91440" tIns="45720" rIns="91440" bIns="45720" rtlCol="0" anchor="ctr">
            <a:normAutofit/>
          </a:bodyPr>
          <a:lstStyle/>
          <a:p>
            <a:pPr marL="0" indent="0">
              <a:buNone/>
            </a:pPr>
            <a:r>
              <a:rPr lang="en-US" sz="2000">
                <a:cs typeface="Calibri" panose="020F0502020204030204"/>
              </a:rPr>
              <a:t>XP: Total Extra Points</a:t>
            </a:r>
          </a:p>
          <a:p>
            <a:pPr marL="0" indent="0">
              <a:buNone/>
            </a:pPr>
            <a:r>
              <a:rPr lang="en-US" sz="2000">
                <a:cs typeface="Calibri" panose="020F0502020204030204"/>
              </a:rPr>
              <a:t>FG_30: Total Field Goals (0-39 yards)</a:t>
            </a:r>
          </a:p>
          <a:p>
            <a:pPr marL="0" indent="0">
              <a:buNone/>
            </a:pPr>
            <a:r>
              <a:rPr lang="en-US" sz="2000">
                <a:cs typeface="Calibri" panose="020F0502020204030204"/>
              </a:rPr>
              <a:t>FG_40: Total Field Goals (40-49 yards)</a:t>
            </a:r>
          </a:p>
          <a:p>
            <a:pPr marL="0" indent="0">
              <a:buNone/>
            </a:pPr>
            <a:r>
              <a:rPr lang="en-US" sz="2000">
                <a:cs typeface="Calibri" panose="020F0502020204030204"/>
              </a:rPr>
              <a:t>FG_50: Total Field Goals (50-59 yards)</a:t>
            </a:r>
          </a:p>
          <a:p>
            <a:pPr marL="0" indent="0">
              <a:buNone/>
            </a:pPr>
            <a:r>
              <a:rPr lang="en-US" sz="2000">
                <a:cs typeface="Calibri" panose="020F0502020204030204"/>
              </a:rPr>
              <a:t>FG_60: Total Field Goals (60+ yards)</a:t>
            </a:r>
          </a:p>
          <a:p>
            <a:pPr marL="0" indent="0">
              <a:buNone/>
            </a:pPr>
            <a:r>
              <a:rPr lang="en-US" sz="2000">
                <a:cs typeface="Calibri" panose="020F0502020204030204"/>
              </a:rPr>
              <a:t>FG_Miss: Total Field Goal Misses</a:t>
            </a:r>
          </a:p>
        </p:txBody>
      </p:sp>
    </p:spTree>
    <p:extLst>
      <p:ext uri="{BB962C8B-B14F-4D97-AF65-F5344CB8AC3E}">
        <p14:creationId xmlns:p14="http://schemas.microsoft.com/office/powerpoint/2010/main" val="74948523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04C21BAE-6866-4C7A-A7EC-C1B2E572D5B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Colourful maths learning objects">
            <a:extLst>
              <a:ext uri="{FF2B5EF4-FFF2-40B4-BE49-F238E27FC236}">
                <a16:creationId xmlns:a16="http://schemas.microsoft.com/office/drawing/2014/main" id="{665E3B2A-AB84-8DE3-8440-89CE3B6A639D}"/>
              </a:ext>
            </a:extLst>
          </p:cNvPr>
          <p:cNvPicPr>
            <a:picLocks noChangeAspect="1"/>
          </p:cNvPicPr>
          <p:nvPr/>
        </p:nvPicPr>
        <p:blipFill rotWithShape="1">
          <a:blip r:embed="rId2"/>
          <a:srcRect t="6292" r="-2" b="9373"/>
          <a:stretch/>
        </p:blipFill>
        <p:spPr>
          <a:xfrm>
            <a:off x="82940" y="1"/>
            <a:ext cx="12192000" cy="6857999"/>
          </a:xfrm>
          <a:prstGeom prst="rect">
            <a:avLst/>
          </a:prstGeom>
        </p:spPr>
      </p:pic>
      <p:sp useBgFill="1">
        <p:nvSpPr>
          <p:cNvPr id="11" name="Freeform: Shape 10">
            <a:extLst>
              <a:ext uri="{FF2B5EF4-FFF2-40B4-BE49-F238E27FC236}">
                <a16:creationId xmlns:a16="http://schemas.microsoft.com/office/drawing/2014/main" id="{7E7D0C94-08B4-48AE-8813-CC4D60294F4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23899" y="609600"/>
            <a:ext cx="5372101" cy="5513767"/>
          </a:xfrm>
          <a:custGeom>
            <a:avLst/>
            <a:gdLst>
              <a:gd name="connsiteX0" fmla="*/ 0 w 5372101"/>
              <a:gd name="connsiteY0" fmla="*/ 0 h 5513767"/>
              <a:gd name="connsiteX1" fmla="*/ 5372101 w 5372101"/>
              <a:gd name="connsiteY1" fmla="*/ 0 h 5513767"/>
              <a:gd name="connsiteX2" fmla="*/ 5372101 w 5372101"/>
              <a:gd name="connsiteY2" fmla="*/ 5513767 h 5513767"/>
              <a:gd name="connsiteX3" fmla="*/ 5363126 w 5372101"/>
              <a:gd name="connsiteY3" fmla="*/ 5512835 h 5513767"/>
              <a:gd name="connsiteX4" fmla="*/ 5316714 w 5372101"/>
              <a:gd name="connsiteY4" fmla="*/ 5491247 h 5513767"/>
              <a:gd name="connsiteX5" fmla="*/ 5198331 w 5372101"/>
              <a:gd name="connsiteY5" fmla="*/ 5470092 h 5513767"/>
              <a:gd name="connsiteX6" fmla="*/ 5150428 w 5372101"/>
              <a:gd name="connsiteY6" fmla="*/ 5472506 h 5513767"/>
              <a:gd name="connsiteX7" fmla="*/ 5085506 w 5372101"/>
              <a:gd name="connsiteY7" fmla="*/ 5468851 h 5513767"/>
              <a:gd name="connsiteX8" fmla="*/ 4968663 w 5372101"/>
              <a:gd name="connsiteY8" fmla="*/ 5470487 h 5513767"/>
              <a:gd name="connsiteX9" fmla="*/ 4815623 w 5372101"/>
              <a:gd name="connsiteY9" fmla="*/ 5458622 h 5513767"/>
              <a:gd name="connsiteX10" fmla="*/ 4716679 w 5372101"/>
              <a:gd name="connsiteY10" fmla="*/ 5405365 h 5513767"/>
              <a:gd name="connsiteX11" fmla="*/ 4704891 w 5372101"/>
              <a:gd name="connsiteY11" fmla="*/ 5411529 h 5513767"/>
              <a:gd name="connsiteX12" fmla="*/ 4630496 w 5372101"/>
              <a:gd name="connsiteY12" fmla="*/ 5396532 h 5513767"/>
              <a:gd name="connsiteX13" fmla="*/ 4506964 w 5372101"/>
              <a:gd name="connsiteY13" fmla="*/ 5396685 h 5513767"/>
              <a:gd name="connsiteX14" fmla="*/ 4427135 w 5372101"/>
              <a:gd name="connsiteY14" fmla="*/ 5358585 h 5513767"/>
              <a:gd name="connsiteX15" fmla="*/ 4028338 w 5372101"/>
              <a:gd name="connsiteY15" fmla="*/ 5313494 h 5513767"/>
              <a:gd name="connsiteX16" fmla="*/ 4015367 w 5372101"/>
              <a:gd name="connsiteY16" fmla="*/ 5320766 h 5513767"/>
              <a:gd name="connsiteX17" fmla="*/ 4002837 w 5372101"/>
              <a:gd name="connsiteY17" fmla="*/ 5322294 h 5513767"/>
              <a:gd name="connsiteX18" fmla="*/ 3997650 w 5372101"/>
              <a:gd name="connsiteY18" fmla="*/ 5329513 h 5513767"/>
              <a:gd name="connsiteX19" fmla="*/ 3991991 w 5372101"/>
              <a:gd name="connsiteY19" fmla="*/ 5331908 h 5513767"/>
              <a:gd name="connsiteX20" fmla="*/ 3925210 w 5372101"/>
              <a:gd name="connsiteY20" fmla="*/ 5319395 h 5513767"/>
              <a:gd name="connsiteX21" fmla="*/ 3837014 w 5372101"/>
              <a:gd name="connsiteY21" fmla="*/ 5289023 h 5513767"/>
              <a:gd name="connsiteX22" fmla="*/ 3798765 w 5372101"/>
              <a:gd name="connsiteY22" fmla="*/ 5299431 h 5513767"/>
              <a:gd name="connsiteX23" fmla="*/ 3792144 w 5372101"/>
              <a:gd name="connsiteY23" fmla="*/ 5301616 h 5513767"/>
              <a:gd name="connsiteX24" fmla="*/ 3766249 w 5372101"/>
              <a:gd name="connsiteY24" fmla="*/ 5301869 h 5513767"/>
              <a:gd name="connsiteX25" fmla="*/ 3718651 w 5372101"/>
              <a:gd name="connsiteY25" fmla="*/ 5320541 h 5513767"/>
              <a:gd name="connsiteX26" fmla="*/ 3671207 w 5372101"/>
              <a:gd name="connsiteY26" fmla="*/ 5318046 h 5513767"/>
              <a:gd name="connsiteX27" fmla="*/ 3446863 w 5372101"/>
              <a:gd name="connsiteY27" fmla="*/ 5294348 h 5513767"/>
              <a:gd name="connsiteX28" fmla="*/ 3312000 w 5372101"/>
              <a:gd name="connsiteY28" fmla="*/ 5286923 h 5513767"/>
              <a:gd name="connsiteX29" fmla="*/ 3259756 w 5372101"/>
              <a:gd name="connsiteY29" fmla="*/ 5294712 h 5513767"/>
              <a:gd name="connsiteX30" fmla="*/ 3187481 w 5372101"/>
              <a:gd name="connsiteY30" fmla="*/ 5298457 h 5513767"/>
              <a:gd name="connsiteX31" fmla="*/ 3124115 w 5372101"/>
              <a:gd name="connsiteY31" fmla="*/ 5294626 h 5513767"/>
              <a:gd name="connsiteX32" fmla="*/ 3099907 w 5372101"/>
              <a:gd name="connsiteY32" fmla="*/ 5302443 h 5513767"/>
              <a:gd name="connsiteX33" fmla="*/ 3017494 w 5372101"/>
              <a:gd name="connsiteY33" fmla="*/ 5301439 h 5513767"/>
              <a:gd name="connsiteX34" fmla="*/ 3010848 w 5372101"/>
              <a:gd name="connsiteY34" fmla="*/ 5307225 h 5513767"/>
              <a:gd name="connsiteX35" fmla="*/ 2994286 w 5372101"/>
              <a:gd name="connsiteY35" fmla="*/ 5309060 h 5513767"/>
              <a:gd name="connsiteX36" fmla="*/ 2988160 w 5372101"/>
              <a:gd name="connsiteY36" fmla="*/ 5310041 h 5513767"/>
              <a:gd name="connsiteX37" fmla="*/ 2984260 w 5372101"/>
              <a:gd name="connsiteY37" fmla="*/ 5307528 h 5513767"/>
              <a:gd name="connsiteX38" fmla="*/ 2979127 w 5372101"/>
              <a:gd name="connsiteY38" fmla="*/ 5308389 h 5513767"/>
              <a:gd name="connsiteX39" fmla="*/ 2978660 w 5372101"/>
              <a:gd name="connsiteY39" fmla="*/ 5311563 h 5513767"/>
              <a:gd name="connsiteX40" fmla="*/ 2946326 w 5372101"/>
              <a:gd name="connsiteY40" fmla="*/ 5316745 h 5513767"/>
              <a:gd name="connsiteX41" fmla="*/ 2713134 w 5372101"/>
              <a:gd name="connsiteY41" fmla="*/ 5331381 h 5513767"/>
              <a:gd name="connsiteX42" fmla="*/ 2352072 w 5372101"/>
              <a:gd name="connsiteY42" fmla="*/ 5342761 h 5513767"/>
              <a:gd name="connsiteX43" fmla="*/ 2260922 w 5372101"/>
              <a:gd name="connsiteY43" fmla="*/ 5328122 h 5513767"/>
              <a:gd name="connsiteX44" fmla="*/ 2178497 w 5372101"/>
              <a:gd name="connsiteY44" fmla="*/ 5351065 h 5513767"/>
              <a:gd name="connsiteX45" fmla="*/ 2034408 w 5372101"/>
              <a:gd name="connsiteY45" fmla="*/ 5307958 h 5513767"/>
              <a:gd name="connsiteX46" fmla="*/ 1831505 w 5372101"/>
              <a:gd name="connsiteY46" fmla="*/ 5312691 h 5513767"/>
              <a:gd name="connsiteX47" fmla="*/ 1710387 w 5372101"/>
              <a:gd name="connsiteY47" fmla="*/ 5308705 h 5513767"/>
              <a:gd name="connsiteX48" fmla="*/ 1664816 w 5372101"/>
              <a:gd name="connsiteY48" fmla="*/ 5296479 h 5513767"/>
              <a:gd name="connsiteX49" fmla="*/ 1600883 w 5372101"/>
              <a:gd name="connsiteY49" fmla="*/ 5286607 h 5513767"/>
              <a:gd name="connsiteX50" fmla="*/ 1488397 w 5372101"/>
              <a:gd name="connsiteY50" fmla="*/ 5260898 h 5513767"/>
              <a:gd name="connsiteX51" fmla="*/ 1336670 w 5372101"/>
              <a:gd name="connsiteY51" fmla="*/ 5240770 h 5513767"/>
              <a:gd name="connsiteX52" fmla="*/ 1224297 w 5372101"/>
              <a:gd name="connsiteY52" fmla="*/ 5271845 h 5513767"/>
              <a:gd name="connsiteX53" fmla="*/ 1214830 w 5372101"/>
              <a:gd name="connsiteY53" fmla="*/ 5263450 h 5513767"/>
              <a:gd name="connsiteX54" fmla="*/ 1138181 w 5372101"/>
              <a:gd name="connsiteY54" fmla="*/ 5262590 h 5513767"/>
              <a:gd name="connsiteX55" fmla="*/ 943575 w 5372101"/>
              <a:gd name="connsiteY55" fmla="*/ 5290808 h 5513767"/>
              <a:gd name="connsiteX56" fmla="*/ 529813 w 5372101"/>
              <a:gd name="connsiteY56" fmla="*/ 5218555 h 5513767"/>
              <a:gd name="connsiteX57" fmla="*/ 519546 w 5372101"/>
              <a:gd name="connsiteY57" fmla="*/ 5208845 h 5513767"/>
              <a:gd name="connsiteX58" fmla="*/ 507906 w 5372101"/>
              <a:gd name="connsiteY58" fmla="*/ 5204779 h 5513767"/>
              <a:gd name="connsiteX59" fmla="*/ 505153 w 5372101"/>
              <a:gd name="connsiteY59" fmla="*/ 5196726 h 5513767"/>
              <a:gd name="connsiteX60" fmla="*/ 500429 w 5372101"/>
              <a:gd name="connsiteY60" fmla="*/ 5193241 h 5513767"/>
              <a:gd name="connsiteX61" fmla="*/ 431923 w 5372101"/>
              <a:gd name="connsiteY61" fmla="*/ 5191553 h 5513767"/>
              <a:gd name="connsiteX62" fmla="*/ 337115 w 5372101"/>
              <a:gd name="connsiteY62" fmla="*/ 5202714 h 5513767"/>
              <a:gd name="connsiteX63" fmla="*/ 303383 w 5372101"/>
              <a:gd name="connsiteY63" fmla="*/ 5184750 h 5513767"/>
              <a:gd name="connsiteX64" fmla="*/ 297664 w 5372101"/>
              <a:gd name="connsiteY64" fmla="*/ 5181269 h 5513767"/>
              <a:gd name="connsiteX65" fmla="*/ 272701 w 5372101"/>
              <a:gd name="connsiteY65" fmla="*/ 5175678 h 5513767"/>
              <a:gd name="connsiteX66" fmla="*/ 268242 w 5372101"/>
              <a:gd name="connsiteY66" fmla="*/ 5163678 h 5513767"/>
              <a:gd name="connsiteX67" fmla="*/ 232517 w 5372101"/>
              <a:gd name="connsiteY67" fmla="*/ 5147792 h 5513767"/>
              <a:gd name="connsiteX68" fmla="*/ 185851 w 5372101"/>
              <a:gd name="connsiteY68" fmla="*/ 5140408 h 5513767"/>
              <a:gd name="connsiteX69" fmla="*/ 20337 w 5372101"/>
              <a:gd name="connsiteY69" fmla="*/ 5113040 h 5513767"/>
              <a:gd name="connsiteX70" fmla="*/ 0 w 5372101"/>
              <a:gd name="connsiteY70" fmla="*/ 5112243 h 55137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5372101" h="5513767">
                <a:moveTo>
                  <a:pt x="0" y="0"/>
                </a:moveTo>
                <a:lnTo>
                  <a:pt x="5372101" y="0"/>
                </a:lnTo>
                <a:lnTo>
                  <a:pt x="5372101" y="5513767"/>
                </a:lnTo>
                <a:lnTo>
                  <a:pt x="5363126" y="5512835"/>
                </a:lnTo>
                <a:cubicBezTo>
                  <a:pt x="5345779" y="5509071"/>
                  <a:pt x="5329767" y="5502649"/>
                  <a:pt x="5316714" y="5491247"/>
                </a:cubicBezTo>
                <a:cubicBezTo>
                  <a:pt x="5295689" y="5478131"/>
                  <a:pt x="5219502" y="5459909"/>
                  <a:pt x="5198331" y="5470092"/>
                </a:cubicBezTo>
                <a:cubicBezTo>
                  <a:pt x="5181052" y="5469102"/>
                  <a:pt x="5165047" y="5459569"/>
                  <a:pt x="5150428" y="5472506"/>
                </a:cubicBezTo>
                <a:cubicBezTo>
                  <a:pt x="5129562" y="5487248"/>
                  <a:pt x="5088050" y="5445894"/>
                  <a:pt x="5085506" y="5468851"/>
                </a:cubicBezTo>
                <a:cubicBezTo>
                  <a:pt x="5055692" y="5440170"/>
                  <a:pt x="5006122" y="5469577"/>
                  <a:pt x="4968663" y="5470487"/>
                </a:cubicBezTo>
                <a:cubicBezTo>
                  <a:pt x="4947085" y="5444049"/>
                  <a:pt x="4889767" y="5472037"/>
                  <a:pt x="4815623" y="5458622"/>
                </a:cubicBezTo>
                <a:cubicBezTo>
                  <a:pt x="4792418" y="5428488"/>
                  <a:pt x="4765548" y="5449887"/>
                  <a:pt x="4716679" y="5405365"/>
                </a:cubicBezTo>
                <a:cubicBezTo>
                  <a:pt x="4713235" y="5407807"/>
                  <a:pt x="4709266" y="5409883"/>
                  <a:pt x="4704891" y="5411529"/>
                </a:cubicBezTo>
                <a:cubicBezTo>
                  <a:pt x="4679473" y="5421092"/>
                  <a:pt x="4646164" y="5414379"/>
                  <a:pt x="4630496" y="5396532"/>
                </a:cubicBezTo>
                <a:cubicBezTo>
                  <a:pt x="4590205" y="5365061"/>
                  <a:pt x="4548419" y="5412094"/>
                  <a:pt x="4506964" y="5396685"/>
                </a:cubicBezTo>
                <a:lnTo>
                  <a:pt x="4427135" y="5358585"/>
                </a:lnTo>
                <a:cubicBezTo>
                  <a:pt x="4319267" y="5308575"/>
                  <a:pt x="4152341" y="5340956"/>
                  <a:pt x="4028338" y="5313494"/>
                </a:cubicBezTo>
                <a:lnTo>
                  <a:pt x="4015367" y="5320766"/>
                </a:lnTo>
                <a:lnTo>
                  <a:pt x="4002837" y="5322294"/>
                </a:lnTo>
                <a:lnTo>
                  <a:pt x="3997650" y="5329513"/>
                </a:lnTo>
                <a:lnTo>
                  <a:pt x="3991991" y="5331908"/>
                </a:lnTo>
                <a:cubicBezTo>
                  <a:pt x="3969659" y="5338581"/>
                  <a:pt x="3978880" y="5316131"/>
                  <a:pt x="3925210" y="5319395"/>
                </a:cubicBezTo>
                <a:cubicBezTo>
                  <a:pt x="3947765" y="5277139"/>
                  <a:pt x="3837331" y="5338342"/>
                  <a:pt x="3837014" y="5289023"/>
                </a:cubicBezTo>
                <a:cubicBezTo>
                  <a:pt x="3824001" y="5291376"/>
                  <a:pt x="3811407" y="5295212"/>
                  <a:pt x="3798765" y="5299431"/>
                </a:cubicBezTo>
                <a:lnTo>
                  <a:pt x="3792144" y="5301616"/>
                </a:lnTo>
                <a:lnTo>
                  <a:pt x="3766249" y="5301869"/>
                </a:lnTo>
                <a:lnTo>
                  <a:pt x="3718651" y="5320541"/>
                </a:lnTo>
                <a:cubicBezTo>
                  <a:pt x="3703968" y="5321892"/>
                  <a:pt x="3688308" y="5321427"/>
                  <a:pt x="3671207" y="5318046"/>
                </a:cubicBezTo>
                <a:cubicBezTo>
                  <a:pt x="3616458" y="5288532"/>
                  <a:pt x="3514048" y="5333307"/>
                  <a:pt x="3446863" y="5294348"/>
                </a:cubicBezTo>
                <a:cubicBezTo>
                  <a:pt x="3420930" y="5283822"/>
                  <a:pt x="3333157" y="5274511"/>
                  <a:pt x="3312000" y="5286923"/>
                </a:cubicBezTo>
                <a:cubicBezTo>
                  <a:pt x="3292759" y="5287903"/>
                  <a:pt x="3273112" y="5280334"/>
                  <a:pt x="3259756" y="5294712"/>
                </a:cubicBezTo>
                <a:cubicBezTo>
                  <a:pt x="3239905" y="5311572"/>
                  <a:pt x="3185410" y="5275588"/>
                  <a:pt x="3187481" y="5298457"/>
                </a:cubicBezTo>
                <a:cubicBezTo>
                  <a:pt x="3168018" y="5286036"/>
                  <a:pt x="3146200" y="5288458"/>
                  <a:pt x="3124115" y="5294626"/>
                </a:cubicBezTo>
                <a:lnTo>
                  <a:pt x="3099907" y="5302443"/>
                </a:lnTo>
                <a:lnTo>
                  <a:pt x="3017494" y="5301439"/>
                </a:lnTo>
                <a:lnTo>
                  <a:pt x="3010848" y="5307225"/>
                </a:lnTo>
                <a:lnTo>
                  <a:pt x="2994286" y="5309060"/>
                </a:lnTo>
                <a:lnTo>
                  <a:pt x="2988160" y="5310041"/>
                </a:lnTo>
                <a:lnTo>
                  <a:pt x="2984260" y="5307528"/>
                </a:lnTo>
                <a:cubicBezTo>
                  <a:pt x="2981957" y="5306419"/>
                  <a:pt x="2980273" y="5306402"/>
                  <a:pt x="2979127" y="5308389"/>
                </a:cubicBezTo>
                <a:cubicBezTo>
                  <a:pt x="2978971" y="5309447"/>
                  <a:pt x="2978816" y="5310505"/>
                  <a:pt x="2978660" y="5311563"/>
                </a:cubicBezTo>
                <a:lnTo>
                  <a:pt x="2946326" y="5316745"/>
                </a:lnTo>
                <a:lnTo>
                  <a:pt x="2713134" y="5331381"/>
                </a:lnTo>
                <a:cubicBezTo>
                  <a:pt x="2610698" y="5372328"/>
                  <a:pt x="2466037" y="5325762"/>
                  <a:pt x="2352072" y="5342761"/>
                </a:cubicBezTo>
                <a:cubicBezTo>
                  <a:pt x="2293501" y="5293708"/>
                  <a:pt x="2324138" y="5338538"/>
                  <a:pt x="2260922" y="5328122"/>
                </a:cubicBezTo>
                <a:cubicBezTo>
                  <a:pt x="2275681" y="5372347"/>
                  <a:pt x="2185007" y="5301703"/>
                  <a:pt x="2178497" y="5351065"/>
                </a:cubicBezTo>
                <a:cubicBezTo>
                  <a:pt x="2133294" y="5337229"/>
                  <a:pt x="2097074" y="5300208"/>
                  <a:pt x="2034408" y="5307958"/>
                </a:cubicBezTo>
                <a:cubicBezTo>
                  <a:pt x="1981894" y="5332879"/>
                  <a:pt x="1896288" y="5279365"/>
                  <a:pt x="1831505" y="5312691"/>
                </a:cubicBezTo>
                <a:cubicBezTo>
                  <a:pt x="1807063" y="5321035"/>
                  <a:pt x="1727674" y="5322925"/>
                  <a:pt x="1710387" y="5308705"/>
                </a:cubicBezTo>
                <a:cubicBezTo>
                  <a:pt x="1693367" y="5306094"/>
                  <a:pt x="1674901" y="5312009"/>
                  <a:pt x="1664816" y="5296479"/>
                </a:cubicBezTo>
                <a:cubicBezTo>
                  <a:pt x="1649255" y="5277912"/>
                  <a:pt x="1596152" y="5309335"/>
                  <a:pt x="1600883" y="5286607"/>
                </a:cubicBezTo>
                <a:cubicBezTo>
                  <a:pt x="1563066" y="5308189"/>
                  <a:pt x="1524339" y="5269513"/>
                  <a:pt x="1488397" y="5260898"/>
                </a:cubicBezTo>
                <a:cubicBezTo>
                  <a:pt x="1459246" y="5282011"/>
                  <a:pt x="1412580" y="5243108"/>
                  <a:pt x="1336670" y="5240770"/>
                </a:cubicBezTo>
                <a:cubicBezTo>
                  <a:pt x="1304792" y="5265122"/>
                  <a:pt x="1285508" y="5238878"/>
                  <a:pt x="1224297" y="5271845"/>
                </a:cubicBezTo>
                <a:cubicBezTo>
                  <a:pt x="1221731" y="5268771"/>
                  <a:pt x="1218543" y="5265944"/>
                  <a:pt x="1214830" y="5263450"/>
                </a:cubicBezTo>
                <a:cubicBezTo>
                  <a:pt x="1193241" y="5248952"/>
                  <a:pt x="1158925" y="5248567"/>
                  <a:pt x="1138181" y="5262590"/>
                </a:cubicBezTo>
                <a:lnTo>
                  <a:pt x="943575" y="5290808"/>
                </a:lnTo>
                <a:cubicBezTo>
                  <a:pt x="823587" y="5316899"/>
                  <a:pt x="658340" y="5217603"/>
                  <a:pt x="529813" y="5218555"/>
                </a:cubicBezTo>
                <a:lnTo>
                  <a:pt x="519546" y="5208845"/>
                </a:lnTo>
                <a:lnTo>
                  <a:pt x="507906" y="5204779"/>
                </a:lnTo>
                <a:lnTo>
                  <a:pt x="505153" y="5196726"/>
                </a:lnTo>
                <a:lnTo>
                  <a:pt x="500429" y="5193241"/>
                </a:lnTo>
                <a:cubicBezTo>
                  <a:pt x="480923" y="5182176"/>
                  <a:pt x="482807" y="5205793"/>
                  <a:pt x="431923" y="5191553"/>
                </a:cubicBezTo>
                <a:cubicBezTo>
                  <a:pt x="440499" y="5237077"/>
                  <a:pt x="352872" y="5155083"/>
                  <a:pt x="337115" y="5202714"/>
                </a:cubicBezTo>
                <a:cubicBezTo>
                  <a:pt x="325265" y="5197752"/>
                  <a:pt x="314288" y="5191441"/>
                  <a:pt x="303383" y="5184750"/>
                </a:cubicBezTo>
                <a:lnTo>
                  <a:pt x="297664" y="5181269"/>
                </a:lnTo>
                <a:lnTo>
                  <a:pt x="272701" y="5175678"/>
                </a:lnTo>
                <a:lnTo>
                  <a:pt x="268242" y="5163678"/>
                </a:lnTo>
                <a:lnTo>
                  <a:pt x="232517" y="5147792"/>
                </a:lnTo>
                <a:cubicBezTo>
                  <a:pt x="218741" y="5143453"/>
                  <a:pt x="203450" y="5140668"/>
                  <a:pt x="185851" y="5140408"/>
                </a:cubicBezTo>
                <a:cubicBezTo>
                  <a:pt x="139207" y="5153337"/>
                  <a:pt x="79723" y="5120316"/>
                  <a:pt x="20337" y="5113040"/>
                </a:cubicBezTo>
                <a:lnTo>
                  <a:pt x="0" y="5112243"/>
                </a:lnTo>
                <a:close/>
              </a:path>
            </a:pathLst>
          </a:custGeom>
          <a:ln>
            <a:noFill/>
          </a:ln>
          <a:effectLst>
            <a:outerShdw blurRad="25400" dist="12700" dir="3000000" algn="tl" rotWithShape="0">
              <a:prstClr val="black">
                <a:alpha val="27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3DB4523D-1939-2E65-F402-44408149C850}"/>
              </a:ext>
            </a:extLst>
          </p:cNvPr>
          <p:cNvSpPr>
            <a:spLocks noGrp="1"/>
          </p:cNvSpPr>
          <p:nvPr>
            <p:ph type="title"/>
          </p:nvPr>
        </p:nvSpPr>
        <p:spPr>
          <a:xfrm>
            <a:off x="1037809" y="1071350"/>
            <a:ext cx="4775162" cy="1339382"/>
          </a:xfrm>
        </p:spPr>
        <p:txBody>
          <a:bodyPr>
            <a:normAutofit/>
          </a:bodyPr>
          <a:lstStyle/>
          <a:p>
            <a:pPr algn="ctr"/>
            <a:r>
              <a:rPr lang="en-US" sz="3600">
                <a:cs typeface="Calibri Light"/>
              </a:rPr>
              <a:t>Variables: Pt.4</a:t>
            </a:r>
            <a:br>
              <a:rPr lang="en-US" sz="3600">
                <a:cs typeface="Calibri Light"/>
              </a:rPr>
            </a:br>
            <a:endParaRPr lang="en-US" sz="3600"/>
          </a:p>
        </p:txBody>
      </p:sp>
      <p:sp>
        <p:nvSpPr>
          <p:cNvPr id="13" name="Rectangle 6">
            <a:extLst>
              <a:ext uri="{FF2B5EF4-FFF2-40B4-BE49-F238E27FC236}">
                <a16:creationId xmlns:a16="http://schemas.microsoft.com/office/drawing/2014/main" id="{F0C518C2-0AA4-470C-87B9-9CBF428FBA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564666" y="399531"/>
            <a:ext cx="1707751" cy="428984"/>
          </a:xfrm>
          <a:custGeom>
            <a:avLst/>
            <a:gdLst>
              <a:gd name="connsiteX0" fmla="*/ 0 w 2142503"/>
              <a:gd name="connsiteY0" fmla="*/ 0 h 571500"/>
              <a:gd name="connsiteX1" fmla="*/ 2142503 w 2142503"/>
              <a:gd name="connsiteY1" fmla="*/ 0 h 571500"/>
              <a:gd name="connsiteX2" fmla="*/ 2142503 w 2142503"/>
              <a:gd name="connsiteY2" fmla="*/ 571500 h 571500"/>
              <a:gd name="connsiteX3" fmla="*/ 0 w 2142503"/>
              <a:gd name="connsiteY3" fmla="*/ 571500 h 571500"/>
              <a:gd name="connsiteX4" fmla="*/ 0 w 2142503"/>
              <a:gd name="connsiteY4" fmla="*/ 0 h 571500"/>
              <a:gd name="connsiteX0" fmla="*/ 0 w 2142503"/>
              <a:gd name="connsiteY0" fmla="*/ 0 h 582145"/>
              <a:gd name="connsiteX1" fmla="*/ 2142503 w 2142503"/>
              <a:gd name="connsiteY1" fmla="*/ 0 h 582145"/>
              <a:gd name="connsiteX2" fmla="*/ 2142503 w 2142503"/>
              <a:gd name="connsiteY2" fmla="*/ 571500 h 582145"/>
              <a:gd name="connsiteX3" fmla="*/ 2050917 w 2142503"/>
              <a:gd name="connsiteY3" fmla="*/ 582088 h 582145"/>
              <a:gd name="connsiteX4" fmla="*/ 0 w 2142503"/>
              <a:gd name="connsiteY4" fmla="*/ 571500 h 582145"/>
              <a:gd name="connsiteX5" fmla="*/ 0 w 2142503"/>
              <a:gd name="connsiteY5" fmla="*/ 0 h 582145"/>
              <a:gd name="connsiteX0" fmla="*/ 0 w 2159832"/>
              <a:gd name="connsiteY0" fmla="*/ 0 h 582145"/>
              <a:gd name="connsiteX1" fmla="*/ 2142503 w 2159832"/>
              <a:gd name="connsiteY1" fmla="*/ 0 h 582145"/>
              <a:gd name="connsiteX2" fmla="*/ 2159829 w 2159832"/>
              <a:gd name="connsiteY2" fmla="*/ 96526 h 582145"/>
              <a:gd name="connsiteX3" fmla="*/ 2142503 w 2159832"/>
              <a:gd name="connsiteY3" fmla="*/ 571500 h 582145"/>
              <a:gd name="connsiteX4" fmla="*/ 2050917 w 2159832"/>
              <a:gd name="connsiteY4" fmla="*/ 582088 h 582145"/>
              <a:gd name="connsiteX5" fmla="*/ 0 w 2159832"/>
              <a:gd name="connsiteY5" fmla="*/ 571500 h 582145"/>
              <a:gd name="connsiteX6" fmla="*/ 0 w 2159832"/>
              <a:gd name="connsiteY6" fmla="*/ 0 h 582145"/>
              <a:gd name="connsiteX0" fmla="*/ 0 w 2159832"/>
              <a:gd name="connsiteY0" fmla="*/ 12386 h 594531"/>
              <a:gd name="connsiteX1" fmla="*/ 67826 w 2159832"/>
              <a:gd name="connsiteY1" fmla="*/ 0 h 594531"/>
              <a:gd name="connsiteX2" fmla="*/ 2142503 w 2159832"/>
              <a:gd name="connsiteY2" fmla="*/ 12386 h 594531"/>
              <a:gd name="connsiteX3" fmla="*/ 2159829 w 2159832"/>
              <a:gd name="connsiteY3" fmla="*/ 108912 h 594531"/>
              <a:gd name="connsiteX4" fmla="*/ 2142503 w 2159832"/>
              <a:gd name="connsiteY4" fmla="*/ 583886 h 594531"/>
              <a:gd name="connsiteX5" fmla="*/ 2050917 w 2159832"/>
              <a:gd name="connsiteY5" fmla="*/ 594474 h 594531"/>
              <a:gd name="connsiteX6" fmla="*/ 0 w 2159832"/>
              <a:gd name="connsiteY6" fmla="*/ 583886 h 594531"/>
              <a:gd name="connsiteX7" fmla="*/ 0 w 2159832"/>
              <a:gd name="connsiteY7" fmla="*/ 12386 h 594531"/>
              <a:gd name="connsiteX0" fmla="*/ 0 w 2168908"/>
              <a:gd name="connsiteY0" fmla="*/ 26000 h 594531"/>
              <a:gd name="connsiteX1" fmla="*/ 76902 w 2168908"/>
              <a:gd name="connsiteY1" fmla="*/ 0 h 594531"/>
              <a:gd name="connsiteX2" fmla="*/ 2151579 w 2168908"/>
              <a:gd name="connsiteY2" fmla="*/ 12386 h 594531"/>
              <a:gd name="connsiteX3" fmla="*/ 2168905 w 2168908"/>
              <a:gd name="connsiteY3" fmla="*/ 108912 h 594531"/>
              <a:gd name="connsiteX4" fmla="*/ 2151579 w 2168908"/>
              <a:gd name="connsiteY4" fmla="*/ 583886 h 594531"/>
              <a:gd name="connsiteX5" fmla="*/ 2059993 w 2168908"/>
              <a:gd name="connsiteY5" fmla="*/ 594474 h 594531"/>
              <a:gd name="connsiteX6" fmla="*/ 9076 w 2168908"/>
              <a:gd name="connsiteY6" fmla="*/ 583886 h 594531"/>
              <a:gd name="connsiteX7" fmla="*/ 0 w 2168908"/>
              <a:gd name="connsiteY7" fmla="*/ 26000 h 594531"/>
              <a:gd name="connsiteX0" fmla="*/ 5393 w 2174301"/>
              <a:gd name="connsiteY0" fmla="*/ 26000 h 594531"/>
              <a:gd name="connsiteX1" fmla="*/ 82295 w 2174301"/>
              <a:gd name="connsiteY1" fmla="*/ 0 h 594531"/>
              <a:gd name="connsiteX2" fmla="*/ 2156972 w 2174301"/>
              <a:gd name="connsiteY2" fmla="*/ 12386 h 594531"/>
              <a:gd name="connsiteX3" fmla="*/ 2174298 w 2174301"/>
              <a:gd name="connsiteY3" fmla="*/ 108912 h 594531"/>
              <a:gd name="connsiteX4" fmla="*/ 2156972 w 2174301"/>
              <a:gd name="connsiteY4" fmla="*/ 583886 h 594531"/>
              <a:gd name="connsiteX5" fmla="*/ 2065386 w 2174301"/>
              <a:gd name="connsiteY5" fmla="*/ 594474 h 594531"/>
              <a:gd name="connsiteX6" fmla="*/ 14469 w 2174301"/>
              <a:gd name="connsiteY6" fmla="*/ 583886 h 594531"/>
              <a:gd name="connsiteX7" fmla="*/ 5393 w 2174301"/>
              <a:gd name="connsiteY7" fmla="*/ 26000 h 594531"/>
              <a:gd name="connsiteX0" fmla="*/ 5393 w 2174301"/>
              <a:gd name="connsiteY0" fmla="*/ 26000 h 594531"/>
              <a:gd name="connsiteX1" fmla="*/ 82295 w 2174301"/>
              <a:gd name="connsiteY1" fmla="*/ 0 h 594531"/>
              <a:gd name="connsiteX2" fmla="*/ 2156972 w 2174301"/>
              <a:gd name="connsiteY2" fmla="*/ 12386 h 594531"/>
              <a:gd name="connsiteX3" fmla="*/ 2174298 w 2174301"/>
              <a:gd name="connsiteY3" fmla="*/ 108912 h 594531"/>
              <a:gd name="connsiteX4" fmla="*/ 2156972 w 2174301"/>
              <a:gd name="connsiteY4" fmla="*/ 583886 h 594531"/>
              <a:gd name="connsiteX5" fmla="*/ 2065386 w 2174301"/>
              <a:gd name="connsiteY5" fmla="*/ 594474 h 594531"/>
              <a:gd name="connsiteX6" fmla="*/ 14469 w 2174301"/>
              <a:gd name="connsiteY6" fmla="*/ 583886 h 594531"/>
              <a:gd name="connsiteX7" fmla="*/ 5393 w 2174301"/>
              <a:gd name="connsiteY7" fmla="*/ 26000 h 594531"/>
              <a:gd name="connsiteX0" fmla="*/ 5393 w 2174301"/>
              <a:gd name="connsiteY0" fmla="*/ 26000 h 594531"/>
              <a:gd name="connsiteX1" fmla="*/ 82295 w 2174301"/>
              <a:gd name="connsiteY1" fmla="*/ 0 h 594531"/>
              <a:gd name="connsiteX2" fmla="*/ 2156972 w 2174301"/>
              <a:gd name="connsiteY2" fmla="*/ 12386 h 594531"/>
              <a:gd name="connsiteX3" fmla="*/ 2174298 w 2174301"/>
              <a:gd name="connsiteY3" fmla="*/ 108912 h 594531"/>
              <a:gd name="connsiteX4" fmla="*/ 2156972 w 2174301"/>
              <a:gd name="connsiteY4" fmla="*/ 583886 h 594531"/>
              <a:gd name="connsiteX5" fmla="*/ 2065386 w 2174301"/>
              <a:gd name="connsiteY5" fmla="*/ 594474 h 594531"/>
              <a:gd name="connsiteX6" fmla="*/ 14469 w 2174301"/>
              <a:gd name="connsiteY6" fmla="*/ 583886 h 594531"/>
              <a:gd name="connsiteX7" fmla="*/ 5393 w 2174301"/>
              <a:gd name="connsiteY7" fmla="*/ 26000 h 594531"/>
              <a:gd name="connsiteX0" fmla="*/ 5393 w 2174301"/>
              <a:gd name="connsiteY0" fmla="*/ 26000 h 594531"/>
              <a:gd name="connsiteX1" fmla="*/ 82295 w 2174301"/>
              <a:gd name="connsiteY1" fmla="*/ 0 h 594531"/>
              <a:gd name="connsiteX2" fmla="*/ 2156972 w 2174301"/>
              <a:gd name="connsiteY2" fmla="*/ 12386 h 594531"/>
              <a:gd name="connsiteX3" fmla="*/ 2174298 w 2174301"/>
              <a:gd name="connsiteY3" fmla="*/ 108912 h 594531"/>
              <a:gd name="connsiteX4" fmla="*/ 2156972 w 2174301"/>
              <a:gd name="connsiteY4" fmla="*/ 583886 h 594531"/>
              <a:gd name="connsiteX5" fmla="*/ 2065386 w 2174301"/>
              <a:gd name="connsiteY5" fmla="*/ 594474 h 594531"/>
              <a:gd name="connsiteX6" fmla="*/ 14469 w 2174301"/>
              <a:gd name="connsiteY6" fmla="*/ 583886 h 594531"/>
              <a:gd name="connsiteX7" fmla="*/ 5393 w 2174301"/>
              <a:gd name="connsiteY7" fmla="*/ 26000 h 594531"/>
              <a:gd name="connsiteX0" fmla="*/ 147197 w 2316105"/>
              <a:gd name="connsiteY0" fmla="*/ 26000 h 594531"/>
              <a:gd name="connsiteX1" fmla="*/ 224099 w 2316105"/>
              <a:gd name="connsiteY1" fmla="*/ 0 h 594531"/>
              <a:gd name="connsiteX2" fmla="*/ 2298776 w 2316105"/>
              <a:gd name="connsiteY2" fmla="*/ 12386 h 594531"/>
              <a:gd name="connsiteX3" fmla="*/ 2316102 w 2316105"/>
              <a:gd name="connsiteY3" fmla="*/ 108912 h 594531"/>
              <a:gd name="connsiteX4" fmla="*/ 2298776 w 2316105"/>
              <a:gd name="connsiteY4" fmla="*/ 583886 h 594531"/>
              <a:gd name="connsiteX5" fmla="*/ 2207190 w 2316105"/>
              <a:gd name="connsiteY5" fmla="*/ 594474 h 594531"/>
              <a:gd name="connsiteX6" fmla="*/ 156273 w 2316105"/>
              <a:gd name="connsiteY6" fmla="*/ 583886 h 594531"/>
              <a:gd name="connsiteX7" fmla="*/ 142416 w 2316105"/>
              <a:gd name="connsiteY7" fmla="*/ 235975 h 594531"/>
              <a:gd name="connsiteX8" fmla="*/ 147197 w 2316105"/>
              <a:gd name="connsiteY8" fmla="*/ 26000 h 594531"/>
              <a:gd name="connsiteX0" fmla="*/ 154684 w 2323592"/>
              <a:gd name="connsiteY0" fmla="*/ 26000 h 594531"/>
              <a:gd name="connsiteX1" fmla="*/ 231586 w 2323592"/>
              <a:gd name="connsiteY1" fmla="*/ 0 h 594531"/>
              <a:gd name="connsiteX2" fmla="*/ 2306263 w 2323592"/>
              <a:gd name="connsiteY2" fmla="*/ 12386 h 594531"/>
              <a:gd name="connsiteX3" fmla="*/ 2323589 w 2323592"/>
              <a:gd name="connsiteY3" fmla="*/ 108912 h 594531"/>
              <a:gd name="connsiteX4" fmla="*/ 2306263 w 2323592"/>
              <a:gd name="connsiteY4" fmla="*/ 583886 h 594531"/>
              <a:gd name="connsiteX5" fmla="*/ 2214677 w 2323592"/>
              <a:gd name="connsiteY5" fmla="*/ 594474 h 594531"/>
              <a:gd name="connsiteX6" fmla="*/ 163760 w 2323592"/>
              <a:gd name="connsiteY6" fmla="*/ 583886 h 594531"/>
              <a:gd name="connsiteX7" fmla="*/ 158979 w 2323592"/>
              <a:gd name="connsiteY7" fmla="*/ 403879 h 594531"/>
              <a:gd name="connsiteX8" fmla="*/ 149903 w 2323592"/>
              <a:gd name="connsiteY8" fmla="*/ 235975 h 594531"/>
              <a:gd name="connsiteX9" fmla="*/ 154684 w 2323592"/>
              <a:gd name="connsiteY9" fmla="*/ 26000 h 594531"/>
              <a:gd name="connsiteX0" fmla="*/ 13665 w 2182573"/>
              <a:gd name="connsiteY0" fmla="*/ 26000 h 594531"/>
              <a:gd name="connsiteX1" fmla="*/ 90567 w 2182573"/>
              <a:gd name="connsiteY1" fmla="*/ 0 h 594531"/>
              <a:gd name="connsiteX2" fmla="*/ 2165244 w 2182573"/>
              <a:gd name="connsiteY2" fmla="*/ 12386 h 594531"/>
              <a:gd name="connsiteX3" fmla="*/ 2182570 w 2182573"/>
              <a:gd name="connsiteY3" fmla="*/ 108912 h 594531"/>
              <a:gd name="connsiteX4" fmla="*/ 2165244 w 2182573"/>
              <a:gd name="connsiteY4" fmla="*/ 583886 h 594531"/>
              <a:gd name="connsiteX5" fmla="*/ 2073658 w 2182573"/>
              <a:gd name="connsiteY5" fmla="*/ 594474 h 594531"/>
              <a:gd name="connsiteX6" fmla="*/ 22741 w 2182573"/>
              <a:gd name="connsiteY6" fmla="*/ 583886 h 594531"/>
              <a:gd name="connsiteX7" fmla="*/ 17960 w 2182573"/>
              <a:gd name="connsiteY7" fmla="*/ 403879 h 594531"/>
              <a:gd name="connsiteX8" fmla="*/ 8884 w 2182573"/>
              <a:gd name="connsiteY8" fmla="*/ 235975 h 594531"/>
              <a:gd name="connsiteX9" fmla="*/ 13665 w 2182573"/>
              <a:gd name="connsiteY9" fmla="*/ 26000 h 594531"/>
              <a:gd name="connsiteX0" fmla="*/ 13665 w 2202120"/>
              <a:gd name="connsiteY0" fmla="*/ 26000 h 594531"/>
              <a:gd name="connsiteX1" fmla="*/ 90567 w 2202120"/>
              <a:gd name="connsiteY1" fmla="*/ 0 h 594531"/>
              <a:gd name="connsiteX2" fmla="*/ 2165244 w 2202120"/>
              <a:gd name="connsiteY2" fmla="*/ 12386 h 594531"/>
              <a:gd name="connsiteX3" fmla="*/ 2182570 w 2202120"/>
              <a:gd name="connsiteY3" fmla="*/ 108912 h 594531"/>
              <a:gd name="connsiteX4" fmla="*/ 2192471 w 2202120"/>
              <a:gd name="connsiteY4" fmla="*/ 583886 h 594531"/>
              <a:gd name="connsiteX5" fmla="*/ 2073658 w 2202120"/>
              <a:gd name="connsiteY5" fmla="*/ 594474 h 594531"/>
              <a:gd name="connsiteX6" fmla="*/ 22741 w 2202120"/>
              <a:gd name="connsiteY6" fmla="*/ 583886 h 594531"/>
              <a:gd name="connsiteX7" fmla="*/ 17960 w 2202120"/>
              <a:gd name="connsiteY7" fmla="*/ 403879 h 594531"/>
              <a:gd name="connsiteX8" fmla="*/ 8884 w 2202120"/>
              <a:gd name="connsiteY8" fmla="*/ 235975 h 594531"/>
              <a:gd name="connsiteX9" fmla="*/ 13665 w 2202120"/>
              <a:gd name="connsiteY9" fmla="*/ 26000 h 594531"/>
              <a:gd name="connsiteX0" fmla="*/ 13665 w 2202036"/>
              <a:gd name="connsiteY0" fmla="*/ 26000 h 594531"/>
              <a:gd name="connsiteX1" fmla="*/ 90567 w 2202036"/>
              <a:gd name="connsiteY1" fmla="*/ 0 h 594531"/>
              <a:gd name="connsiteX2" fmla="*/ 2165244 w 2202036"/>
              <a:gd name="connsiteY2" fmla="*/ 12386 h 594531"/>
              <a:gd name="connsiteX3" fmla="*/ 2182570 w 2202036"/>
              <a:gd name="connsiteY3" fmla="*/ 108912 h 594531"/>
              <a:gd name="connsiteX4" fmla="*/ 2191645 w 2202036"/>
              <a:gd name="connsiteY4" fmla="*/ 422031 h 594531"/>
              <a:gd name="connsiteX5" fmla="*/ 2192471 w 2202036"/>
              <a:gd name="connsiteY5" fmla="*/ 583886 h 594531"/>
              <a:gd name="connsiteX6" fmla="*/ 2073658 w 2202036"/>
              <a:gd name="connsiteY6" fmla="*/ 594474 h 594531"/>
              <a:gd name="connsiteX7" fmla="*/ 22741 w 2202036"/>
              <a:gd name="connsiteY7" fmla="*/ 583886 h 594531"/>
              <a:gd name="connsiteX8" fmla="*/ 17960 w 2202036"/>
              <a:gd name="connsiteY8" fmla="*/ 403879 h 594531"/>
              <a:gd name="connsiteX9" fmla="*/ 8884 w 2202036"/>
              <a:gd name="connsiteY9" fmla="*/ 235975 h 594531"/>
              <a:gd name="connsiteX10" fmla="*/ 13665 w 2202036"/>
              <a:gd name="connsiteY10" fmla="*/ 26000 h 594531"/>
              <a:gd name="connsiteX0" fmla="*/ 142254 w 2330625"/>
              <a:gd name="connsiteY0" fmla="*/ 26000 h 594531"/>
              <a:gd name="connsiteX1" fmla="*/ 219156 w 2330625"/>
              <a:gd name="connsiteY1" fmla="*/ 0 h 594531"/>
              <a:gd name="connsiteX2" fmla="*/ 2293833 w 2330625"/>
              <a:gd name="connsiteY2" fmla="*/ 12386 h 594531"/>
              <a:gd name="connsiteX3" fmla="*/ 2311159 w 2330625"/>
              <a:gd name="connsiteY3" fmla="*/ 108912 h 594531"/>
              <a:gd name="connsiteX4" fmla="*/ 2320234 w 2330625"/>
              <a:gd name="connsiteY4" fmla="*/ 422031 h 594531"/>
              <a:gd name="connsiteX5" fmla="*/ 2321060 w 2330625"/>
              <a:gd name="connsiteY5" fmla="*/ 583886 h 594531"/>
              <a:gd name="connsiteX6" fmla="*/ 2202247 w 2330625"/>
              <a:gd name="connsiteY6" fmla="*/ 594474 h 594531"/>
              <a:gd name="connsiteX7" fmla="*/ 151330 w 2330625"/>
              <a:gd name="connsiteY7" fmla="*/ 583886 h 594531"/>
              <a:gd name="connsiteX8" fmla="*/ 155624 w 2330625"/>
              <a:gd name="connsiteY8" fmla="*/ 512790 h 594531"/>
              <a:gd name="connsiteX9" fmla="*/ 146549 w 2330625"/>
              <a:gd name="connsiteY9" fmla="*/ 403879 h 594531"/>
              <a:gd name="connsiteX10" fmla="*/ 137473 w 2330625"/>
              <a:gd name="connsiteY10" fmla="*/ 235975 h 594531"/>
              <a:gd name="connsiteX11" fmla="*/ 142254 w 2330625"/>
              <a:gd name="connsiteY11" fmla="*/ 26000 h 594531"/>
              <a:gd name="connsiteX0" fmla="*/ 13413 w 2201784"/>
              <a:gd name="connsiteY0" fmla="*/ 26000 h 594531"/>
              <a:gd name="connsiteX1" fmla="*/ 90315 w 2201784"/>
              <a:gd name="connsiteY1" fmla="*/ 0 h 594531"/>
              <a:gd name="connsiteX2" fmla="*/ 2164992 w 2201784"/>
              <a:gd name="connsiteY2" fmla="*/ 12386 h 594531"/>
              <a:gd name="connsiteX3" fmla="*/ 2182318 w 2201784"/>
              <a:gd name="connsiteY3" fmla="*/ 108912 h 594531"/>
              <a:gd name="connsiteX4" fmla="*/ 2191393 w 2201784"/>
              <a:gd name="connsiteY4" fmla="*/ 422031 h 594531"/>
              <a:gd name="connsiteX5" fmla="*/ 2192219 w 2201784"/>
              <a:gd name="connsiteY5" fmla="*/ 583886 h 594531"/>
              <a:gd name="connsiteX6" fmla="*/ 2073406 w 2201784"/>
              <a:gd name="connsiteY6" fmla="*/ 594474 h 594531"/>
              <a:gd name="connsiteX7" fmla="*/ 22489 w 2201784"/>
              <a:gd name="connsiteY7" fmla="*/ 583886 h 594531"/>
              <a:gd name="connsiteX8" fmla="*/ 26783 w 2201784"/>
              <a:gd name="connsiteY8" fmla="*/ 512790 h 594531"/>
              <a:gd name="connsiteX9" fmla="*/ 17708 w 2201784"/>
              <a:gd name="connsiteY9" fmla="*/ 403879 h 594531"/>
              <a:gd name="connsiteX10" fmla="*/ 8632 w 2201784"/>
              <a:gd name="connsiteY10" fmla="*/ 235975 h 594531"/>
              <a:gd name="connsiteX11" fmla="*/ 13413 w 2201784"/>
              <a:gd name="connsiteY11" fmla="*/ 26000 h 5945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201784" h="594531">
                <a:moveTo>
                  <a:pt x="13413" y="26000"/>
                </a:moveTo>
                <a:cubicBezTo>
                  <a:pt x="37534" y="24897"/>
                  <a:pt x="66194" y="1103"/>
                  <a:pt x="90315" y="0"/>
                </a:cubicBezTo>
                <a:lnTo>
                  <a:pt x="2164992" y="12386"/>
                </a:lnTo>
                <a:cubicBezTo>
                  <a:pt x="2164717" y="43049"/>
                  <a:pt x="2182593" y="78249"/>
                  <a:pt x="2182318" y="108912"/>
                </a:cubicBezTo>
                <a:cubicBezTo>
                  <a:pt x="2188231" y="177186"/>
                  <a:pt x="2189743" y="342869"/>
                  <a:pt x="2191393" y="422031"/>
                </a:cubicBezTo>
                <a:cubicBezTo>
                  <a:pt x="2193043" y="501193"/>
                  <a:pt x="2213396" y="555146"/>
                  <a:pt x="2192219" y="583886"/>
                </a:cubicBezTo>
                <a:cubicBezTo>
                  <a:pt x="2172279" y="582877"/>
                  <a:pt x="2093346" y="595483"/>
                  <a:pt x="2073406" y="594474"/>
                </a:cubicBezTo>
                <a:lnTo>
                  <a:pt x="22489" y="583886"/>
                </a:lnTo>
                <a:cubicBezTo>
                  <a:pt x="5849" y="592962"/>
                  <a:pt x="27580" y="542791"/>
                  <a:pt x="26783" y="512790"/>
                </a:cubicBezTo>
                <a:cubicBezTo>
                  <a:pt x="25986" y="482789"/>
                  <a:pt x="18464" y="450015"/>
                  <a:pt x="17708" y="403879"/>
                </a:cubicBezTo>
                <a:cubicBezTo>
                  <a:pt x="16952" y="357743"/>
                  <a:pt x="-14855" y="308787"/>
                  <a:pt x="8632" y="235975"/>
                </a:cubicBezTo>
                <a:cubicBezTo>
                  <a:pt x="7119" y="142994"/>
                  <a:pt x="-201" y="65329"/>
                  <a:pt x="13413" y="26000"/>
                </a:cubicBezTo>
                <a:close/>
              </a:path>
            </a:pathLst>
          </a:custGeom>
          <a:solidFill>
            <a:srgbClr val="D9D4D0">
              <a:alpha val="60000"/>
            </a:srgbClr>
          </a:solidFill>
          <a:ln>
            <a:noFill/>
          </a:ln>
          <a:effectLst>
            <a:softEdge rad="635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00531E85-E3AE-4625-A6B5-3359EF4448E2}"/>
              </a:ext>
            </a:extLst>
          </p:cNvPr>
          <p:cNvSpPr>
            <a:spLocks noGrp="1"/>
          </p:cNvSpPr>
          <p:nvPr>
            <p:ph idx="1"/>
          </p:nvPr>
        </p:nvSpPr>
        <p:spPr>
          <a:xfrm>
            <a:off x="1189319" y="2547257"/>
            <a:ext cx="4458446" cy="3109740"/>
          </a:xfrm>
        </p:spPr>
        <p:txBody>
          <a:bodyPr vert="horz" lIns="91440" tIns="45720" rIns="91440" bIns="45720" rtlCol="0" anchor="ctr">
            <a:normAutofit/>
          </a:bodyPr>
          <a:lstStyle/>
          <a:p>
            <a:pPr marL="0" indent="0">
              <a:buNone/>
            </a:pPr>
            <a:r>
              <a:rPr lang="en-US" sz="2400">
                <a:cs typeface="Calibri"/>
              </a:rPr>
              <a:t>Total: Total number of fantasy points in the 2022 season, calculated with the formula detailed on the next couple slides</a:t>
            </a:r>
          </a:p>
          <a:p>
            <a:pPr marL="0" indent="0">
              <a:buNone/>
            </a:pPr>
            <a:r>
              <a:rPr lang="en-US" sz="2400" err="1">
                <a:cs typeface="Calibri"/>
              </a:rPr>
              <a:t>Per_Game</a:t>
            </a:r>
            <a:r>
              <a:rPr lang="en-US" sz="2400">
                <a:cs typeface="Calibri"/>
              </a:rPr>
              <a:t>: Total/Games</a:t>
            </a:r>
          </a:p>
        </p:txBody>
      </p:sp>
    </p:spTree>
    <p:extLst>
      <p:ext uri="{BB962C8B-B14F-4D97-AF65-F5344CB8AC3E}">
        <p14:creationId xmlns:p14="http://schemas.microsoft.com/office/powerpoint/2010/main" val="36127176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04812C46-200A-4DEB-A05E-3ED6C68C23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9"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Antique cash register keys">
            <a:extLst>
              <a:ext uri="{FF2B5EF4-FFF2-40B4-BE49-F238E27FC236}">
                <a16:creationId xmlns:a16="http://schemas.microsoft.com/office/drawing/2014/main" id="{F2CF7462-5CA1-E417-4427-1B90D340E32B}"/>
              </a:ext>
            </a:extLst>
          </p:cNvPr>
          <p:cNvPicPr>
            <a:picLocks noChangeAspect="1"/>
          </p:cNvPicPr>
          <p:nvPr/>
        </p:nvPicPr>
        <p:blipFill rotWithShape="1">
          <a:blip r:embed="rId2"/>
          <a:srcRect l="1763" r="4463" b="-5"/>
          <a:stretch/>
        </p:blipFill>
        <p:spPr>
          <a:xfrm>
            <a:off x="2719336" y="82949"/>
            <a:ext cx="9669642" cy="6857990"/>
          </a:xfrm>
          <a:prstGeom prst="rect">
            <a:avLst/>
          </a:prstGeom>
        </p:spPr>
      </p:pic>
      <p:sp>
        <p:nvSpPr>
          <p:cNvPr id="11" name="Rectangle 10">
            <a:extLst>
              <a:ext uri="{FF2B5EF4-FFF2-40B4-BE49-F238E27FC236}">
                <a16:creationId xmlns:a16="http://schemas.microsoft.com/office/drawing/2014/main" id="{D1EA859B-E555-4109-94F3-6700E046E0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7390263" cy="6858000"/>
          </a:xfrm>
          <a:prstGeom prst="rect">
            <a:avLst/>
          </a:prstGeom>
          <a:gradFill>
            <a:gsLst>
              <a:gs pos="48000">
                <a:schemeClr val="bg1"/>
              </a:gs>
              <a:gs pos="35000">
                <a:schemeClr val="bg1">
                  <a:alpha val="77000"/>
                </a:schemeClr>
              </a:gs>
              <a:gs pos="19000">
                <a:schemeClr val="bg1">
                  <a:alpha val="38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E2EE869-8B63-AA90-81E6-4C72F4ED5D08}"/>
              </a:ext>
            </a:extLst>
          </p:cNvPr>
          <p:cNvSpPr>
            <a:spLocks noGrp="1"/>
          </p:cNvSpPr>
          <p:nvPr>
            <p:ph type="title"/>
          </p:nvPr>
        </p:nvSpPr>
        <p:spPr>
          <a:xfrm>
            <a:off x="838200" y="365125"/>
            <a:ext cx="3822189" cy="1899912"/>
          </a:xfrm>
          <a:solidFill>
            <a:srgbClr val="ED7D31"/>
          </a:solidFill>
        </p:spPr>
        <p:txBody>
          <a:bodyPr>
            <a:normAutofit/>
          </a:bodyPr>
          <a:lstStyle/>
          <a:p>
            <a:r>
              <a:rPr lang="en-US" sz="4000">
                <a:cs typeface="Calibri Light"/>
              </a:rPr>
              <a:t>Formula: </a:t>
            </a:r>
            <a:br>
              <a:rPr lang="en-US" sz="4000">
                <a:cs typeface="Calibri Light"/>
              </a:rPr>
            </a:br>
            <a:r>
              <a:rPr lang="en-US" sz="4000">
                <a:cs typeface="Calibri Light"/>
              </a:rPr>
              <a:t>Player Stats</a:t>
            </a:r>
            <a:endParaRPr lang="en-US" sz="4000"/>
          </a:p>
        </p:txBody>
      </p:sp>
      <p:sp>
        <p:nvSpPr>
          <p:cNvPr id="3" name="Content Placeholder 2">
            <a:extLst>
              <a:ext uri="{FF2B5EF4-FFF2-40B4-BE49-F238E27FC236}">
                <a16:creationId xmlns:a16="http://schemas.microsoft.com/office/drawing/2014/main" id="{3DB7296E-0A12-8E5E-BAD4-3BA74D10C7C3}"/>
              </a:ext>
            </a:extLst>
          </p:cNvPr>
          <p:cNvSpPr>
            <a:spLocks noGrp="1"/>
          </p:cNvSpPr>
          <p:nvPr>
            <p:ph idx="1"/>
          </p:nvPr>
        </p:nvSpPr>
        <p:spPr>
          <a:xfrm>
            <a:off x="838200" y="2434201"/>
            <a:ext cx="5646841" cy="3742762"/>
          </a:xfrm>
        </p:spPr>
        <p:txBody>
          <a:bodyPr vert="horz" lIns="91440" tIns="45720" rIns="91440" bIns="45720" rtlCol="0" anchor="t">
            <a:normAutofit/>
          </a:bodyPr>
          <a:lstStyle/>
          <a:p>
            <a:pPr marL="0" indent="0">
              <a:buNone/>
            </a:pPr>
            <a:r>
              <a:rPr lang="en-US" sz="2400">
                <a:cs typeface="Calibri" panose="020F0502020204030204"/>
              </a:rPr>
              <a:t>Total = </a:t>
            </a:r>
          </a:p>
          <a:p>
            <a:pPr marL="0" indent="0">
              <a:buNone/>
            </a:pPr>
            <a:r>
              <a:rPr lang="en-US" sz="2400" err="1">
                <a:ea typeface="+mn-lt"/>
                <a:cs typeface="+mn-lt"/>
              </a:rPr>
              <a:t>Pass_Yards</a:t>
            </a:r>
            <a:r>
              <a:rPr lang="en-US" sz="2400">
                <a:ea typeface="+mn-lt"/>
                <a:cs typeface="+mn-lt"/>
              </a:rPr>
              <a:t> * .04 + </a:t>
            </a:r>
            <a:r>
              <a:rPr lang="en-US" sz="2400" err="1">
                <a:ea typeface="+mn-lt"/>
                <a:cs typeface="+mn-lt"/>
              </a:rPr>
              <a:t>Pass_TDs</a:t>
            </a:r>
            <a:r>
              <a:rPr lang="en-US" sz="2400">
                <a:ea typeface="+mn-lt"/>
                <a:cs typeface="+mn-lt"/>
              </a:rPr>
              <a:t> * 4 + </a:t>
            </a:r>
            <a:r>
              <a:rPr lang="en-US" sz="2400" err="1">
                <a:ea typeface="+mn-lt"/>
                <a:cs typeface="+mn-lt"/>
              </a:rPr>
              <a:t>Ints</a:t>
            </a:r>
            <a:r>
              <a:rPr lang="en-US" sz="2400">
                <a:ea typeface="+mn-lt"/>
                <a:cs typeface="+mn-lt"/>
              </a:rPr>
              <a:t> * -2</a:t>
            </a:r>
          </a:p>
          <a:p>
            <a:pPr marL="0" indent="0">
              <a:buNone/>
            </a:pPr>
            <a:r>
              <a:rPr lang="en-US" sz="2400">
                <a:ea typeface="+mn-lt"/>
                <a:cs typeface="+mn-lt"/>
              </a:rPr>
              <a:t>+ </a:t>
            </a:r>
            <a:r>
              <a:rPr lang="en-US" sz="2400" err="1">
                <a:ea typeface="+mn-lt"/>
                <a:cs typeface="+mn-lt"/>
              </a:rPr>
              <a:t>Rush_Yards</a:t>
            </a:r>
            <a:r>
              <a:rPr lang="en-US" sz="2400">
                <a:ea typeface="+mn-lt"/>
                <a:cs typeface="+mn-lt"/>
              </a:rPr>
              <a:t> * .1 + </a:t>
            </a:r>
            <a:r>
              <a:rPr lang="en-US" sz="2400" err="1">
                <a:ea typeface="+mn-lt"/>
                <a:cs typeface="+mn-lt"/>
              </a:rPr>
              <a:t>Rush_TDs</a:t>
            </a:r>
            <a:r>
              <a:rPr lang="en-US" sz="2400">
                <a:ea typeface="+mn-lt"/>
                <a:cs typeface="+mn-lt"/>
              </a:rPr>
              <a:t> * 6</a:t>
            </a:r>
          </a:p>
          <a:p>
            <a:pPr marL="0" indent="0">
              <a:buNone/>
            </a:pPr>
            <a:r>
              <a:rPr lang="en-US" sz="2400">
                <a:ea typeface="+mn-lt"/>
                <a:cs typeface="+mn-lt"/>
              </a:rPr>
              <a:t>+ Receptions + </a:t>
            </a:r>
            <a:r>
              <a:rPr lang="en-US" sz="2400" err="1">
                <a:ea typeface="+mn-lt"/>
                <a:cs typeface="+mn-lt"/>
              </a:rPr>
              <a:t>Rec_Yards</a:t>
            </a:r>
            <a:r>
              <a:rPr lang="en-US" sz="2400">
                <a:ea typeface="+mn-lt"/>
                <a:cs typeface="+mn-lt"/>
              </a:rPr>
              <a:t> * .1 + </a:t>
            </a:r>
            <a:r>
              <a:rPr lang="en-US" sz="2400" err="1">
                <a:ea typeface="+mn-lt"/>
                <a:cs typeface="+mn-lt"/>
              </a:rPr>
              <a:t>Rec_TDs</a:t>
            </a:r>
            <a:r>
              <a:rPr lang="en-US" sz="2400">
                <a:ea typeface="+mn-lt"/>
                <a:cs typeface="+mn-lt"/>
              </a:rPr>
              <a:t> * 6</a:t>
            </a:r>
          </a:p>
          <a:p>
            <a:pPr marL="0" indent="0">
              <a:buNone/>
            </a:pPr>
            <a:r>
              <a:rPr lang="en-US" sz="2400">
                <a:ea typeface="+mn-lt"/>
                <a:cs typeface="+mn-lt"/>
              </a:rPr>
              <a:t>+ Fumbles * -2 + </a:t>
            </a:r>
            <a:r>
              <a:rPr lang="en-US" sz="2400" err="1">
                <a:ea typeface="+mn-lt"/>
                <a:cs typeface="+mn-lt"/>
              </a:rPr>
              <a:t>Two_Pt</a:t>
            </a:r>
            <a:r>
              <a:rPr lang="en-US" sz="2400">
                <a:ea typeface="+mn-lt"/>
                <a:cs typeface="+mn-lt"/>
              </a:rPr>
              <a:t> * 2</a:t>
            </a:r>
            <a:endParaRPr lang="en-US" sz="2400"/>
          </a:p>
        </p:txBody>
      </p:sp>
    </p:spTree>
    <p:extLst>
      <p:ext uri="{BB962C8B-B14F-4D97-AF65-F5344CB8AC3E}">
        <p14:creationId xmlns:p14="http://schemas.microsoft.com/office/powerpoint/2010/main" val="148204675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04C21BAE-6866-4C7A-A7EC-C1B2E572D5B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Formulae written on a blackboard">
            <a:extLst>
              <a:ext uri="{FF2B5EF4-FFF2-40B4-BE49-F238E27FC236}">
                <a16:creationId xmlns:a16="http://schemas.microsoft.com/office/drawing/2014/main" id="{B7239D46-FF36-39B3-A999-01E3E74054E8}"/>
              </a:ext>
            </a:extLst>
          </p:cNvPr>
          <p:cNvPicPr>
            <a:picLocks noChangeAspect="1"/>
          </p:cNvPicPr>
          <p:nvPr/>
        </p:nvPicPr>
        <p:blipFill rotWithShape="1">
          <a:blip r:embed="rId2"/>
          <a:srcRect r="-2" b="15726"/>
          <a:stretch/>
        </p:blipFill>
        <p:spPr>
          <a:xfrm>
            <a:off x="1" y="1"/>
            <a:ext cx="12192000" cy="6857999"/>
          </a:xfrm>
          <a:prstGeom prst="rect">
            <a:avLst/>
          </a:prstGeom>
        </p:spPr>
      </p:pic>
      <p:sp useBgFill="1">
        <p:nvSpPr>
          <p:cNvPr id="11" name="Freeform: Shape 10">
            <a:extLst>
              <a:ext uri="{FF2B5EF4-FFF2-40B4-BE49-F238E27FC236}">
                <a16:creationId xmlns:a16="http://schemas.microsoft.com/office/drawing/2014/main" id="{7E7D0C94-08B4-48AE-8813-CC4D60294F4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23899" y="609600"/>
            <a:ext cx="5372101" cy="5513767"/>
          </a:xfrm>
          <a:custGeom>
            <a:avLst/>
            <a:gdLst>
              <a:gd name="connsiteX0" fmla="*/ 0 w 5372101"/>
              <a:gd name="connsiteY0" fmla="*/ 0 h 5513767"/>
              <a:gd name="connsiteX1" fmla="*/ 5372101 w 5372101"/>
              <a:gd name="connsiteY1" fmla="*/ 0 h 5513767"/>
              <a:gd name="connsiteX2" fmla="*/ 5372101 w 5372101"/>
              <a:gd name="connsiteY2" fmla="*/ 5513767 h 5513767"/>
              <a:gd name="connsiteX3" fmla="*/ 5363126 w 5372101"/>
              <a:gd name="connsiteY3" fmla="*/ 5512835 h 5513767"/>
              <a:gd name="connsiteX4" fmla="*/ 5316714 w 5372101"/>
              <a:gd name="connsiteY4" fmla="*/ 5491247 h 5513767"/>
              <a:gd name="connsiteX5" fmla="*/ 5198331 w 5372101"/>
              <a:gd name="connsiteY5" fmla="*/ 5470092 h 5513767"/>
              <a:gd name="connsiteX6" fmla="*/ 5150428 w 5372101"/>
              <a:gd name="connsiteY6" fmla="*/ 5472506 h 5513767"/>
              <a:gd name="connsiteX7" fmla="*/ 5085506 w 5372101"/>
              <a:gd name="connsiteY7" fmla="*/ 5468851 h 5513767"/>
              <a:gd name="connsiteX8" fmla="*/ 4968663 w 5372101"/>
              <a:gd name="connsiteY8" fmla="*/ 5470487 h 5513767"/>
              <a:gd name="connsiteX9" fmla="*/ 4815623 w 5372101"/>
              <a:gd name="connsiteY9" fmla="*/ 5458622 h 5513767"/>
              <a:gd name="connsiteX10" fmla="*/ 4716679 w 5372101"/>
              <a:gd name="connsiteY10" fmla="*/ 5405365 h 5513767"/>
              <a:gd name="connsiteX11" fmla="*/ 4704891 w 5372101"/>
              <a:gd name="connsiteY11" fmla="*/ 5411529 h 5513767"/>
              <a:gd name="connsiteX12" fmla="*/ 4630496 w 5372101"/>
              <a:gd name="connsiteY12" fmla="*/ 5396532 h 5513767"/>
              <a:gd name="connsiteX13" fmla="*/ 4506964 w 5372101"/>
              <a:gd name="connsiteY13" fmla="*/ 5396685 h 5513767"/>
              <a:gd name="connsiteX14" fmla="*/ 4427135 w 5372101"/>
              <a:gd name="connsiteY14" fmla="*/ 5358585 h 5513767"/>
              <a:gd name="connsiteX15" fmla="*/ 4028338 w 5372101"/>
              <a:gd name="connsiteY15" fmla="*/ 5313494 h 5513767"/>
              <a:gd name="connsiteX16" fmla="*/ 4015367 w 5372101"/>
              <a:gd name="connsiteY16" fmla="*/ 5320766 h 5513767"/>
              <a:gd name="connsiteX17" fmla="*/ 4002837 w 5372101"/>
              <a:gd name="connsiteY17" fmla="*/ 5322294 h 5513767"/>
              <a:gd name="connsiteX18" fmla="*/ 3997650 w 5372101"/>
              <a:gd name="connsiteY18" fmla="*/ 5329513 h 5513767"/>
              <a:gd name="connsiteX19" fmla="*/ 3991991 w 5372101"/>
              <a:gd name="connsiteY19" fmla="*/ 5331908 h 5513767"/>
              <a:gd name="connsiteX20" fmla="*/ 3925210 w 5372101"/>
              <a:gd name="connsiteY20" fmla="*/ 5319395 h 5513767"/>
              <a:gd name="connsiteX21" fmla="*/ 3837014 w 5372101"/>
              <a:gd name="connsiteY21" fmla="*/ 5289023 h 5513767"/>
              <a:gd name="connsiteX22" fmla="*/ 3798765 w 5372101"/>
              <a:gd name="connsiteY22" fmla="*/ 5299431 h 5513767"/>
              <a:gd name="connsiteX23" fmla="*/ 3792144 w 5372101"/>
              <a:gd name="connsiteY23" fmla="*/ 5301616 h 5513767"/>
              <a:gd name="connsiteX24" fmla="*/ 3766249 w 5372101"/>
              <a:gd name="connsiteY24" fmla="*/ 5301869 h 5513767"/>
              <a:gd name="connsiteX25" fmla="*/ 3718651 w 5372101"/>
              <a:gd name="connsiteY25" fmla="*/ 5320541 h 5513767"/>
              <a:gd name="connsiteX26" fmla="*/ 3671207 w 5372101"/>
              <a:gd name="connsiteY26" fmla="*/ 5318046 h 5513767"/>
              <a:gd name="connsiteX27" fmla="*/ 3446863 w 5372101"/>
              <a:gd name="connsiteY27" fmla="*/ 5294348 h 5513767"/>
              <a:gd name="connsiteX28" fmla="*/ 3312000 w 5372101"/>
              <a:gd name="connsiteY28" fmla="*/ 5286923 h 5513767"/>
              <a:gd name="connsiteX29" fmla="*/ 3259756 w 5372101"/>
              <a:gd name="connsiteY29" fmla="*/ 5294712 h 5513767"/>
              <a:gd name="connsiteX30" fmla="*/ 3187481 w 5372101"/>
              <a:gd name="connsiteY30" fmla="*/ 5298457 h 5513767"/>
              <a:gd name="connsiteX31" fmla="*/ 3124115 w 5372101"/>
              <a:gd name="connsiteY31" fmla="*/ 5294626 h 5513767"/>
              <a:gd name="connsiteX32" fmla="*/ 3099907 w 5372101"/>
              <a:gd name="connsiteY32" fmla="*/ 5302443 h 5513767"/>
              <a:gd name="connsiteX33" fmla="*/ 3017494 w 5372101"/>
              <a:gd name="connsiteY33" fmla="*/ 5301439 h 5513767"/>
              <a:gd name="connsiteX34" fmla="*/ 3010848 w 5372101"/>
              <a:gd name="connsiteY34" fmla="*/ 5307225 h 5513767"/>
              <a:gd name="connsiteX35" fmla="*/ 2994286 w 5372101"/>
              <a:gd name="connsiteY35" fmla="*/ 5309060 h 5513767"/>
              <a:gd name="connsiteX36" fmla="*/ 2988160 w 5372101"/>
              <a:gd name="connsiteY36" fmla="*/ 5310041 h 5513767"/>
              <a:gd name="connsiteX37" fmla="*/ 2984260 w 5372101"/>
              <a:gd name="connsiteY37" fmla="*/ 5307528 h 5513767"/>
              <a:gd name="connsiteX38" fmla="*/ 2979127 w 5372101"/>
              <a:gd name="connsiteY38" fmla="*/ 5308389 h 5513767"/>
              <a:gd name="connsiteX39" fmla="*/ 2978660 w 5372101"/>
              <a:gd name="connsiteY39" fmla="*/ 5311563 h 5513767"/>
              <a:gd name="connsiteX40" fmla="*/ 2946326 w 5372101"/>
              <a:gd name="connsiteY40" fmla="*/ 5316745 h 5513767"/>
              <a:gd name="connsiteX41" fmla="*/ 2713134 w 5372101"/>
              <a:gd name="connsiteY41" fmla="*/ 5331381 h 5513767"/>
              <a:gd name="connsiteX42" fmla="*/ 2352072 w 5372101"/>
              <a:gd name="connsiteY42" fmla="*/ 5342761 h 5513767"/>
              <a:gd name="connsiteX43" fmla="*/ 2260922 w 5372101"/>
              <a:gd name="connsiteY43" fmla="*/ 5328122 h 5513767"/>
              <a:gd name="connsiteX44" fmla="*/ 2178497 w 5372101"/>
              <a:gd name="connsiteY44" fmla="*/ 5351065 h 5513767"/>
              <a:gd name="connsiteX45" fmla="*/ 2034408 w 5372101"/>
              <a:gd name="connsiteY45" fmla="*/ 5307958 h 5513767"/>
              <a:gd name="connsiteX46" fmla="*/ 1831505 w 5372101"/>
              <a:gd name="connsiteY46" fmla="*/ 5312691 h 5513767"/>
              <a:gd name="connsiteX47" fmla="*/ 1710387 w 5372101"/>
              <a:gd name="connsiteY47" fmla="*/ 5308705 h 5513767"/>
              <a:gd name="connsiteX48" fmla="*/ 1664816 w 5372101"/>
              <a:gd name="connsiteY48" fmla="*/ 5296479 h 5513767"/>
              <a:gd name="connsiteX49" fmla="*/ 1600883 w 5372101"/>
              <a:gd name="connsiteY49" fmla="*/ 5286607 h 5513767"/>
              <a:gd name="connsiteX50" fmla="*/ 1488397 w 5372101"/>
              <a:gd name="connsiteY50" fmla="*/ 5260898 h 5513767"/>
              <a:gd name="connsiteX51" fmla="*/ 1336670 w 5372101"/>
              <a:gd name="connsiteY51" fmla="*/ 5240770 h 5513767"/>
              <a:gd name="connsiteX52" fmla="*/ 1224297 w 5372101"/>
              <a:gd name="connsiteY52" fmla="*/ 5271845 h 5513767"/>
              <a:gd name="connsiteX53" fmla="*/ 1214830 w 5372101"/>
              <a:gd name="connsiteY53" fmla="*/ 5263450 h 5513767"/>
              <a:gd name="connsiteX54" fmla="*/ 1138181 w 5372101"/>
              <a:gd name="connsiteY54" fmla="*/ 5262590 h 5513767"/>
              <a:gd name="connsiteX55" fmla="*/ 943575 w 5372101"/>
              <a:gd name="connsiteY55" fmla="*/ 5290808 h 5513767"/>
              <a:gd name="connsiteX56" fmla="*/ 529813 w 5372101"/>
              <a:gd name="connsiteY56" fmla="*/ 5218555 h 5513767"/>
              <a:gd name="connsiteX57" fmla="*/ 519546 w 5372101"/>
              <a:gd name="connsiteY57" fmla="*/ 5208845 h 5513767"/>
              <a:gd name="connsiteX58" fmla="*/ 507906 w 5372101"/>
              <a:gd name="connsiteY58" fmla="*/ 5204779 h 5513767"/>
              <a:gd name="connsiteX59" fmla="*/ 505153 w 5372101"/>
              <a:gd name="connsiteY59" fmla="*/ 5196726 h 5513767"/>
              <a:gd name="connsiteX60" fmla="*/ 500429 w 5372101"/>
              <a:gd name="connsiteY60" fmla="*/ 5193241 h 5513767"/>
              <a:gd name="connsiteX61" fmla="*/ 431923 w 5372101"/>
              <a:gd name="connsiteY61" fmla="*/ 5191553 h 5513767"/>
              <a:gd name="connsiteX62" fmla="*/ 337115 w 5372101"/>
              <a:gd name="connsiteY62" fmla="*/ 5202714 h 5513767"/>
              <a:gd name="connsiteX63" fmla="*/ 303383 w 5372101"/>
              <a:gd name="connsiteY63" fmla="*/ 5184750 h 5513767"/>
              <a:gd name="connsiteX64" fmla="*/ 297664 w 5372101"/>
              <a:gd name="connsiteY64" fmla="*/ 5181269 h 5513767"/>
              <a:gd name="connsiteX65" fmla="*/ 272701 w 5372101"/>
              <a:gd name="connsiteY65" fmla="*/ 5175678 h 5513767"/>
              <a:gd name="connsiteX66" fmla="*/ 268242 w 5372101"/>
              <a:gd name="connsiteY66" fmla="*/ 5163678 h 5513767"/>
              <a:gd name="connsiteX67" fmla="*/ 232517 w 5372101"/>
              <a:gd name="connsiteY67" fmla="*/ 5147792 h 5513767"/>
              <a:gd name="connsiteX68" fmla="*/ 185851 w 5372101"/>
              <a:gd name="connsiteY68" fmla="*/ 5140408 h 5513767"/>
              <a:gd name="connsiteX69" fmla="*/ 20337 w 5372101"/>
              <a:gd name="connsiteY69" fmla="*/ 5113040 h 5513767"/>
              <a:gd name="connsiteX70" fmla="*/ 0 w 5372101"/>
              <a:gd name="connsiteY70" fmla="*/ 5112243 h 55137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5372101" h="5513767">
                <a:moveTo>
                  <a:pt x="0" y="0"/>
                </a:moveTo>
                <a:lnTo>
                  <a:pt x="5372101" y="0"/>
                </a:lnTo>
                <a:lnTo>
                  <a:pt x="5372101" y="5513767"/>
                </a:lnTo>
                <a:lnTo>
                  <a:pt x="5363126" y="5512835"/>
                </a:lnTo>
                <a:cubicBezTo>
                  <a:pt x="5345779" y="5509071"/>
                  <a:pt x="5329767" y="5502649"/>
                  <a:pt x="5316714" y="5491247"/>
                </a:cubicBezTo>
                <a:cubicBezTo>
                  <a:pt x="5295689" y="5478131"/>
                  <a:pt x="5219502" y="5459909"/>
                  <a:pt x="5198331" y="5470092"/>
                </a:cubicBezTo>
                <a:cubicBezTo>
                  <a:pt x="5181052" y="5469102"/>
                  <a:pt x="5165047" y="5459569"/>
                  <a:pt x="5150428" y="5472506"/>
                </a:cubicBezTo>
                <a:cubicBezTo>
                  <a:pt x="5129562" y="5487248"/>
                  <a:pt x="5088050" y="5445894"/>
                  <a:pt x="5085506" y="5468851"/>
                </a:cubicBezTo>
                <a:cubicBezTo>
                  <a:pt x="5055692" y="5440170"/>
                  <a:pt x="5006122" y="5469577"/>
                  <a:pt x="4968663" y="5470487"/>
                </a:cubicBezTo>
                <a:cubicBezTo>
                  <a:pt x="4947085" y="5444049"/>
                  <a:pt x="4889767" y="5472037"/>
                  <a:pt x="4815623" y="5458622"/>
                </a:cubicBezTo>
                <a:cubicBezTo>
                  <a:pt x="4792418" y="5428488"/>
                  <a:pt x="4765548" y="5449887"/>
                  <a:pt x="4716679" y="5405365"/>
                </a:cubicBezTo>
                <a:cubicBezTo>
                  <a:pt x="4713235" y="5407807"/>
                  <a:pt x="4709266" y="5409883"/>
                  <a:pt x="4704891" y="5411529"/>
                </a:cubicBezTo>
                <a:cubicBezTo>
                  <a:pt x="4679473" y="5421092"/>
                  <a:pt x="4646164" y="5414379"/>
                  <a:pt x="4630496" y="5396532"/>
                </a:cubicBezTo>
                <a:cubicBezTo>
                  <a:pt x="4590205" y="5365061"/>
                  <a:pt x="4548419" y="5412094"/>
                  <a:pt x="4506964" y="5396685"/>
                </a:cubicBezTo>
                <a:lnTo>
                  <a:pt x="4427135" y="5358585"/>
                </a:lnTo>
                <a:cubicBezTo>
                  <a:pt x="4319267" y="5308575"/>
                  <a:pt x="4152341" y="5340956"/>
                  <a:pt x="4028338" y="5313494"/>
                </a:cubicBezTo>
                <a:lnTo>
                  <a:pt x="4015367" y="5320766"/>
                </a:lnTo>
                <a:lnTo>
                  <a:pt x="4002837" y="5322294"/>
                </a:lnTo>
                <a:lnTo>
                  <a:pt x="3997650" y="5329513"/>
                </a:lnTo>
                <a:lnTo>
                  <a:pt x="3991991" y="5331908"/>
                </a:lnTo>
                <a:cubicBezTo>
                  <a:pt x="3969659" y="5338581"/>
                  <a:pt x="3978880" y="5316131"/>
                  <a:pt x="3925210" y="5319395"/>
                </a:cubicBezTo>
                <a:cubicBezTo>
                  <a:pt x="3947765" y="5277139"/>
                  <a:pt x="3837331" y="5338342"/>
                  <a:pt x="3837014" y="5289023"/>
                </a:cubicBezTo>
                <a:cubicBezTo>
                  <a:pt x="3824001" y="5291376"/>
                  <a:pt x="3811407" y="5295212"/>
                  <a:pt x="3798765" y="5299431"/>
                </a:cubicBezTo>
                <a:lnTo>
                  <a:pt x="3792144" y="5301616"/>
                </a:lnTo>
                <a:lnTo>
                  <a:pt x="3766249" y="5301869"/>
                </a:lnTo>
                <a:lnTo>
                  <a:pt x="3718651" y="5320541"/>
                </a:lnTo>
                <a:cubicBezTo>
                  <a:pt x="3703968" y="5321892"/>
                  <a:pt x="3688308" y="5321427"/>
                  <a:pt x="3671207" y="5318046"/>
                </a:cubicBezTo>
                <a:cubicBezTo>
                  <a:pt x="3616458" y="5288532"/>
                  <a:pt x="3514048" y="5333307"/>
                  <a:pt x="3446863" y="5294348"/>
                </a:cubicBezTo>
                <a:cubicBezTo>
                  <a:pt x="3420930" y="5283822"/>
                  <a:pt x="3333157" y="5274511"/>
                  <a:pt x="3312000" y="5286923"/>
                </a:cubicBezTo>
                <a:cubicBezTo>
                  <a:pt x="3292759" y="5287903"/>
                  <a:pt x="3273112" y="5280334"/>
                  <a:pt x="3259756" y="5294712"/>
                </a:cubicBezTo>
                <a:cubicBezTo>
                  <a:pt x="3239905" y="5311572"/>
                  <a:pt x="3185410" y="5275588"/>
                  <a:pt x="3187481" y="5298457"/>
                </a:cubicBezTo>
                <a:cubicBezTo>
                  <a:pt x="3168018" y="5286036"/>
                  <a:pt x="3146200" y="5288458"/>
                  <a:pt x="3124115" y="5294626"/>
                </a:cubicBezTo>
                <a:lnTo>
                  <a:pt x="3099907" y="5302443"/>
                </a:lnTo>
                <a:lnTo>
                  <a:pt x="3017494" y="5301439"/>
                </a:lnTo>
                <a:lnTo>
                  <a:pt x="3010848" y="5307225"/>
                </a:lnTo>
                <a:lnTo>
                  <a:pt x="2994286" y="5309060"/>
                </a:lnTo>
                <a:lnTo>
                  <a:pt x="2988160" y="5310041"/>
                </a:lnTo>
                <a:lnTo>
                  <a:pt x="2984260" y="5307528"/>
                </a:lnTo>
                <a:cubicBezTo>
                  <a:pt x="2981957" y="5306419"/>
                  <a:pt x="2980273" y="5306402"/>
                  <a:pt x="2979127" y="5308389"/>
                </a:cubicBezTo>
                <a:cubicBezTo>
                  <a:pt x="2978971" y="5309447"/>
                  <a:pt x="2978816" y="5310505"/>
                  <a:pt x="2978660" y="5311563"/>
                </a:cubicBezTo>
                <a:lnTo>
                  <a:pt x="2946326" y="5316745"/>
                </a:lnTo>
                <a:lnTo>
                  <a:pt x="2713134" y="5331381"/>
                </a:lnTo>
                <a:cubicBezTo>
                  <a:pt x="2610698" y="5372328"/>
                  <a:pt x="2466037" y="5325762"/>
                  <a:pt x="2352072" y="5342761"/>
                </a:cubicBezTo>
                <a:cubicBezTo>
                  <a:pt x="2293501" y="5293708"/>
                  <a:pt x="2324138" y="5338538"/>
                  <a:pt x="2260922" y="5328122"/>
                </a:cubicBezTo>
                <a:cubicBezTo>
                  <a:pt x="2275681" y="5372347"/>
                  <a:pt x="2185007" y="5301703"/>
                  <a:pt x="2178497" y="5351065"/>
                </a:cubicBezTo>
                <a:cubicBezTo>
                  <a:pt x="2133294" y="5337229"/>
                  <a:pt x="2097074" y="5300208"/>
                  <a:pt x="2034408" y="5307958"/>
                </a:cubicBezTo>
                <a:cubicBezTo>
                  <a:pt x="1981894" y="5332879"/>
                  <a:pt x="1896288" y="5279365"/>
                  <a:pt x="1831505" y="5312691"/>
                </a:cubicBezTo>
                <a:cubicBezTo>
                  <a:pt x="1807063" y="5321035"/>
                  <a:pt x="1727674" y="5322925"/>
                  <a:pt x="1710387" y="5308705"/>
                </a:cubicBezTo>
                <a:cubicBezTo>
                  <a:pt x="1693367" y="5306094"/>
                  <a:pt x="1674901" y="5312009"/>
                  <a:pt x="1664816" y="5296479"/>
                </a:cubicBezTo>
                <a:cubicBezTo>
                  <a:pt x="1649255" y="5277912"/>
                  <a:pt x="1596152" y="5309335"/>
                  <a:pt x="1600883" y="5286607"/>
                </a:cubicBezTo>
                <a:cubicBezTo>
                  <a:pt x="1563066" y="5308189"/>
                  <a:pt x="1524339" y="5269513"/>
                  <a:pt x="1488397" y="5260898"/>
                </a:cubicBezTo>
                <a:cubicBezTo>
                  <a:pt x="1459246" y="5282011"/>
                  <a:pt x="1412580" y="5243108"/>
                  <a:pt x="1336670" y="5240770"/>
                </a:cubicBezTo>
                <a:cubicBezTo>
                  <a:pt x="1304792" y="5265122"/>
                  <a:pt x="1285508" y="5238878"/>
                  <a:pt x="1224297" y="5271845"/>
                </a:cubicBezTo>
                <a:cubicBezTo>
                  <a:pt x="1221731" y="5268771"/>
                  <a:pt x="1218543" y="5265944"/>
                  <a:pt x="1214830" y="5263450"/>
                </a:cubicBezTo>
                <a:cubicBezTo>
                  <a:pt x="1193241" y="5248952"/>
                  <a:pt x="1158925" y="5248567"/>
                  <a:pt x="1138181" y="5262590"/>
                </a:cubicBezTo>
                <a:lnTo>
                  <a:pt x="943575" y="5290808"/>
                </a:lnTo>
                <a:cubicBezTo>
                  <a:pt x="823587" y="5316899"/>
                  <a:pt x="658340" y="5217603"/>
                  <a:pt x="529813" y="5218555"/>
                </a:cubicBezTo>
                <a:lnTo>
                  <a:pt x="519546" y="5208845"/>
                </a:lnTo>
                <a:lnTo>
                  <a:pt x="507906" y="5204779"/>
                </a:lnTo>
                <a:lnTo>
                  <a:pt x="505153" y="5196726"/>
                </a:lnTo>
                <a:lnTo>
                  <a:pt x="500429" y="5193241"/>
                </a:lnTo>
                <a:cubicBezTo>
                  <a:pt x="480923" y="5182176"/>
                  <a:pt x="482807" y="5205793"/>
                  <a:pt x="431923" y="5191553"/>
                </a:cubicBezTo>
                <a:cubicBezTo>
                  <a:pt x="440499" y="5237077"/>
                  <a:pt x="352872" y="5155083"/>
                  <a:pt x="337115" y="5202714"/>
                </a:cubicBezTo>
                <a:cubicBezTo>
                  <a:pt x="325265" y="5197752"/>
                  <a:pt x="314288" y="5191441"/>
                  <a:pt x="303383" y="5184750"/>
                </a:cubicBezTo>
                <a:lnTo>
                  <a:pt x="297664" y="5181269"/>
                </a:lnTo>
                <a:lnTo>
                  <a:pt x="272701" y="5175678"/>
                </a:lnTo>
                <a:lnTo>
                  <a:pt x="268242" y="5163678"/>
                </a:lnTo>
                <a:lnTo>
                  <a:pt x="232517" y="5147792"/>
                </a:lnTo>
                <a:cubicBezTo>
                  <a:pt x="218741" y="5143453"/>
                  <a:pt x="203450" y="5140668"/>
                  <a:pt x="185851" y="5140408"/>
                </a:cubicBezTo>
                <a:cubicBezTo>
                  <a:pt x="139207" y="5153337"/>
                  <a:pt x="79723" y="5120316"/>
                  <a:pt x="20337" y="5113040"/>
                </a:cubicBezTo>
                <a:lnTo>
                  <a:pt x="0" y="5112243"/>
                </a:lnTo>
                <a:close/>
              </a:path>
            </a:pathLst>
          </a:custGeom>
          <a:ln>
            <a:noFill/>
          </a:ln>
          <a:effectLst>
            <a:outerShdw blurRad="25400" dist="12700" dir="3000000" algn="tl" rotWithShape="0">
              <a:prstClr val="black">
                <a:alpha val="27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E13EF740-DB6F-1709-BB3D-7EE647A1AC25}"/>
              </a:ext>
            </a:extLst>
          </p:cNvPr>
          <p:cNvSpPr>
            <a:spLocks noGrp="1"/>
          </p:cNvSpPr>
          <p:nvPr>
            <p:ph type="title"/>
          </p:nvPr>
        </p:nvSpPr>
        <p:spPr>
          <a:xfrm>
            <a:off x="1037809" y="1071350"/>
            <a:ext cx="4775162" cy="1339382"/>
          </a:xfrm>
          <a:solidFill>
            <a:srgbClr val="ED7D31"/>
          </a:solidFill>
        </p:spPr>
        <p:txBody>
          <a:bodyPr>
            <a:normAutofit/>
          </a:bodyPr>
          <a:lstStyle/>
          <a:p>
            <a:pPr algn="ctr"/>
            <a:r>
              <a:rPr lang="en-US" sz="3600">
                <a:cs typeface="Calibri Light"/>
              </a:rPr>
              <a:t>Formula: </a:t>
            </a:r>
            <a:br>
              <a:rPr lang="en-US" sz="3600">
                <a:cs typeface="Calibri Light"/>
              </a:rPr>
            </a:br>
            <a:r>
              <a:rPr lang="en-US" sz="3600">
                <a:cs typeface="Calibri Light"/>
              </a:rPr>
              <a:t>Kicking Stats</a:t>
            </a:r>
            <a:endParaRPr lang="en-US" sz="3600"/>
          </a:p>
        </p:txBody>
      </p:sp>
      <p:sp>
        <p:nvSpPr>
          <p:cNvPr id="13" name="Rectangle 6">
            <a:extLst>
              <a:ext uri="{FF2B5EF4-FFF2-40B4-BE49-F238E27FC236}">
                <a16:creationId xmlns:a16="http://schemas.microsoft.com/office/drawing/2014/main" id="{F0C518C2-0AA4-470C-87B9-9CBF428FBA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564666" y="399531"/>
            <a:ext cx="1707751" cy="428984"/>
          </a:xfrm>
          <a:custGeom>
            <a:avLst/>
            <a:gdLst>
              <a:gd name="connsiteX0" fmla="*/ 0 w 2142503"/>
              <a:gd name="connsiteY0" fmla="*/ 0 h 571500"/>
              <a:gd name="connsiteX1" fmla="*/ 2142503 w 2142503"/>
              <a:gd name="connsiteY1" fmla="*/ 0 h 571500"/>
              <a:gd name="connsiteX2" fmla="*/ 2142503 w 2142503"/>
              <a:gd name="connsiteY2" fmla="*/ 571500 h 571500"/>
              <a:gd name="connsiteX3" fmla="*/ 0 w 2142503"/>
              <a:gd name="connsiteY3" fmla="*/ 571500 h 571500"/>
              <a:gd name="connsiteX4" fmla="*/ 0 w 2142503"/>
              <a:gd name="connsiteY4" fmla="*/ 0 h 571500"/>
              <a:gd name="connsiteX0" fmla="*/ 0 w 2142503"/>
              <a:gd name="connsiteY0" fmla="*/ 0 h 582145"/>
              <a:gd name="connsiteX1" fmla="*/ 2142503 w 2142503"/>
              <a:gd name="connsiteY1" fmla="*/ 0 h 582145"/>
              <a:gd name="connsiteX2" fmla="*/ 2142503 w 2142503"/>
              <a:gd name="connsiteY2" fmla="*/ 571500 h 582145"/>
              <a:gd name="connsiteX3" fmla="*/ 2050917 w 2142503"/>
              <a:gd name="connsiteY3" fmla="*/ 582088 h 582145"/>
              <a:gd name="connsiteX4" fmla="*/ 0 w 2142503"/>
              <a:gd name="connsiteY4" fmla="*/ 571500 h 582145"/>
              <a:gd name="connsiteX5" fmla="*/ 0 w 2142503"/>
              <a:gd name="connsiteY5" fmla="*/ 0 h 582145"/>
              <a:gd name="connsiteX0" fmla="*/ 0 w 2159832"/>
              <a:gd name="connsiteY0" fmla="*/ 0 h 582145"/>
              <a:gd name="connsiteX1" fmla="*/ 2142503 w 2159832"/>
              <a:gd name="connsiteY1" fmla="*/ 0 h 582145"/>
              <a:gd name="connsiteX2" fmla="*/ 2159829 w 2159832"/>
              <a:gd name="connsiteY2" fmla="*/ 96526 h 582145"/>
              <a:gd name="connsiteX3" fmla="*/ 2142503 w 2159832"/>
              <a:gd name="connsiteY3" fmla="*/ 571500 h 582145"/>
              <a:gd name="connsiteX4" fmla="*/ 2050917 w 2159832"/>
              <a:gd name="connsiteY4" fmla="*/ 582088 h 582145"/>
              <a:gd name="connsiteX5" fmla="*/ 0 w 2159832"/>
              <a:gd name="connsiteY5" fmla="*/ 571500 h 582145"/>
              <a:gd name="connsiteX6" fmla="*/ 0 w 2159832"/>
              <a:gd name="connsiteY6" fmla="*/ 0 h 582145"/>
              <a:gd name="connsiteX0" fmla="*/ 0 w 2159832"/>
              <a:gd name="connsiteY0" fmla="*/ 12386 h 594531"/>
              <a:gd name="connsiteX1" fmla="*/ 67826 w 2159832"/>
              <a:gd name="connsiteY1" fmla="*/ 0 h 594531"/>
              <a:gd name="connsiteX2" fmla="*/ 2142503 w 2159832"/>
              <a:gd name="connsiteY2" fmla="*/ 12386 h 594531"/>
              <a:gd name="connsiteX3" fmla="*/ 2159829 w 2159832"/>
              <a:gd name="connsiteY3" fmla="*/ 108912 h 594531"/>
              <a:gd name="connsiteX4" fmla="*/ 2142503 w 2159832"/>
              <a:gd name="connsiteY4" fmla="*/ 583886 h 594531"/>
              <a:gd name="connsiteX5" fmla="*/ 2050917 w 2159832"/>
              <a:gd name="connsiteY5" fmla="*/ 594474 h 594531"/>
              <a:gd name="connsiteX6" fmla="*/ 0 w 2159832"/>
              <a:gd name="connsiteY6" fmla="*/ 583886 h 594531"/>
              <a:gd name="connsiteX7" fmla="*/ 0 w 2159832"/>
              <a:gd name="connsiteY7" fmla="*/ 12386 h 594531"/>
              <a:gd name="connsiteX0" fmla="*/ 0 w 2168908"/>
              <a:gd name="connsiteY0" fmla="*/ 26000 h 594531"/>
              <a:gd name="connsiteX1" fmla="*/ 76902 w 2168908"/>
              <a:gd name="connsiteY1" fmla="*/ 0 h 594531"/>
              <a:gd name="connsiteX2" fmla="*/ 2151579 w 2168908"/>
              <a:gd name="connsiteY2" fmla="*/ 12386 h 594531"/>
              <a:gd name="connsiteX3" fmla="*/ 2168905 w 2168908"/>
              <a:gd name="connsiteY3" fmla="*/ 108912 h 594531"/>
              <a:gd name="connsiteX4" fmla="*/ 2151579 w 2168908"/>
              <a:gd name="connsiteY4" fmla="*/ 583886 h 594531"/>
              <a:gd name="connsiteX5" fmla="*/ 2059993 w 2168908"/>
              <a:gd name="connsiteY5" fmla="*/ 594474 h 594531"/>
              <a:gd name="connsiteX6" fmla="*/ 9076 w 2168908"/>
              <a:gd name="connsiteY6" fmla="*/ 583886 h 594531"/>
              <a:gd name="connsiteX7" fmla="*/ 0 w 2168908"/>
              <a:gd name="connsiteY7" fmla="*/ 26000 h 594531"/>
              <a:gd name="connsiteX0" fmla="*/ 5393 w 2174301"/>
              <a:gd name="connsiteY0" fmla="*/ 26000 h 594531"/>
              <a:gd name="connsiteX1" fmla="*/ 82295 w 2174301"/>
              <a:gd name="connsiteY1" fmla="*/ 0 h 594531"/>
              <a:gd name="connsiteX2" fmla="*/ 2156972 w 2174301"/>
              <a:gd name="connsiteY2" fmla="*/ 12386 h 594531"/>
              <a:gd name="connsiteX3" fmla="*/ 2174298 w 2174301"/>
              <a:gd name="connsiteY3" fmla="*/ 108912 h 594531"/>
              <a:gd name="connsiteX4" fmla="*/ 2156972 w 2174301"/>
              <a:gd name="connsiteY4" fmla="*/ 583886 h 594531"/>
              <a:gd name="connsiteX5" fmla="*/ 2065386 w 2174301"/>
              <a:gd name="connsiteY5" fmla="*/ 594474 h 594531"/>
              <a:gd name="connsiteX6" fmla="*/ 14469 w 2174301"/>
              <a:gd name="connsiteY6" fmla="*/ 583886 h 594531"/>
              <a:gd name="connsiteX7" fmla="*/ 5393 w 2174301"/>
              <a:gd name="connsiteY7" fmla="*/ 26000 h 594531"/>
              <a:gd name="connsiteX0" fmla="*/ 5393 w 2174301"/>
              <a:gd name="connsiteY0" fmla="*/ 26000 h 594531"/>
              <a:gd name="connsiteX1" fmla="*/ 82295 w 2174301"/>
              <a:gd name="connsiteY1" fmla="*/ 0 h 594531"/>
              <a:gd name="connsiteX2" fmla="*/ 2156972 w 2174301"/>
              <a:gd name="connsiteY2" fmla="*/ 12386 h 594531"/>
              <a:gd name="connsiteX3" fmla="*/ 2174298 w 2174301"/>
              <a:gd name="connsiteY3" fmla="*/ 108912 h 594531"/>
              <a:gd name="connsiteX4" fmla="*/ 2156972 w 2174301"/>
              <a:gd name="connsiteY4" fmla="*/ 583886 h 594531"/>
              <a:gd name="connsiteX5" fmla="*/ 2065386 w 2174301"/>
              <a:gd name="connsiteY5" fmla="*/ 594474 h 594531"/>
              <a:gd name="connsiteX6" fmla="*/ 14469 w 2174301"/>
              <a:gd name="connsiteY6" fmla="*/ 583886 h 594531"/>
              <a:gd name="connsiteX7" fmla="*/ 5393 w 2174301"/>
              <a:gd name="connsiteY7" fmla="*/ 26000 h 594531"/>
              <a:gd name="connsiteX0" fmla="*/ 5393 w 2174301"/>
              <a:gd name="connsiteY0" fmla="*/ 26000 h 594531"/>
              <a:gd name="connsiteX1" fmla="*/ 82295 w 2174301"/>
              <a:gd name="connsiteY1" fmla="*/ 0 h 594531"/>
              <a:gd name="connsiteX2" fmla="*/ 2156972 w 2174301"/>
              <a:gd name="connsiteY2" fmla="*/ 12386 h 594531"/>
              <a:gd name="connsiteX3" fmla="*/ 2174298 w 2174301"/>
              <a:gd name="connsiteY3" fmla="*/ 108912 h 594531"/>
              <a:gd name="connsiteX4" fmla="*/ 2156972 w 2174301"/>
              <a:gd name="connsiteY4" fmla="*/ 583886 h 594531"/>
              <a:gd name="connsiteX5" fmla="*/ 2065386 w 2174301"/>
              <a:gd name="connsiteY5" fmla="*/ 594474 h 594531"/>
              <a:gd name="connsiteX6" fmla="*/ 14469 w 2174301"/>
              <a:gd name="connsiteY6" fmla="*/ 583886 h 594531"/>
              <a:gd name="connsiteX7" fmla="*/ 5393 w 2174301"/>
              <a:gd name="connsiteY7" fmla="*/ 26000 h 594531"/>
              <a:gd name="connsiteX0" fmla="*/ 5393 w 2174301"/>
              <a:gd name="connsiteY0" fmla="*/ 26000 h 594531"/>
              <a:gd name="connsiteX1" fmla="*/ 82295 w 2174301"/>
              <a:gd name="connsiteY1" fmla="*/ 0 h 594531"/>
              <a:gd name="connsiteX2" fmla="*/ 2156972 w 2174301"/>
              <a:gd name="connsiteY2" fmla="*/ 12386 h 594531"/>
              <a:gd name="connsiteX3" fmla="*/ 2174298 w 2174301"/>
              <a:gd name="connsiteY3" fmla="*/ 108912 h 594531"/>
              <a:gd name="connsiteX4" fmla="*/ 2156972 w 2174301"/>
              <a:gd name="connsiteY4" fmla="*/ 583886 h 594531"/>
              <a:gd name="connsiteX5" fmla="*/ 2065386 w 2174301"/>
              <a:gd name="connsiteY5" fmla="*/ 594474 h 594531"/>
              <a:gd name="connsiteX6" fmla="*/ 14469 w 2174301"/>
              <a:gd name="connsiteY6" fmla="*/ 583886 h 594531"/>
              <a:gd name="connsiteX7" fmla="*/ 5393 w 2174301"/>
              <a:gd name="connsiteY7" fmla="*/ 26000 h 594531"/>
              <a:gd name="connsiteX0" fmla="*/ 147197 w 2316105"/>
              <a:gd name="connsiteY0" fmla="*/ 26000 h 594531"/>
              <a:gd name="connsiteX1" fmla="*/ 224099 w 2316105"/>
              <a:gd name="connsiteY1" fmla="*/ 0 h 594531"/>
              <a:gd name="connsiteX2" fmla="*/ 2298776 w 2316105"/>
              <a:gd name="connsiteY2" fmla="*/ 12386 h 594531"/>
              <a:gd name="connsiteX3" fmla="*/ 2316102 w 2316105"/>
              <a:gd name="connsiteY3" fmla="*/ 108912 h 594531"/>
              <a:gd name="connsiteX4" fmla="*/ 2298776 w 2316105"/>
              <a:gd name="connsiteY4" fmla="*/ 583886 h 594531"/>
              <a:gd name="connsiteX5" fmla="*/ 2207190 w 2316105"/>
              <a:gd name="connsiteY5" fmla="*/ 594474 h 594531"/>
              <a:gd name="connsiteX6" fmla="*/ 156273 w 2316105"/>
              <a:gd name="connsiteY6" fmla="*/ 583886 h 594531"/>
              <a:gd name="connsiteX7" fmla="*/ 142416 w 2316105"/>
              <a:gd name="connsiteY7" fmla="*/ 235975 h 594531"/>
              <a:gd name="connsiteX8" fmla="*/ 147197 w 2316105"/>
              <a:gd name="connsiteY8" fmla="*/ 26000 h 594531"/>
              <a:gd name="connsiteX0" fmla="*/ 154684 w 2323592"/>
              <a:gd name="connsiteY0" fmla="*/ 26000 h 594531"/>
              <a:gd name="connsiteX1" fmla="*/ 231586 w 2323592"/>
              <a:gd name="connsiteY1" fmla="*/ 0 h 594531"/>
              <a:gd name="connsiteX2" fmla="*/ 2306263 w 2323592"/>
              <a:gd name="connsiteY2" fmla="*/ 12386 h 594531"/>
              <a:gd name="connsiteX3" fmla="*/ 2323589 w 2323592"/>
              <a:gd name="connsiteY3" fmla="*/ 108912 h 594531"/>
              <a:gd name="connsiteX4" fmla="*/ 2306263 w 2323592"/>
              <a:gd name="connsiteY4" fmla="*/ 583886 h 594531"/>
              <a:gd name="connsiteX5" fmla="*/ 2214677 w 2323592"/>
              <a:gd name="connsiteY5" fmla="*/ 594474 h 594531"/>
              <a:gd name="connsiteX6" fmla="*/ 163760 w 2323592"/>
              <a:gd name="connsiteY6" fmla="*/ 583886 h 594531"/>
              <a:gd name="connsiteX7" fmla="*/ 158979 w 2323592"/>
              <a:gd name="connsiteY7" fmla="*/ 403879 h 594531"/>
              <a:gd name="connsiteX8" fmla="*/ 149903 w 2323592"/>
              <a:gd name="connsiteY8" fmla="*/ 235975 h 594531"/>
              <a:gd name="connsiteX9" fmla="*/ 154684 w 2323592"/>
              <a:gd name="connsiteY9" fmla="*/ 26000 h 594531"/>
              <a:gd name="connsiteX0" fmla="*/ 13665 w 2182573"/>
              <a:gd name="connsiteY0" fmla="*/ 26000 h 594531"/>
              <a:gd name="connsiteX1" fmla="*/ 90567 w 2182573"/>
              <a:gd name="connsiteY1" fmla="*/ 0 h 594531"/>
              <a:gd name="connsiteX2" fmla="*/ 2165244 w 2182573"/>
              <a:gd name="connsiteY2" fmla="*/ 12386 h 594531"/>
              <a:gd name="connsiteX3" fmla="*/ 2182570 w 2182573"/>
              <a:gd name="connsiteY3" fmla="*/ 108912 h 594531"/>
              <a:gd name="connsiteX4" fmla="*/ 2165244 w 2182573"/>
              <a:gd name="connsiteY4" fmla="*/ 583886 h 594531"/>
              <a:gd name="connsiteX5" fmla="*/ 2073658 w 2182573"/>
              <a:gd name="connsiteY5" fmla="*/ 594474 h 594531"/>
              <a:gd name="connsiteX6" fmla="*/ 22741 w 2182573"/>
              <a:gd name="connsiteY6" fmla="*/ 583886 h 594531"/>
              <a:gd name="connsiteX7" fmla="*/ 17960 w 2182573"/>
              <a:gd name="connsiteY7" fmla="*/ 403879 h 594531"/>
              <a:gd name="connsiteX8" fmla="*/ 8884 w 2182573"/>
              <a:gd name="connsiteY8" fmla="*/ 235975 h 594531"/>
              <a:gd name="connsiteX9" fmla="*/ 13665 w 2182573"/>
              <a:gd name="connsiteY9" fmla="*/ 26000 h 594531"/>
              <a:gd name="connsiteX0" fmla="*/ 13665 w 2202120"/>
              <a:gd name="connsiteY0" fmla="*/ 26000 h 594531"/>
              <a:gd name="connsiteX1" fmla="*/ 90567 w 2202120"/>
              <a:gd name="connsiteY1" fmla="*/ 0 h 594531"/>
              <a:gd name="connsiteX2" fmla="*/ 2165244 w 2202120"/>
              <a:gd name="connsiteY2" fmla="*/ 12386 h 594531"/>
              <a:gd name="connsiteX3" fmla="*/ 2182570 w 2202120"/>
              <a:gd name="connsiteY3" fmla="*/ 108912 h 594531"/>
              <a:gd name="connsiteX4" fmla="*/ 2192471 w 2202120"/>
              <a:gd name="connsiteY4" fmla="*/ 583886 h 594531"/>
              <a:gd name="connsiteX5" fmla="*/ 2073658 w 2202120"/>
              <a:gd name="connsiteY5" fmla="*/ 594474 h 594531"/>
              <a:gd name="connsiteX6" fmla="*/ 22741 w 2202120"/>
              <a:gd name="connsiteY6" fmla="*/ 583886 h 594531"/>
              <a:gd name="connsiteX7" fmla="*/ 17960 w 2202120"/>
              <a:gd name="connsiteY7" fmla="*/ 403879 h 594531"/>
              <a:gd name="connsiteX8" fmla="*/ 8884 w 2202120"/>
              <a:gd name="connsiteY8" fmla="*/ 235975 h 594531"/>
              <a:gd name="connsiteX9" fmla="*/ 13665 w 2202120"/>
              <a:gd name="connsiteY9" fmla="*/ 26000 h 594531"/>
              <a:gd name="connsiteX0" fmla="*/ 13665 w 2202036"/>
              <a:gd name="connsiteY0" fmla="*/ 26000 h 594531"/>
              <a:gd name="connsiteX1" fmla="*/ 90567 w 2202036"/>
              <a:gd name="connsiteY1" fmla="*/ 0 h 594531"/>
              <a:gd name="connsiteX2" fmla="*/ 2165244 w 2202036"/>
              <a:gd name="connsiteY2" fmla="*/ 12386 h 594531"/>
              <a:gd name="connsiteX3" fmla="*/ 2182570 w 2202036"/>
              <a:gd name="connsiteY3" fmla="*/ 108912 h 594531"/>
              <a:gd name="connsiteX4" fmla="*/ 2191645 w 2202036"/>
              <a:gd name="connsiteY4" fmla="*/ 422031 h 594531"/>
              <a:gd name="connsiteX5" fmla="*/ 2192471 w 2202036"/>
              <a:gd name="connsiteY5" fmla="*/ 583886 h 594531"/>
              <a:gd name="connsiteX6" fmla="*/ 2073658 w 2202036"/>
              <a:gd name="connsiteY6" fmla="*/ 594474 h 594531"/>
              <a:gd name="connsiteX7" fmla="*/ 22741 w 2202036"/>
              <a:gd name="connsiteY7" fmla="*/ 583886 h 594531"/>
              <a:gd name="connsiteX8" fmla="*/ 17960 w 2202036"/>
              <a:gd name="connsiteY8" fmla="*/ 403879 h 594531"/>
              <a:gd name="connsiteX9" fmla="*/ 8884 w 2202036"/>
              <a:gd name="connsiteY9" fmla="*/ 235975 h 594531"/>
              <a:gd name="connsiteX10" fmla="*/ 13665 w 2202036"/>
              <a:gd name="connsiteY10" fmla="*/ 26000 h 594531"/>
              <a:gd name="connsiteX0" fmla="*/ 142254 w 2330625"/>
              <a:gd name="connsiteY0" fmla="*/ 26000 h 594531"/>
              <a:gd name="connsiteX1" fmla="*/ 219156 w 2330625"/>
              <a:gd name="connsiteY1" fmla="*/ 0 h 594531"/>
              <a:gd name="connsiteX2" fmla="*/ 2293833 w 2330625"/>
              <a:gd name="connsiteY2" fmla="*/ 12386 h 594531"/>
              <a:gd name="connsiteX3" fmla="*/ 2311159 w 2330625"/>
              <a:gd name="connsiteY3" fmla="*/ 108912 h 594531"/>
              <a:gd name="connsiteX4" fmla="*/ 2320234 w 2330625"/>
              <a:gd name="connsiteY4" fmla="*/ 422031 h 594531"/>
              <a:gd name="connsiteX5" fmla="*/ 2321060 w 2330625"/>
              <a:gd name="connsiteY5" fmla="*/ 583886 h 594531"/>
              <a:gd name="connsiteX6" fmla="*/ 2202247 w 2330625"/>
              <a:gd name="connsiteY6" fmla="*/ 594474 h 594531"/>
              <a:gd name="connsiteX7" fmla="*/ 151330 w 2330625"/>
              <a:gd name="connsiteY7" fmla="*/ 583886 h 594531"/>
              <a:gd name="connsiteX8" fmla="*/ 155624 w 2330625"/>
              <a:gd name="connsiteY8" fmla="*/ 512790 h 594531"/>
              <a:gd name="connsiteX9" fmla="*/ 146549 w 2330625"/>
              <a:gd name="connsiteY9" fmla="*/ 403879 h 594531"/>
              <a:gd name="connsiteX10" fmla="*/ 137473 w 2330625"/>
              <a:gd name="connsiteY10" fmla="*/ 235975 h 594531"/>
              <a:gd name="connsiteX11" fmla="*/ 142254 w 2330625"/>
              <a:gd name="connsiteY11" fmla="*/ 26000 h 594531"/>
              <a:gd name="connsiteX0" fmla="*/ 13413 w 2201784"/>
              <a:gd name="connsiteY0" fmla="*/ 26000 h 594531"/>
              <a:gd name="connsiteX1" fmla="*/ 90315 w 2201784"/>
              <a:gd name="connsiteY1" fmla="*/ 0 h 594531"/>
              <a:gd name="connsiteX2" fmla="*/ 2164992 w 2201784"/>
              <a:gd name="connsiteY2" fmla="*/ 12386 h 594531"/>
              <a:gd name="connsiteX3" fmla="*/ 2182318 w 2201784"/>
              <a:gd name="connsiteY3" fmla="*/ 108912 h 594531"/>
              <a:gd name="connsiteX4" fmla="*/ 2191393 w 2201784"/>
              <a:gd name="connsiteY4" fmla="*/ 422031 h 594531"/>
              <a:gd name="connsiteX5" fmla="*/ 2192219 w 2201784"/>
              <a:gd name="connsiteY5" fmla="*/ 583886 h 594531"/>
              <a:gd name="connsiteX6" fmla="*/ 2073406 w 2201784"/>
              <a:gd name="connsiteY6" fmla="*/ 594474 h 594531"/>
              <a:gd name="connsiteX7" fmla="*/ 22489 w 2201784"/>
              <a:gd name="connsiteY7" fmla="*/ 583886 h 594531"/>
              <a:gd name="connsiteX8" fmla="*/ 26783 w 2201784"/>
              <a:gd name="connsiteY8" fmla="*/ 512790 h 594531"/>
              <a:gd name="connsiteX9" fmla="*/ 17708 w 2201784"/>
              <a:gd name="connsiteY9" fmla="*/ 403879 h 594531"/>
              <a:gd name="connsiteX10" fmla="*/ 8632 w 2201784"/>
              <a:gd name="connsiteY10" fmla="*/ 235975 h 594531"/>
              <a:gd name="connsiteX11" fmla="*/ 13413 w 2201784"/>
              <a:gd name="connsiteY11" fmla="*/ 26000 h 5945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201784" h="594531">
                <a:moveTo>
                  <a:pt x="13413" y="26000"/>
                </a:moveTo>
                <a:cubicBezTo>
                  <a:pt x="37534" y="24897"/>
                  <a:pt x="66194" y="1103"/>
                  <a:pt x="90315" y="0"/>
                </a:cubicBezTo>
                <a:lnTo>
                  <a:pt x="2164992" y="12386"/>
                </a:lnTo>
                <a:cubicBezTo>
                  <a:pt x="2164717" y="43049"/>
                  <a:pt x="2182593" y="78249"/>
                  <a:pt x="2182318" y="108912"/>
                </a:cubicBezTo>
                <a:cubicBezTo>
                  <a:pt x="2188231" y="177186"/>
                  <a:pt x="2189743" y="342869"/>
                  <a:pt x="2191393" y="422031"/>
                </a:cubicBezTo>
                <a:cubicBezTo>
                  <a:pt x="2193043" y="501193"/>
                  <a:pt x="2213396" y="555146"/>
                  <a:pt x="2192219" y="583886"/>
                </a:cubicBezTo>
                <a:cubicBezTo>
                  <a:pt x="2172279" y="582877"/>
                  <a:pt x="2093346" y="595483"/>
                  <a:pt x="2073406" y="594474"/>
                </a:cubicBezTo>
                <a:lnTo>
                  <a:pt x="22489" y="583886"/>
                </a:lnTo>
                <a:cubicBezTo>
                  <a:pt x="5849" y="592962"/>
                  <a:pt x="27580" y="542791"/>
                  <a:pt x="26783" y="512790"/>
                </a:cubicBezTo>
                <a:cubicBezTo>
                  <a:pt x="25986" y="482789"/>
                  <a:pt x="18464" y="450015"/>
                  <a:pt x="17708" y="403879"/>
                </a:cubicBezTo>
                <a:cubicBezTo>
                  <a:pt x="16952" y="357743"/>
                  <a:pt x="-14855" y="308787"/>
                  <a:pt x="8632" y="235975"/>
                </a:cubicBezTo>
                <a:cubicBezTo>
                  <a:pt x="7119" y="142994"/>
                  <a:pt x="-201" y="65329"/>
                  <a:pt x="13413" y="26000"/>
                </a:cubicBezTo>
                <a:close/>
              </a:path>
            </a:pathLst>
          </a:custGeom>
          <a:solidFill>
            <a:srgbClr val="D9D4D0">
              <a:alpha val="60000"/>
            </a:srgbClr>
          </a:solidFill>
          <a:ln>
            <a:noFill/>
          </a:ln>
          <a:effectLst>
            <a:softEdge rad="635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88C85641-D116-A4B8-415A-EDBAD776CD25}"/>
              </a:ext>
            </a:extLst>
          </p:cNvPr>
          <p:cNvSpPr>
            <a:spLocks noGrp="1"/>
          </p:cNvSpPr>
          <p:nvPr>
            <p:ph idx="1"/>
          </p:nvPr>
        </p:nvSpPr>
        <p:spPr>
          <a:xfrm>
            <a:off x="805727" y="2542073"/>
            <a:ext cx="5121956" cy="3109740"/>
          </a:xfrm>
        </p:spPr>
        <p:txBody>
          <a:bodyPr vert="horz" lIns="91440" tIns="45720" rIns="91440" bIns="45720" rtlCol="0" anchor="ctr">
            <a:normAutofit/>
          </a:bodyPr>
          <a:lstStyle/>
          <a:p>
            <a:pPr marL="0" indent="0">
              <a:buNone/>
            </a:pPr>
            <a:r>
              <a:rPr lang="en-US" sz="2400">
                <a:cs typeface="Calibri"/>
              </a:rPr>
              <a:t>Total = </a:t>
            </a:r>
          </a:p>
          <a:p>
            <a:pPr marL="0" indent="0">
              <a:buNone/>
            </a:pPr>
            <a:r>
              <a:rPr lang="en-US" sz="2400">
                <a:ea typeface="+mn-lt"/>
                <a:cs typeface="+mn-lt"/>
              </a:rPr>
              <a:t>XP + FG_30 * 3 + FG_40 * 4 </a:t>
            </a:r>
          </a:p>
          <a:p>
            <a:pPr marL="0" indent="0">
              <a:buNone/>
            </a:pPr>
            <a:r>
              <a:rPr lang="en-US" sz="2400">
                <a:ea typeface="+mn-lt"/>
                <a:cs typeface="+mn-lt"/>
              </a:rPr>
              <a:t>+ FG_50 * 5 + FG_60 * 6 + </a:t>
            </a:r>
            <a:r>
              <a:rPr lang="en-US" sz="2400" err="1">
                <a:ea typeface="+mn-lt"/>
                <a:cs typeface="+mn-lt"/>
              </a:rPr>
              <a:t>FG_Miss</a:t>
            </a:r>
            <a:r>
              <a:rPr lang="en-US" sz="2400">
                <a:ea typeface="+mn-lt"/>
                <a:cs typeface="+mn-lt"/>
              </a:rPr>
              <a:t> * -1</a:t>
            </a:r>
            <a:endParaRPr lang="en-US" sz="2400">
              <a:cs typeface="Calibri" panose="020F0502020204030204"/>
            </a:endParaRPr>
          </a:p>
        </p:txBody>
      </p:sp>
    </p:spTree>
    <p:extLst>
      <p:ext uri="{BB962C8B-B14F-4D97-AF65-F5344CB8AC3E}">
        <p14:creationId xmlns:p14="http://schemas.microsoft.com/office/powerpoint/2010/main" val="393598141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2B97F24A-32CE-4C1C-A50D-3016B394DC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6F40584-6A2D-9F04-882C-98D4378CF107}"/>
              </a:ext>
            </a:extLst>
          </p:cNvPr>
          <p:cNvSpPr>
            <a:spLocks noGrp="1"/>
          </p:cNvSpPr>
          <p:nvPr>
            <p:ph type="title"/>
          </p:nvPr>
        </p:nvSpPr>
        <p:spPr>
          <a:xfrm>
            <a:off x="621755" y="-58215"/>
            <a:ext cx="3429000" cy="1719072"/>
          </a:xfrm>
          <a:solidFill>
            <a:srgbClr val="ED7D31"/>
          </a:solidFill>
        </p:spPr>
        <p:txBody>
          <a:bodyPr vert="horz" lIns="91440" tIns="45720" rIns="91440" bIns="45720" rtlCol="0" anchor="b">
            <a:normAutofit/>
          </a:bodyPr>
          <a:lstStyle/>
          <a:p>
            <a:r>
              <a:rPr lang="en-US" sz="5400" kern="1200">
                <a:solidFill>
                  <a:schemeClr val="tx1"/>
                </a:solidFill>
                <a:latin typeface="+mj-lt"/>
                <a:ea typeface="+mj-ea"/>
                <a:cs typeface="+mj-cs"/>
              </a:rPr>
              <a:t>Data Tables</a:t>
            </a:r>
          </a:p>
        </p:txBody>
      </p:sp>
      <p:sp>
        <p:nvSpPr>
          <p:cNvPr id="13" name="sketch line">
            <a:extLst>
              <a:ext uri="{FF2B5EF4-FFF2-40B4-BE49-F238E27FC236}">
                <a16:creationId xmlns:a16="http://schemas.microsoft.com/office/drawing/2014/main" id="{CD8B4F24-440B-49E9-B85D-733523DC06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2573756"/>
            <a:ext cx="3255095" cy="18288"/>
          </a:xfrm>
          <a:custGeom>
            <a:avLst/>
            <a:gdLst>
              <a:gd name="csX0" fmla="*/ 0 w 3255095"/>
              <a:gd name="csY0" fmla="*/ 0 h 18288"/>
              <a:gd name="csX1" fmla="*/ 618468 w 3255095"/>
              <a:gd name="csY1" fmla="*/ 0 h 18288"/>
              <a:gd name="csX2" fmla="*/ 1269487 w 3255095"/>
              <a:gd name="csY2" fmla="*/ 0 h 18288"/>
              <a:gd name="csX3" fmla="*/ 1953057 w 3255095"/>
              <a:gd name="csY3" fmla="*/ 0 h 18288"/>
              <a:gd name="csX4" fmla="*/ 2636627 w 3255095"/>
              <a:gd name="csY4" fmla="*/ 0 h 18288"/>
              <a:gd name="csX5" fmla="*/ 3255095 w 3255095"/>
              <a:gd name="csY5" fmla="*/ 0 h 18288"/>
              <a:gd name="csX6" fmla="*/ 3255095 w 3255095"/>
              <a:gd name="csY6" fmla="*/ 18288 h 18288"/>
              <a:gd name="csX7" fmla="*/ 2538974 w 3255095"/>
              <a:gd name="csY7" fmla="*/ 18288 h 18288"/>
              <a:gd name="csX8" fmla="*/ 1822853 w 3255095"/>
              <a:gd name="csY8" fmla="*/ 18288 h 18288"/>
              <a:gd name="csX9" fmla="*/ 1171834 w 3255095"/>
              <a:gd name="csY9" fmla="*/ 18288 h 18288"/>
              <a:gd name="csX10" fmla="*/ 0 w 3255095"/>
              <a:gd name="csY10" fmla="*/ 18288 h 18288"/>
              <a:gd name="csX11" fmla="*/ 0 w 3255095"/>
              <a:gd name="csY11"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7C37D8BA-7762-3DD8-8CE8-76803ECAD782}"/>
              </a:ext>
            </a:extLst>
          </p:cNvPr>
          <p:cNvSpPr txBox="1"/>
          <p:nvPr/>
        </p:nvSpPr>
        <p:spPr>
          <a:xfrm>
            <a:off x="621755" y="1659618"/>
            <a:ext cx="3429000" cy="3410712"/>
          </a:xfrm>
          <a:prstGeom prst="rect">
            <a:avLst/>
          </a:prstGeom>
        </p:spPr>
        <p:txBody>
          <a:bodyPr rot="0" spcFirstLastPara="0" vertOverflow="overflow" horzOverflow="overflow" vert="horz" lIns="91440" tIns="45720" rIns="91440" bIns="45720" numCol="1" spcCol="0" rtlCol="0" fromWordArt="0" anchor="t" anchorCtr="0" forceAA="0" compatLnSpc="1">
            <a:prstTxWarp prst="textNoShape">
              <a:avLst/>
            </a:prstTxWarp>
            <a:normAutofit/>
          </a:bodyPr>
          <a:lstStyle/>
          <a:p>
            <a:pPr marL="342900" indent="-228600">
              <a:lnSpc>
                <a:spcPct val="90000"/>
              </a:lnSpc>
              <a:spcAft>
                <a:spcPts val="600"/>
              </a:spcAft>
              <a:buFont typeface="Arial" panose="020B0604020202020204" pitchFamily="34" charset="0"/>
              <a:buChar char="•"/>
            </a:pPr>
            <a:r>
              <a:rPr lang="en-US" sz="2000"/>
              <a:t>The first data table shows our data set when all ZERO values are removed.</a:t>
            </a:r>
          </a:p>
          <a:p>
            <a:pPr marL="342900" indent="-228600">
              <a:lnSpc>
                <a:spcPct val="90000"/>
              </a:lnSpc>
              <a:spcAft>
                <a:spcPts val="600"/>
              </a:spcAft>
              <a:buFont typeface="Arial" panose="020B0604020202020204" pitchFamily="34" charset="0"/>
              <a:buChar char="•"/>
            </a:pPr>
            <a:endParaRPr lang="en-US" sz="2000"/>
          </a:p>
          <a:p>
            <a:pPr marL="342900" indent="-228600">
              <a:lnSpc>
                <a:spcPct val="90000"/>
              </a:lnSpc>
              <a:spcAft>
                <a:spcPts val="600"/>
              </a:spcAft>
              <a:buFont typeface="Arial" panose="020B0604020202020204" pitchFamily="34" charset="0"/>
              <a:buChar char="•"/>
            </a:pPr>
            <a:endParaRPr lang="en-US" sz="2000"/>
          </a:p>
          <a:p>
            <a:pPr marL="342900" indent="-228600">
              <a:lnSpc>
                <a:spcPct val="90000"/>
              </a:lnSpc>
              <a:spcAft>
                <a:spcPts val="600"/>
              </a:spcAft>
              <a:buFont typeface="Arial" panose="020B0604020202020204" pitchFamily="34" charset="0"/>
              <a:buChar char="•"/>
            </a:pPr>
            <a:endParaRPr lang="en-US" sz="2000"/>
          </a:p>
          <a:p>
            <a:pPr marL="342900" indent="-228600">
              <a:lnSpc>
                <a:spcPct val="90000"/>
              </a:lnSpc>
              <a:spcAft>
                <a:spcPts val="600"/>
              </a:spcAft>
              <a:buFont typeface="Arial" panose="020B0604020202020204" pitchFamily="34" charset="0"/>
              <a:buChar char="•"/>
            </a:pPr>
            <a:r>
              <a:rPr lang="en-US" sz="2000"/>
              <a:t>The second data table shows our data set when all ZERO values are included.</a:t>
            </a:r>
          </a:p>
        </p:txBody>
      </p:sp>
      <p:pic>
        <p:nvPicPr>
          <p:cNvPr id="4" name="Picture 4" descr="Calendar&#10;&#10;Description automatically generated">
            <a:extLst>
              <a:ext uri="{FF2B5EF4-FFF2-40B4-BE49-F238E27FC236}">
                <a16:creationId xmlns:a16="http://schemas.microsoft.com/office/drawing/2014/main" id="{00971A8F-96B0-0519-7BCC-BC446D0A0A1B}"/>
              </a:ext>
            </a:extLst>
          </p:cNvPr>
          <p:cNvPicPr>
            <a:picLocks noGrp="1" noChangeAspect="1"/>
          </p:cNvPicPr>
          <p:nvPr>
            <p:ph idx="1"/>
          </p:nvPr>
        </p:nvPicPr>
        <p:blipFill>
          <a:blip r:embed="rId2"/>
          <a:stretch>
            <a:fillRect/>
          </a:stretch>
        </p:blipFill>
        <p:spPr>
          <a:xfrm>
            <a:off x="4457316" y="482049"/>
            <a:ext cx="7333964" cy="6194553"/>
          </a:xfrm>
          <a:prstGeom prst="rect">
            <a:avLst/>
          </a:prstGeom>
        </p:spPr>
      </p:pic>
      <p:sp>
        <p:nvSpPr>
          <p:cNvPr id="5" name="TextBox 4">
            <a:extLst>
              <a:ext uri="{FF2B5EF4-FFF2-40B4-BE49-F238E27FC236}">
                <a16:creationId xmlns:a16="http://schemas.microsoft.com/office/drawing/2014/main" id="{53EB3EA6-12CF-636A-1AA9-561521C25146}"/>
              </a:ext>
            </a:extLst>
          </p:cNvPr>
          <p:cNvSpPr txBox="1"/>
          <p:nvPr/>
        </p:nvSpPr>
        <p:spPr>
          <a:xfrm>
            <a:off x="6704564" y="3324808"/>
            <a:ext cx="3085322" cy="41598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endParaRPr lang="en-US"/>
          </a:p>
        </p:txBody>
      </p:sp>
      <p:sp>
        <p:nvSpPr>
          <p:cNvPr id="3" name="TextBox 2">
            <a:extLst>
              <a:ext uri="{FF2B5EF4-FFF2-40B4-BE49-F238E27FC236}">
                <a16:creationId xmlns:a16="http://schemas.microsoft.com/office/drawing/2014/main" id="{E72C48E8-189F-7E6E-6CB5-39DA017E98CE}"/>
              </a:ext>
            </a:extLst>
          </p:cNvPr>
          <p:cNvSpPr txBox="1"/>
          <p:nvPr/>
        </p:nvSpPr>
        <p:spPr>
          <a:xfrm>
            <a:off x="642136" y="5434355"/>
            <a:ext cx="2743200" cy="120032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200">
                <a:cs typeface="Segoe UI"/>
              </a:rPr>
              <a:t>proc print data=final356.test (obs=10); </a:t>
            </a:r>
          </a:p>
          <a:p>
            <a:r>
              <a:rPr lang="en-US" sz="1200">
                <a:cs typeface="Segoe UI"/>
              </a:rPr>
              <a:t>run; </a:t>
            </a:r>
          </a:p>
          <a:p>
            <a:r>
              <a:rPr lang="en-US" sz="1200">
                <a:cs typeface="Segoe UI"/>
              </a:rPr>
              <a:t>  </a:t>
            </a:r>
          </a:p>
          <a:p>
            <a:r>
              <a:rPr lang="en-US" sz="1200">
                <a:cs typeface="Segoe UI"/>
              </a:rPr>
              <a:t>proc print data=final356.fantasy (obs=10); </a:t>
            </a:r>
          </a:p>
          <a:p>
            <a:r>
              <a:rPr lang="en-US" sz="1200">
                <a:cs typeface="Segoe UI"/>
              </a:rPr>
              <a:t>run;  </a:t>
            </a:r>
          </a:p>
        </p:txBody>
      </p:sp>
    </p:spTree>
    <p:extLst>
      <p:ext uri="{BB962C8B-B14F-4D97-AF65-F5344CB8AC3E}">
        <p14:creationId xmlns:p14="http://schemas.microsoft.com/office/powerpoint/2010/main" val="82069384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743AA782-23D1-4521-8CAD-47662984AA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A45FA10-C546-956B-4FF4-BD29112988A1}"/>
              </a:ext>
            </a:extLst>
          </p:cNvPr>
          <p:cNvSpPr>
            <a:spLocks noGrp="1"/>
          </p:cNvSpPr>
          <p:nvPr>
            <p:ph type="title"/>
          </p:nvPr>
        </p:nvSpPr>
        <p:spPr>
          <a:xfrm>
            <a:off x="262070" y="96488"/>
            <a:ext cx="4818888" cy="1481328"/>
          </a:xfrm>
          <a:solidFill>
            <a:srgbClr val="ED7D31"/>
          </a:solidFill>
        </p:spPr>
        <p:txBody>
          <a:bodyPr vert="horz" lIns="91440" tIns="45720" rIns="91440" bIns="45720" rtlCol="0" anchor="b">
            <a:normAutofit/>
          </a:bodyPr>
          <a:lstStyle/>
          <a:p>
            <a:r>
              <a:rPr lang="en-US" sz="5000" kern="1200">
                <a:solidFill>
                  <a:schemeClr val="tx1"/>
                </a:solidFill>
                <a:latin typeface="+mj-lt"/>
                <a:ea typeface="+mj-ea"/>
                <a:cs typeface="+mj-cs"/>
              </a:rPr>
              <a:t>Means Procedure</a:t>
            </a:r>
          </a:p>
        </p:txBody>
      </p:sp>
      <p:sp>
        <p:nvSpPr>
          <p:cNvPr id="13" name="sketch line">
            <a:extLst>
              <a:ext uri="{FF2B5EF4-FFF2-40B4-BE49-F238E27FC236}">
                <a16:creationId xmlns:a16="http://schemas.microsoft.com/office/drawing/2014/main" id="{650D18FE-0824-4A46-B22C-A86B52E5780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2372868"/>
            <a:ext cx="3255095" cy="18288"/>
          </a:xfrm>
          <a:custGeom>
            <a:avLst/>
            <a:gdLst>
              <a:gd name="csX0" fmla="*/ 0 w 3255095"/>
              <a:gd name="csY0" fmla="*/ 0 h 18288"/>
              <a:gd name="csX1" fmla="*/ 618468 w 3255095"/>
              <a:gd name="csY1" fmla="*/ 0 h 18288"/>
              <a:gd name="csX2" fmla="*/ 1269487 w 3255095"/>
              <a:gd name="csY2" fmla="*/ 0 h 18288"/>
              <a:gd name="csX3" fmla="*/ 1953057 w 3255095"/>
              <a:gd name="csY3" fmla="*/ 0 h 18288"/>
              <a:gd name="csX4" fmla="*/ 2636627 w 3255095"/>
              <a:gd name="csY4" fmla="*/ 0 h 18288"/>
              <a:gd name="csX5" fmla="*/ 3255095 w 3255095"/>
              <a:gd name="csY5" fmla="*/ 0 h 18288"/>
              <a:gd name="csX6" fmla="*/ 3255095 w 3255095"/>
              <a:gd name="csY6" fmla="*/ 18288 h 18288"/>
              <a:gd name="csX7" fmla="*/ 2538974 w 3255095"/>
              <a:gd name="csY7" fmla="*/ 18288 h 18288"/>
              <a:gd name="csX8" fmla="*/ 1822853 w 3255095"/>
              <a:gd name="csY8" fmla="*/ 18288 h 18288"/>
              <a:gd name="csX9" fmla="*/ 1171834 w 3255095"/>
              <a:gd name="csY9" fmla="*/ 18288 h 18288"/>
              <a:gd name="csX10" fmla="*/ 0 w 3255095"/>
              <a:gd name="csY10" fmla="*/ 18288 h 18288"/>
              <a:gd name="csX11" fmla="*/ 0 w 3255095"/>
              <a:gd name="csY11"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E4B2C987-E85E-B3F1-7FC8-18CB88DF66BB}"/>
              </a:ext>
            </a:extLst>
          </p:cNvPr>
          <p:cNvSpPr txBox="1"/>
          <p:nvPr/>
        </p:nvSpPr>
        <p:spPr>
          <a:xfrm>
            <a:off x="476284" y="2758634"/>
            <a:ext cx="4202164" cy="1578077"/>
          </a:xfrm>
          <a:prstGeom prst="rect">
            <a:avLst/>
          </a:prstGeom>
        </p:spPr>
        <p:txBody>
          <a:bodyPr rot="0" spcFirstLastPara="0" vertOverflow="overflow" horzOverflow="overflow" vert="horz" lIns="91440" tIns="45720" rIns="91440" bIns="45720" numCol="1" spcCol="0" rtlCol="0" fromWordArt="0" anchor="t" anchorCtr="0" forceAA="0" compatLnSpc="1">
            <a:prstTxWarp prst="textNoShape">
              <a:avLst/>
            </a:prstTxWarp>
            <a:normAutofit/>
          </a:bodyPr>
          <a:lstStyle/>
          <a:p>
            <a:pPr indent="-228600">
              <a:lnSpc>
                <a:spcPct val="90000"/>
              </a:lnSpc>
              <a:spcAft>
                <a:spcPts val="600"/>
              </a:spcAft>
              <a:buFont typeface="Arial" panose="020B0604020202020204" pitchFamily="34" charset="0"/>
              <a:buChar char="•"/>
            </a:pPr>
            <a:r>
              <a:rPr lang="en-US" sz="2400"/>
              <a:t>Many discernable differences between the data sets depending on whether the zeros are included or not.</a:t>
            </a:r>
            <a:endParaRPr lang="en-US" sz="2400">
              <a:cs typeface="Calibri"/>
            </a:endParaRPr>
          </a:p>
        </p:txBody>
      </p:sp>
      <p:pic>
        <p:nvPicPr>
          <p:cNvPr id="4" name="Picture 4" descr="Table&#10;&#10;Description automatically generated">
            <a:extLst>
              <a:ext uri="{FF2B5EF4-FFF2-40B4-BE49-F238E27FC236}">
                <a16:creationId xmlns:a16="http://schemas.microsoft.com/office/drawing/2014/main" id="{0883AF14-3C8B-AA65-FC8E-132CD8A2E48F}"/>
              </a:ext>
            </a:extLst>
          </p:cNvPr>
          <p:cNvPicPr>
            <a:picLocks noGrp="1" noChangeAspect="1"/>
          </p:cNvPicPr>
          <p:nvPr>
            <p:ph idx="1"/>
          </p:nvPr>
        </p:nvPicPr>
        <p:blipFill>
          <a:blip r:embed="rId2"/>
          <a:stretch>
            <a:fillRect/>
          </a:stretch>
        </p:blipFill>
        <p:spPr>
          <a:xfrm>
            <a:off x="6602759" y="640080"/>
            <a:ext cx="4451545" cy="5577840"/>
          </a:xfrm>
          <a:prstGeom prst="rect">
            <a:avLst/>
          </a:prstGeom>
        </p:spPr>
      </p:pic>
      <p:sp>
        <p:nvSpPr>
          <p:cNvPr id="5" name="TextBox 4">
            <a:extLst>
              <a:ext uri="{FF2B5EF4-FFF2-40B4-BE49-F238E27FC236}">
                <a16:creationId xmlns:a16="http://schemas.microsoft.com/office/drawing/2014/main" id="{F8BF1B3E-75B0-62A8-6DDA-8809D409CD79}"/>
              </a:ext>
            </a:extLst>
          </p:cNvPr>
          <p:cNvSpPr txBox="1"/>
          <p:nvPr/>
        </p:nvSpPr>
        <p:spPr>
          <a:xfrm>
            <a:off x="4724400" y="3200400"/>
            <a:ext cx="274320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endParaRPr lang="en-US"/>
          </a:p>
        </p:txBody>
      </p:sp>
      <p:sp>
        <p:nvSpPr>
          <p:cNvPr id="3" name="TextBox 2">
            <a:extLst>
              <a:ext uri="{FF2B5EF4-FFF2-40B4-BE49-F238E27FC236}">
                <a16:creationId xmlns:a16="http://schemas.microsoft.com/office/drawing/2014/main" id="{4C03AE2D-F2B7-C529-A522-0A85D6D48BEB}"/>
              </a:ext>
            </a:extLst>
          </p:cNvPr>
          <p:cNvSpPr txBox="1"/>
          <p:nvPr/>
        </p:nvSpPr>
        <p:spPr>
          <a:xfrm>
            <a:off x="4508917" y="2851768"/>
            <a:ext cx="2194755" cy="397031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200">
                <a:cs typeface="Segoe UI"/>
              </a:rPr>
              <a:t>proc means data=final356.test; </a:t>
            </a:r>
          </a:p>
          <a:p>
            <a:r>
              <a:rPr lang="en-US" sz="1200">
                <a:cs typeface="Segoe UI"/>
              </a:rPr>
              <a:t>title "Stats with Zeroes Removed"; </a:t>
            </a:r>
          </a:p>
          <a:p>
            <a:r>
              <a:rPr lang="en-US" sz="1200">
                <a:cs typeface="Segoe UI"/>
              </a:rPr>
              <a:t>vars Pass_Yards Pass_TDs Ints Rush_Yards Rush_TDs Receptions Rec_Yards Rec_TDs Fumbles Two_Pt XP FG_30 FG_40 FG_50 FG_60 FG_Miss; </a:t>
            </a:r>
          </a:p>
          <a:p>
            <a:r>
              <a:rPr lang="en-US" sz="1200">
                <a:cs typeface="Segoe UI"/>
              </a:rPr>
              <a:t>run; </a:t>
            </a:r>
          </a:p>
          <a:p>
            <a:r>
              <a:rPr lang="en-US" sz="1200">
                <a:cs typeface="Segoe UI"/>
              </a:rPr>
              <a:t>  </a:t>
            </a:r>
          </a:p>
          <a:p>
            <a:r>
              <a:rPr lang="en-US" sz="1200">
                <a:cs typeface="Segoe UI"/>
              </a:rPr>
              <a:t>proc means data=final356.fantasy; </a:t>
            </a:r>
          </a:p>
          <a:p>
            <a:r>
              <a:rPr lang="en-US" sz="1200">
                <a:cs typeface="Segoe UI"/>
              </a:rPr>
              <a:t>title "Stats with Zeroes Included"; </a:t>
            </a:r>
          </a:p>
          <a:p>
            <a:r>
              <a:rPr lang="en-US" sz="1200">
                <a:cs typeface="Segoe UI"/>
              </a:rPr>
              <a:t>vars Pass_Yards Pass_TDs Ints Rush_Yards Rush_TDs Receptions Rec_Yards Rec_TDs Fumbles Two_Pt XP FG_30 FG_40 FG_50 FG_60 FG_Miss; </a:t>
            </a:r>
          </a:p>
          <a:p>
            <a:r>
              <a:rPr lang="en-US" sz="1200">
                <a:cs typeface="Segoe UI"/>
              </a:rPr>
              <a:t>run; </a:t>
            </a:r>
          </a:p>
          <a:p>
            <a:r>
              <a:rPr lang="en-US" sz="1200">
                <a:cs typeface="Segoe UI"/>
              </a:rPr>
              <a:t>title; </a:t>
            </a:r>
          </a:p>
        </p:txBody>
      </p:sp>
    </p:spTree>
    <p:extLst>
      <p:ext uri="{BB962C8B-B14F-4D97-AF65-F5344CB8AC3E}">
        <p14:creationId xmlns:p14="http://schemas.microsoft.com/office/powerpoint/2010/main" val="175897167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0AE213-D915-6248-D14A-D76DA4661A73}"/>
              </a:ext>
            </a:extLst>
          </p:cNvPr>
          <p:cNvSpPr>
            <a:spLocks noGrp="1"/>
          </p:cNvSpPr>
          <p:nvPr>
            <p:ph type="title"/>
          </p:nvPr>
        </p:nvSpPr>
        <p:spPr>
          <a:solidFill>
            <a:srgbClr val="ED7D31"/>
          </a:solidFill>
        </p:spPr>
        <p:txBody>
          <a:bodyPr/>
          <a:lstStyle/>
          <a:p>
            <a:r>
              <a:rPr lang="en-US" u="sng">
                <a:cs typeface="Calibri Light"/>
              </a:rPr>
              <a:t>Means Procedure Continued</a:t>
            </a:r>
          </a:p>
        </p:txBody>
      </p:sp>
      <p:pic>
        <p:nvPicPr>
          <p:cNvPr id="4" name="Picture 4">
            <a:extLst>
              <a:ext uri="{FF2B5EF4-FFF2-40B4-BE49-F238E27FC236}">
                <a16:creationId xmlns:a16="http://schemas.microsoft.com/office/drawing/2014/main" id="{E6CC9A70-74CA-30B6-C129-96382CB45F90}"/>
              </a:ext>
            </a:extLst>
          </p:cNvPr>
          <p:cNvPicPr>
            <a:picLocks noGrp="1" noChangeAspect="1"/>
          </p:cNvPicPr>
          <p:nvPr>
            <p:ph idx="1"/>
          </p:nvPr>
        </p:nvPicPr>
        <p:blipFill>
          <a:blip r:embed="rId2"/>
          <a:stretch>
            <a:fillRect/>
          </a:stretch>
        </p:blipFill>
        <p:spPr>
          <a:xfrm>
            <a:off x="663233" y="4250117"/>
            <a:ext cx="8792438" cy="2238459"/>
          </a:xfrm>
        </p:spPr>
      </p:pic>
      <p:sp>
        <p:nvSpPr>
          <p:cNvPr id="5" name="TextBox 4">
            <a:extLst>
              <a:ext uri="{FF2B5EF4-FFF2-40B4-BE49-F238E27FC236}">
                <a16:creationId xmlns:a16="http://schemas.microsoft.com/office/drawing/2014/main" id="{E4E5C78B-C442-F6DA-56C3-4A8916175C99}"/>
              </a:ext>
            </a:extLst>
          </p:cNvPr>
          <p:cNvSpPr txBox="1"/>
          <p:nvPr/>
        </p:nvSpPr>
        <p:spPr>
          <a:xfrm>
            <a:off x="2796073" y="4584442"/>
            <a:ext cx="3790302" cy="67516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endParaRPr lang="en-US"/>
          </a:p>
        </p:txBody>
      </p:sp>
      <p:sp>
        <p:nvSpPr>
          <p:cNvPr id="6" name="TextBox 5">
            <a:extLst>
              <a:ext uri="{FF2B5EF4-FFF2-40B4-BE49-F238E27FC236}">
                <a16:creationId xmlns:a16="http://schemas.microsoft.com/office/drawing/2014/main" id="{B01170A3-DAFC-A1A5-D8FC-30058275B965}"/>
              </a:ext>
            </a:extLst>
          </p:cNvPr>
          <p:cNvSpPr txBox="1"/>
          <p:nvPr/>
        </p:nvSpPr>
        <p:spPr>
          <a:xfrm>
            <a:off x="767183" y="2353388"/>
            <a:ext cx="7205306" cy="156966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a:cs typeface="Calibri"/>
              </a:rPr>
              <a:t>The means procedure also gave us some interesting statistics on the players themselves.  The players in our data set had a mean age of 26 or 27 years old with an average games played of 14 or 15.  </a:t>
            </a:r>
          </a:p>
        </p:txBody>
      </p:sp>
      <p:sp>
        <p:nvSpPr>
          <p:cNvPr id="3" name="TextBox 2">
            <a:extLst>
              <a:ext uri="{FF2B5EF4-FFF2-40B4-BE49-F238E27FC236}">
                <a16:creationId xmlns:a16="http://schemas.microsoft.com/office/drawing/2014/main" id="{C1E8A060-9F4A-1F03-BEFB-BD216D1B9211}"/>
              </a:ext>
            </a:extLst>
          </p:cNvPr>
          <p:cNvSpPr txBox="1"/>
          <p:nvPr/>
        </p:nvSpPr>
        <p:spPr>
          <a:xfrm>
            <a:off x="9024486" y="3430152"/>
            <a:ext cx="3306206" cy="120032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cs typeface="Segoe UI"/>
              </a:rPr>
              <a:t>proc means data=final356.fantasy; </a:t>
            </a:r>
          </a:p>
          <a:p>
            <a:r>
              <a:rPr lang="en-US" dirty="0">
                <a:cs typeface="Segoe UI"/>
              </a:rPr>
              <a:t>vars Age Games Total </a:t>
            </a:r>
            <a:r>
              <a:rPr lang="en-US" dirty="0" err="1">
                <a:cs typeface="Segoe UI"/>
              </a:rPr>
              <a:t>Per_Game</a:t>
            </a:r>
            <a:r>
              <a:rPr lang="en-US" dirty="0">
                <a:cs typeface="Segoe UI"/>
              </a:rPr>
              <a:t>; </a:t>
            </a:r>
          </a:p>
          <a:p>
            <a:r>
              <a:rPr lang="en-US" dirty="0">
                <a:cs typeface="Segoe UI"/>
              </a:rPr>
              <a:t>run; </a:t>
            </a:r>
          </a:p>
        </p:txBody>
      </p:sp>
    </p:spTree>
    <p:extLst>
      <p:ext uri="{BB962C8B-B14F-4D97-AF65-F5344CB8AC3E}">
        <p14:creationId xmlns:p14="http://schemas.microsoft.com/office/powerpoint/2010/main" val="95576449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E9BB5B-E988-619D-A431-CEF9CCA407DB}"/>
              </a:ext>
            </a:extLst>
          </p:cNvPr>
          <p:cNvSpPr>
            <a:spLocks noGrp="1"/>
          </p:cNvSpPr>
          <p:nvPr>
            <p:ph type="title"/>
          </p:nvPr>
        </p:nvSpPr>
        <p:spPr>
          <a:xfrm>
            <a:off x="796731" y="199247"/>
            <a:ext cx="5264110" cy="1053767"/>
          </a:xfrm>
          <a:solidFill>
            <a:srgbClr val="ED7D31"/>
          </a:solidFill>
        </p:spPr>
        <p:txBody>
          <a:bodyPr/>
          <a:lstStyle/>
          <a:p>
            <a:r>
              <a:rPr lang="en-US">
                <a:cs typeface="Calibri Light"/>
              </a:rPr>
              <a:t>Frequency </a:t>
            </a:r>
            <a:r>
              <a:rPr lang="en-US" err="1">
                <a:cs typeface="Calibri Light"/>
              </a:rPr>
              <a:t>Fananza</a:t>
            </a:r>
            <a:endParaRPr lang="en-US" err="1"/>
          </a:p>
        </p:txBody>
      </p:sp>
      <p:pic>
        <p:nvPicPr>
          <p:cNvPr id="4" name="Picture 4">
            <a:extLst>
              <a:ext uri="{FF2B5EF4-FFF2-40B4-BE49-F238E27FC236}">
                <a16:creationId xmlns:a16="http://schemas.microsoft.com/office/drawing/2014/main" id="{A048D3EE-C8EF-3AA2-449E-E3FC8BCB8667}"/>
              </a:ext>
            </a:extLst>
          </p:cNvPr>
          <p:cNvPicPr>
            <a:picLocks noGrp="1" noChangeAspect="1"/>
          </p:cNvPicPr>
          <p:nvPr>
            <p:ph idx="1"/>
          </p:nvPr>
        </p:nvPicPr>
        <p:blipFill>
          <a:blip r:embed="rId2"/>
          <a:stretch>
            <a:fillRect/>
          </a:stretch>
        </p:blipFill>
        <p:spPr>
          <a:xfrm>
            <a:off x="420186" y="1296891"/>
            <a:ext cx="2451260" cy="5460643"/>
          </a:xfrm>
        </p:spPr>
      </p:pic>
      <p:sp>
        <p:nvSpPr>
          <p:cNvPr id="5" name="TextBox 4">
            <a:extLst>
              <a:ext uri="{FF2B5EF4-FFF2-40B4-BE49-F238E27FC236}">
                <a16:creationId xmlns:a16="http://schemas.microsoft.com/office/drawing/2014/main" id="{8C6C3D95-EAE4-4C7E-265E-F360301F5932}"/>
              </a:ext>
            </a:extLst>
          </p:cNvPr>
          <p:cNvSpPr txBox="1"/>
          <p:nvPr/>
        </p:nvSpPr>
        <p:spPr>
          <a:xfrm>
            <a:off x="421951" y="3355910"/>
            <a:ext cx="274320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endParaRPr lang="en-US"/>
          </a:p>
        </p:txBody>
      </p:sp>
      <p:pic>
        <p:nvPicPr>
          <p:cNvPr id="6" name="Picture 6" descr="Table&#10;&#10;Description automatically generated">
            <a:extLst>
              <a:ext uri="{FF2B5EF4-FFF2-40B4-BE49-F238E27FC236}">
                <a16:creationId xmlns:a16="http://schemas.microsoft.com/office/drawing/2014/main" id="{F3C46729-9596-3E0A-9443-2F1CBB6E96F0}"/>
              </a:ext>
            </a:extLst>
          </p:cNvPr>
          <p:cNvPicPr>
            <a:picLocks noChangeAspect="1"/>
          </p:cNvPicPr>
          <p:nvPr/>
        </p:nvPicPr>
        <p:blipFill>
          <a:blip r:embed="rId3"/>
          <a:stretch>
            <a:fillRect/>
          </a:stretch>
        </p:blipFill>
        <p:spPr>
          <a:xfrm>
            <a:off x="2873829" y="1907213"/>
            <a:ext cx="3033485" cy="2079409"/>
          </a:xfrm>
          <a:prstGeom prst="rect">
            <a:avLst/>
          </a:prstGeom>
        </p:spPr>
      </p:pic>
      <p:pic>
        <p:nvPicPr>
          <p:cNvPr id="7" name="Picture 7" descr="Table&#10;&#10;Description automatically generated">
            <a:extLst>
              <a:ext uri="{FF2B5EF4-FFF2-40B4-BE49-F238E27FC236}">
                <a16:creationId xmlns:a16="http://schemas.microsoft.com/office/drawing/2014/main" id="{E24CB30E-DCA5-8BBB-6E56-8F1CD1094DEA}"/>
              </a:ext>
            </a:extLst>
          </p:cNvPr>
          <p:cNvPicPr>
            <a:picLocks noChangeAspect="1"/>
          </p:cNvPicPr>
          <p:nvPr/>
        </p:nvPicPr>
        <p:blipFill>
          <a:blip r:embed="rId4"/>
          <a:stretch>
            <a:fillRect/>
          </a:stretch>
        </p:blipFill>
        <p:spPr>
          <a:xfrm>
            <a:off x="6092238" y="1024296"/>
            <a:ext cx="2055074" cy="5835778"/>
          </a:xfrm>
          <a:prstGeom prst="rect">
            <a:avLst/>
          </a:prstGeom>
        </p:spPr>
      </p:pic>
      <p:pic>
        <p:nvPicPr>
          <p:cNvPr id="8" name="Picture 8" descr="Table&#10;&#10;Description automatically generated">
            <a:extLst>
              <a:ext uri="{FF2B5EF4-FFF2-40B4-BE49-F238E27FC236}">
                <a16:creationId xmlns:a16="http://schemas.microsoft.com/office/drawing/2014/main" id="{F319F42D-2031-47B5-869D-470BAC2AECC9}"/>
              </a:ext>
            </a:extLst>
          </p:cNvPr>
          <p:cNvPicPr>
            <a:picLocks noChangeAspect="1"/>
          </p:cNvPicPr>
          <p:nvPr/>
        </p:nvPicPr>
        <p:blipFill>
          <a:blip r:embed="rId5"/>
          <a:stretch>
            <a:fillRect/>
          </a:stretch>
        </p:blipFill>
        <p:spPr>
          <a:xfrm>
            <a:off x="8147603" y="1024295"/>
            <a:ext cx="1951323" cy="5835778"/>
          </a:xfrm>
          <a:prstGeom prst="rect">
            <a:avLst/>
          </a:prstGeom>
        </p:spPr>
      </p:pic>
      <p:pic>
        <p:nvPicPr>
          <p:cNvPr id="9" name="Picture 9" descr="Table&#10;&#10;Description automatically generated">
            <a:extLst>
              <a:ext uri="{FF2B5EF4-FFF2-40B4-BE49-F238E27FC236}">
                <a16:creationId xmlns:a16="http://schemas.microsoft.com/office/drawing/2014/main" id="{49DB710C-62C0-E514-BC3F-29CC14F627D4}"/>
              </a:ext>
            </a:extLst>
          </p:cNvPr>
          <p:cNvPicPr>
            <a:picLocks noChangeAspect="1"/>
          </p:cNvPicPr>
          <p:nvPr/>
        </p:nvPicPr>
        <p:blipFill>
          <a:blip r:embed="rId6"/>
          <a:stretch>
            <a:fillRect/>
          </a:stretch>
        </p:blipFill>
        <p:spPr>
          <a:xfrm>
            <a:off x="10095891" y="1024295"/>
            <a:ext cx="1869931" cy="5835779"/>
          </a:xfrm>
          <a:prstGeom prst="rect">
            <a:avLst/>
          </a:prstGeom>
        </p:spPr>
      </p:pic>
      <p:pic>
        <p:nvPicPr>
          <p:cNvPr id="10" name="Picture 10" descr="Table&#10;&#10;Description automatically generated">
            <a:extLst>
              <a:ext uri="{FF2B5EF4-FFF2-40B4-BE49-F238E27FC236}">
                <a16:creationId xmlns:a16="http://schemas.microsoft.com/office/drawing/2014/main" id="{52A869F2-A3CF-D3B0-033F-0EBFDE03AD5B}"/>
              </a:ext>
            </a:extLst>
          </p:cNvPr>
          <p:cNvPicPr>
            <a:picLocks noChangeAspect="1"/>
          </p:cNvPicPr>
          <p:nvPr/>
        </p:nvPicPr>
        <p:blipFill>
          <a:blip r:embed="rId7"/>
          <a:stretch>
            <a:fillRect/>
          </a:stretch>
        </p:blipFill>
        <p:spPr>
          <a:xfrm>
            <a:off x="3125769" y="5831325"/>
            <a:ext cx="2046347" cy="524369"/>
          </a:xfrm>
          <a:prstGeom prst="rect">
            <a:avLst/>
          </a:prstGeom>
        </p:spPr>
      </p:pic>
      <p:sp>
        <p:nvSpPr>
          <p:cNvPr id="11" name="TextBox 10">
            <a:extLst>
              <a:ext uri="{FF2B5EF4-FFF2-40B4-BE49-F238E27FC236}">
                <a16:creationId xmlns:a16="http://schemas.microsoft.com/office/drawing/2014/main" id="{88D7707A-DBDF-8E0C-47BA-975CAF95C386}"/>
              </a:ext>
            </a:extLst>
          </p:cNvPr>
          <p:cNvSpPr txBox="1"/>
          <p:nvPr/>
        </p:nvSpPr>
        <p:spPr>
          <a:xfrm>
            <a:off x="2996163" y="4105469"/>
            <a:ext cx="2114938" cy="9233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cs typeface="Calibri"/>
              </a:rPr>
              <a:t>Players per State</a:t>
            </a:r>
          </a:p>
          <a:p>
            <a:endParaRPr lang="en-US">
              <a:cs typeface="Calibri"/>
            </a:endParaRPr>
          </a:p>
          <a:p>
            <a:endParaRPr lang="en-US">
              <a:cs typeface="Calibri"/>
            </a:endParaRPr>
          </a:p>
        </p:txBody>
      </p:sp>
      <p:sp>
        <p:nvSpPr>
          <p:cNvPr id="12" name="TextBox 11">
            <a:extLst>
              <a:ext uri="{FF2B5EF4-FFF2-40B4-BE49-F238E27FC236}">
                <a16:creationId xmlns:a16="http://schemas.microsoft.com/office/drawing/2014/main" id="{B61EE93C-091A-BD9F-B976-D8EEBA80EFB9}"/>
              </a:ext>
            </a:extLst>
          </p:cNvPr>
          <p:cNvSpPr txBox="1"/>
          <p:nvPr/>
        </p:nvSpPr>
        <p:spPr>
          <a:xfrm>
            <a:off x="8148734" y="539102"/>
            <a:ext cx="4001795"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cs typeface="Calibri"/>
              </a:rPr>
              <a:t>Players per College</a:t>
            </a:r>
          </a:p>
          <a:p>
            <a:endParaRPr lang="en-US">
              <a:cs typeface="Calibri"/>
            </a:endParaRPr>
          </a:p>
        </p:txBody>
      </p:sp>
      <p:sp>
        <p:nvSpPr>
          <p:cNvPr id="3" name="TextBox 2">
            <a:extLst>
              <a:ext uri="{FF2B5EF4-FFF2-40B4-BE49-F238E27FC236}">
                <a16:creationId xmlns:a16="http://schemas.microsoft.com/office/drawing/2014/main" id="{B67F9747-84A9-AC27-43F8-37F24A46BA1A}"/>
              </a:ext>
            </a:extLst>
          </p:cNvPr>
          <p:cNvSpPr txBox="1"/>
          <p:nvPr/>
        </p:nvSpPr>
        <p:spPr>
          <a:xfrm>
            <a:off x="3125656" y="4639949"/>
            <a:ext cx="2650012" cy="9233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ea typeface="Calibri"/>
                <a:cs typeface="Calibri"/>
              </a:rPr>
              <a:t>Most players come from the state of Florida and the college Alabama.</a:t>
            </a:r>
            <a:endParaRPr lang="en-US" dirty="0"/>
          </a:p>
        </p:txBody>
      </p:sp>
    </p:spTree>
    <p:extLst>
      <p:ext uri="{BB962C8B-B14F-4D97-AF65-F5344CB8AC3E}">
        <p14:creationId xmlns:p14="http://schemas.microsoft.com/office/powerpoint/2010/main" val="414393905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F034E4-C49E-1577-54ED-57C06C84DDED}"/>
              </a:ext>
            </a:extLst>
          </p:cNvPr>
          <p:cNvSpPr>
            <a:spLocks noGrp="1"/>
          </p:cNvSpPr>
          <p:nvPr>
            <p:ph type="title"/>
          </p:nvPr>
        </p:nvSpPr>
        <p:spPr>
          <a:xfrm>
            <a:off x="692595" y="54501"/>
            <a:ext cx="2944136" cy="1340123"/>
          </a:xfrm>
          <a:solidFill>
            <a:srgbClr val="ED7D31"/>
          </a:solidFill>
        </p:spPr>
        <p:txBody>
          <a:bodyPr/>
          <a:lstStyle/>
          <a:p>
            <a:r>
              <a:rPr lang="en-US">
                <a:cs typeface="Calibri Light"/>
              </a:rPr>
              <a:t>We Said </a:t>
            </a:r>
            <a:r>
              <a:rPr lang="en-US" err="1">
                <a:cs typeface="Calibri Light"/>
              </a:rPr>
              <a:t>Fananza</a:t>
            </a:r>
            <a:endParaRPr lang="en-US" err="1"/>
          </a:p>
        </p:txBody>
      </p:sp>
      <p:pic>
        <p:nvPicPr>
          <p:cNvPr id="4" name="Picture 4" descr="Table&#10;&#10;Description automatically generated">
            <a:extLst>
              <a:ext uri="{FF2B5EF4-FFF2-40B4-BE49-F238E27FC236}">
                <a16:creationId xmlns:a16="http://schemas.microsoft.com/office/drawing/2014/main" id="{C0F29680-3E58-653E-C3BD-45A81CE9B901}"/>
              </a:ext>
            </a:extLst>
          </p:cNvPr>
          <p:cNvPicPr>
            <a:picLocks noGrp="1" noChangeAspect="1"/>
          </p:cNvPicPr>
          <p:nvPr>
            <p:ph idx="1"/>
          </p:nvPr>
        </p:nvPicPr>
        <p:blipFill>
          <a:blip r:embed="rId2"/>
          <a:stretch>
            <a:fillRect/>
          </a:stretch>
        </p:blipFill>
        <p:spPr>
          <a:xfrm>
            <a:off x="279" y="1331733"/>
            <a:ext cx="3273894" cy="5522120"/>
          </a:xfrm>
        </p:spPr>
      </p:pic>
      <p:sp>
        <p:nvSpPr>
          <p:cNvPr id="5" name="TextBox 4">
            <a:extLst>
              <a:ext uri="{FF2B5EF4-FFF2-40B4-BE49-F238E27FC236}">
                <a16:creationId xmlns:a16="http://schemas.microsoft.com/office/drawing/2014/main" id="{539F855A-FAA8-805F-5800-D7B2734C70C3}"/>
              </a:ext>
            </a:extLst>
          </p:cNvPr>
          <p:cNvSpPr txBox="1"/>
          <p:nvPr/>
        </p:nvSpPr>
        <p:spPr>
          <a:xfrm>
            <a:off x="183502" y="3853543"/>
            <a:ext cx="274320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endParaRPr lang="en-US"/>
          </a:p>
        </p:txBody>
      </p:sp>
      <p:pic>
        <p:nvPicPr>
          <p:cNvPr id="6" name="Picture 6">
            <a:extLst>
              <a:ext uri="{FF2B5EF4-FFF2-40B4-BE49-F238E27FC236}">
                <a16:creationId xmlns:a16="http://schemas.microsoft.com/office/drawing/2014/main" id="{9326C418-FE5E-B95A-4397-E831FC8BB7F1}"/>
              </a:ext>
            </a:extLst>
          </p:cNvPr>
          <p:cNvPicPr>
            <a:picLocks noChangeAspect="1"/>
          </p:cNvPicPr>
          <p:nvPr/>
        </p:nvPicPr>
        <p:blipFill>
          <a:blip r:embed="rId3"/>
          <a:stretch>
            <a:fillRect/>
          </a:stretch>
        </p:blipFill>
        <p:spPr>
          <a:xfrm>
            <a:off x="3965510" y="2631233"/>
            <a:ext cx="3022081" cy="4249575"/>
          </a:xfrm>
          <a:prstGeom prst="rect">
            <a:avLst/>
          </a:prstGeom>
        </p:spPr>
      </p:pic>
      <p:pic>
        <p:nvPicPr>
          <p:cNvPr id="7" name="Picture 7" descr="Table&#10;&#10;Description automatically generated">
            <a:extLst>
              <a:ext uri="{FF2B5EF4-FFF2-40B4-BE49-F238E27FC236}">
                <a16:creationId xmlns:a16="http://schemas.microsoft.com/office/drawing/2014/main" id="{EDEFD23F-E611-01F6-14DE-1413656FC4A5}"/>
              </a:ext>
            </a:extLst>
          </p:cNvPr>
          <p:cNvPicPr>
            <a:picLocks noChangeAspect="1"/>
          </p:cNvPicPr>
          <p:nvPr/>
        </p:nvPicPr>
        <p:blipFill>
          <a:blip r:embed="rId4"/>
          <a:stretch>
            <a:fillRect/>
          </a:stretch>
        </p:blipFill>
        <p:spPr>
          <a:xfrm>
            <a:off x="7824238" y="861527"/>
            <a:ext cx="4173893" cy="2086946"/>
          </a:xfrm>
          <a:prstGeom prst="rect">
            <a:avLst/>
          </a:prstGeom>
        </p:spPr>
      </p:pic>
      <p:pic>
        <p:nvPicPr>
          <p:cNvPr id="8" name="Picture 8" descr="Table&#10;&#10;Description automatically generated">
            <a:extLst>
              <a:ext uri="{FF2B5EF4-FFF2-40B4-BE49-F238E27FC236}">
                <a16:creationId xmlns:a16="http://schemas.microsoft.com/office/drawing/2014/main" id="{55FD6C3A-00EB-AE96-E948-1C0F48F69748}"/>
              </a:ext>
            </a:extLst>
          </p:cNvPr>
          <p:cNvPicPr>
            <a:picLocks noChangeAspect="1"/>
          </p:cNvPicPr>
          <p:nvPr/>
        </p:nvPicPr>
        <p:blipFill>
          <a:blip r:embed="rId5"/>
          <a:stretch>
            <a:fillRect/>
          </a:stretch>
        </p:blipFill>
        <p:spPr>
          <a:xfrm>
            <a:off x="7476930" y="2952386"/>
            <a:ext cx="4712995" cy="3928658"/>
          </a:xfrm>
          <a:prstGeom prst="rect">
            <a:avLst/>
          </a:prstGeom>
        </p:spPr>
      </p:pic>
      <p:sp>
        <p:nvSpPr>
          <p:cNvPr id="3" name="TextBox 2">
            <a:extLst>
              <a:ext uri="{FF2B5EF4-FFF2-40B4-BE49-F238E27FC236}">
                <a16:creationId xmlns:a16="http://schemas.microsoft.com/office/drawing/2014/main" id="{D1EE9CEC-0BDC-5B52-27EF-CE95D109D341}"/>
              </a:ext>
            </a:extLst>
          </p:cNvPr>
          <p:cNvSpPr txBox="1"/>
          <p:nvPr/>
        </p:nvSpPr>
        <p:spPr>
          <a:xfrm>
            <a:off x="3708076" y="1378394"/>
            <a:ext cx="3795439" cy="132343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dirty="0">
                <a:cs typeface="Calibri"/>
              </a:rPr>
              <a:t>Most available players come from the Chiefs, Cardinals, and Colts.  Most players are 23 years old.  There are more WR than other positions.  Most players do play all 17 games.</a:t>
            </a:r>
          </a:p>
        </p:txBody>
      </p:sp>
      <p:sp>
        <p:nvSpPr>
          <p:cNvPr id="9" name="TextBox 8">
            <a:extLst>
              <a:ext uri="{FF2B5EF4-FFF2-40B4-BE49-F238E27FC236}">
                <a16:creationId xmlns:a16="http://schemas.microsoft.com/office/drawing/2014/main" id="{31C6644A-66DF-E4A1-02F4-8B07EC39005B}"/>
              </a:ext>
            </a:extLst>
          </p:cNvPr>
          <p:cNvSpPr txBox="1"/>
          <p:nvPr/>
        </p:nvSpPr>
        <p:spPr>
          <a:xfrm>
            <a:off x="4957368" y="55330"/>
            <a:ext cx="2743200" cy="138499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200">
                <a:cs typeface="Segoe UI"/>
              </a:rPr>
              <a:t>proc freq data=final356.fantasy; </a:t>
            </a:r>
          </a:p>
          <a:p>
            <a:r>
              <a:rPr lang="en-US" sz="1200">
                <a:cs typeface="Segoe UI"/>
              </a:rPr>
              <a:t>tables State Team Position Age Games; </a:t>
            </a:r>
          </a:p>
          <a:p>
            <a:r>
              <a:rPr lang="en-US" sz="1200">
                <a:cs typeface="Segoe UI"/>
              </a:rPr>
              <a:t>run; </a:t>
            </a:r>
          </a:p>
          <a:p>
            <a:endParaRPr lang="en-US" sz="1200">
              <a:cs typeface="Segoe UI"/>
            </a:endParaRPr>
          </a:p>
          <a:p>
            <a:r>
              <a:rPr lang="en-US" sz="1200">
                <a:cs typeface="Segoe UI"/>
              </a:rPr>
              <a:t>proc freq data=final356.fantasy; </a:t>
            </a:r>
          </a:p>
          <a:p>
            <a:r>
              <a:rPr lang="en-US" sz="1200">
                <a:cs typeface="Segoe UI"/>
              </a:rPr>
              <a:t>table College / nocum; </a:t>
            </a:r>
          </a:p>
          <a:p>
            <a:r>
              <a:rPr lang="en-US" sz="1200">
                <a:cs typeface="Segoe UI"/>
              </a:rPr>
              <a:t>run; </a:t>
            </a:r>
          </a:p>
        </p:txBody>
      </p:sp>
    </p:spTree>
    <p:extLst>
      <p:ext uri="{BB962C8B-B14F-4D97-AF65-F5344CB8AC3E}">
        <p14:creationId xmlns:p14="http://schemas.microsoft.com/office/powerpoint/2010/main" val="423744468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C0058C-23DF-647B-3D87-084784A3999B}"/>
              </a:ext>
            </a:extLst>
          </p:cNvPr>
          <p:cNvSpPr>
            <a:spLocks noGrp="1"/>
          </p:cNvSpPr>
          <p:nvPr>
            <p:ph type="title"/>
          </p:nvPr>
        </p:nvSpPr>
        <p:spPr/>
        <p:txBody>
          <a:bodyPr/>
          <a:lstStyle/>
          <a:p>
            <a:r>
              <a:rPr lang="en-US">
                <a:cs typeface="Calibri Light"/>
              </a:rPr>
              <a:t>Regression Analysis Test</a:t>
            </a:r>
          </a:p>
        </p:txBody>
      </p:sp>
      <p:pic>
        <p:nvPicPr>
          <p:cNvPr id="4" name="Picture 4" descr="Table&#10;&#10;Description automatically generated">
            <a:extLst>
              <a:ext uri="{FF2B5EF4-FFF2-40B4-BE49-F238E27FC236}">
                <a16:creationId xmlns:a16="http://schemas.microsoft.com/office/drawing/2014/main" id="{E65A19EB-AA7C-3B1C-6910-1A8EE1FABBDC}"/>
              </a:ext>
            </a:extLst>
          </p:cNvPr>
          <p:cNvPicPr>
            <a:picLocks noGrp="1" noChangeAspect="1"/>
          </p:cNvPicPr>
          <p:nvPr>
            <p:ph idx="1"/>
          </p:nvPr>
        </p:nvPicPr>
        <p:blipFill>
          <a:blip r:embed="rId2"/>
          <a:stretch>
            <a:fillRect/>
          </a:stretch>
        </p:blipFill>
        <p:spPr>
          <a:xfrm>
            <a:off x="190744" y="2606492"/>
            <a:ext cx="4376126" cy="4088911"/>
          </a:xfrm>
        </p:spPr>
      </p:pic>
      <p:sp>
        <p:nvSpPr>
          <p:cNvPr id="5" name="TextBox 4">
            <a:extLst>
              <a:ext uri="{FF2B5EF4-FFF2-40B4-BE49-F238E27FC236}">
                <a16:creationId xmlns:a16="http://schemas.microsoft.com/office/drawing/2014/main" id="{1968FCD9-E541-5419-26CB-689C6C0C43E9}"/>
              </a:ext>
            </a:extLst>
          </p:cNvPr>
          <p:cNvSpPr txBox="1"/>
          <p:nvPr/>
        </p:nvSpPr>
        <p:spPr>
          <a:xfrm>
            <a:off x="1470837" y="1842977"/>
            <a:ext cx="249865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highlight>
                  <a:srgbClr val="FFFF00"/>
                </a:highlight>
                <a:cs typeface="Calibri"/>
              </a:rPr>
              <a:t>Total vs </a:t>
            </a:r>
            <a:r>
              <a:rPr lang="en-US" u="sng" dirty="0">
                <a:highlight>
                  <a:srgbClr val="FFFF00"/>
                </a:highlight>
                <a:cs typeface="Calibri"/>
              </a:rPr>
              <a:t>Age and Games</a:t>
            </a:r>
            <a:endParaRPr lang="en-US" u="sng" dirty="0">
              <a:highlight>
                <a:srgbClr val="FFFF00"/>
              </a:highlight>
              <a:ea typeface="Calibri"/>
              <a:cs typeface="Calibri"/>
            </a:endParaRPr>
          </a:p>
        </p:txBody>
      </p:sp>
      <p:pic>
        <p:nvPicPr>
          <p:cNvPr id="3" name="Picture 5" descr="Table&#10;&#10;Description automatically generated">
            <a:extLst>
              <a:ext uri="{FF2B5EF4-FFF2-40B4-BE49-F238E27FC236}">
                <a16:creationId xmlns:a16="http://schemas.microsoft.com/office/drawing/2014/main" id="{7FFABF6A-FE16-2753-98A2-B4D6BECB9BE4}"/>
              </a:ext>
            </a:extLst>
          </p:cNvPr>
          <p:cNvPicPr>
            <a:picLocks noChangeAspect="1"/>
          </p:cNvPicPr>
          <p:nvPr/>
        </p:nvPicPr>
        <p:blipFill>
          <a:blip r:embed="rId3"/>
          <a:stretch>
            <a:fillRect/>
          </a:stretch>
        </p:blipFill>
        <p:spPr>
          <a:xfrm>
            <a:off x="6718004" y="819530"/>
            <a:ext cx="4462130" cy="5954357"/>
          </a:xfrm>
          <a:prstGeom prst="rect">
            <a:avLst/>
          </a:prstGeom>
        </p:spPr>
      </p:pic>
      <p:sp>
        <p:nvSpPr>
          <p:cNvPr id="6" name="TextBox 5">
            <a:extLst>
              <a:ext uri="{FF2B5EF4-FFF2-40B4-BE49-F238E27FC236}">
                <a16:creationId xmlns:a16="http://schemas.microsoft.com/office/drawing/2014/main" id="{FCCA0E04-40A1-87E5-C215-419767F15769}"/>
              </a:ext>
            </a:extLst>
          </p:cNvPr>
          <p:cNvSpPr txBox="1"/>
          <p:nvPr/>
        </p:nvSpPr>
        <p:spPr>
          <a:xfrm>
            <a:off x="8009860" y="327836"/>
            <a:ext cx="2932813"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err="1">
                <a:cs typeface="Calibri"/>
              </a:rPr>
              <a:t>Per_Game</a:t>
            </a:r>
            <a:r>
              <a:rPr lang="en-US">
                <a:cs typeface="Calibri"/>
              </a:rPr>
              <a:t> vs All Other Stats</a:t>
            </a:r>
            <a:endParaRPr lang="en-US"/>
          </a:p>
        </p:txBody>
      </p:sp>
      <p:sp>
        <p:nvSpPr>
          <p:cNvPr id="7" name="TextBox 6">
            <a:extLst>
              <a:ext uri="{FF2B5EF4-FFF2-40B4-BE49-F238E27FC236}">
                <a16:creationId xmlns:a16="http://schemas.microsoft.com/office/drawing/2014/main" id="{441CA7B2-B1C5-4550-5A9A-647A45D8AC6D}"/>
              </a:ext>
            </a:extLst>
          </p:cNvPr>
          <p:cNvSpPr txBox="1"/>
          <p:nvPr/>
        </p:nvSpPr>
        <p:spPr>
          <a:xfrm>
            <a:off x="4872916" y="5280611"/>
            <a:ext cx="1669605" cy="120032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ea typeface="Calibri"/>
                <a:cs typeface="Calibri"/>
              </a:rPr>
              <a:t>Age has a smaller impact than we expected</a:t>
            </a:r>
            <a:endParaRPr lang="en-US" dirty="0"/>
          </a:p>
        </p:txBody>
      </p:sp>
      <p:sp>
        <p:nvSpPr>
          <p:cNvPr id="8" name="TextBox 7">
            <a:extLst>
              <a:ext uri="{FF2B5EF4-FFF2-40B4-BE49-F238E27FC236}">
                <a16:creationId xmlns:a16="http://schemas.microsoft.com/office/drawing/2014/main" id="{E49C5824-EE6B-29B6-FAE5-7723C51FF6FE}"/>
              </a:ext>
            </a:extLst>
          </p:cNvPr>
          <p:cNvSpPr txBox="1"/>
          <p:nvPr/>
        </p:nvSpPr>
        <p:spPr>
          <a:xfrm>
            <a:off x="4539967" y="2530617"/>
            <a:ext cx="2743200"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200">
                <a:cs typeface="Segoe UI"/>
              </a:rPr>
              <a:t>proc reg data=final356.fantasy; </a:t>
            </a:r>
          </a:p>
          <a:p>
            <a:r>
              <a:rPr lang="en-US" sz="1200">
                <a:cs typeface="Segoe UI"/>
              </a:rPr>
              <a:t>model Total = Age Games; </a:t>
            </a:r>
          </a:p>
          <a:p>
            <a:r>
              <a:rPr lang="en-US" sz="1200">
                <a:cs typeface="Segoe UI"/>
              </a:rPr>
              <a:t>run; </a:t>
            </a:r>
          </a:p>
        </p:txBody>
      </p:sp>
    </p:spTree>
    <p:extLst>
      <p:ext uri="{BB962C8B-B14F-4D97-AF65-F5344CB8AC3E}">
        <p14:creationId xmlns:p14="http://schemas.microsoft.com/office/powerpoint/2010/main" val="328910557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705E7E-435E-CF6A-8013-E03EAA60159F}"/>
              </a:ext>
            </a:extLst>
          </p:cNvPr>
          <p:cNvSpPr>
            <a:spLocks noGrp="1"/>
          </p:cNvSpPr>
          <p:nvPr>
            <p:ph type="title"/>
          </p:nvPr>
        </p:nvSpPr>
        <p:spPr/>
        <p:txBody>
          <a:bodyPr>
            <a:normAutofit/>
          </a:bodyPr>
          <a:lstStyle/>
          <a:p>
            <a:r>
              <a:rPr lang="en-US" u="sng" dirty="0">
                <a:ea typeface="Calibri Light"/>
                <a:cs typeface="Calibri Light"/>
              </a:rPr>
              <a:t>ANOVA Tables by Position vs Per-game Score</a:t>
            </a:r>
            <a:br>
              <a:rPr lang="en-US" u="sng" dirty="0">
                <a:ea typeface="Calibri Light"/>
                <a:cs typeface="Calibri Light"/>
              </a:rPr>
            </a:br>
            <a:endParaRPr lang="en-US" u="sng" dirty="0">
              <a:ea typeface="Calibri Light"/>
              <a:cs typeface="Calibri Light"/>
            </a:endParaRPr>
          </a:p>
        </p:txBody>
      </p:sp>
      <p:pic>
        <p:nvPicPr>
          <p:cNvPr id="4" name="Picture 4" descr="Table&#10;&#10;Description automatically generated">
            <a:extLst>
              <a:ext uri="{FF2B5EF4-FFF2-40B4-BE49-F238E27FC236}">
                <a16:creationId xmlns:a16="http://schemas.microsoft.com/office/drawing/2014/main" id="{EB1D5170-3DA1-7377-8FCD-01CE7B82D547}"/>
              </a:ext>
            </a:extLst>
          </p:cNvPr>
          <p:cNvPicPr>
            <a:picLocks noGrp="1" noChangeAspect="1"/>
          </p:cNvPicPr>
          <p:nvPr>
            <p:ph idx="1"/>
          </p:nvPr>
        </p:nvPicPr>
        <p:blipFill>
          <a:blip r:embed="rId2"/>
          <a:stretch>
            <a:fillRect/>
          </a:stretch>
        </p:blipFill>
        <p:spPr>
          <a:xfrm>
            <a:off x="-2493" y="2249821"/>
            <a:ext cx="2898043" cy="3532555"/>
          </a:xfrm>
        </p:spPr>
      </p:pic>
      <p:pic>
        <p:nvPicPr>
          <p:cNvPr id="5" name="Picture 5" descr="Table&#10;&#10;Description automatically generated">
            <a:extLst>
              <a:ext uri="{FF2B5EF4-FFF2-40B4-BE49-F238E27FC236}">
                <a16:creationId xmlns:a16="http://schemas.microsoft.com/office/drawing/2014/main" id="{5EC81A32-D98C-03AC-0160-368CB3E72BCA}"/>
              </a:ext>
            </a:extLst>
          </p:cNvPr>
          <p:cNvPicPr>
            <a:picLocks noChangeAspect="1"/>
          </p:cNvPicPr>
          <p:nvPr/>
        </p:nvPicPr>
        <p:blipFill rotWithShape="1">
          <a:blip r:embed="rId3"/>
          <a:srcRect l="8467" r="4348" b="-328"/>
          <a:stretch/>
        </p:blipFill>
        <p:spPr>
          <a:xfrm>
            <a:off x="2897493" y="2260942"/>
            <a:ext cx="3085377" cy="3526582"/>
          </a:xfrm>
          <a:prstGeom prst="rect">
            <a:avLst/>
          </a:prstGeom>
        </p:spPr>
      </p:pic>
      <p:pic>
        <p:nvPicPr>
          <p:cNvPr id="6" name="Picture 6" descr="Table&#10;&#10;Description automatically generated">
            <a:extLst>
              <a:ext uri="{FF2B5EF4-FFF2-40B4-BE49-F238E27FC236}">
                <a16:creationId xmlns:a16="http://schemas.microsoft.com/office/drawing/2014/main" id="{C47D28DD-5B37-2B7E-6225-9881F1127928}"/>
              </a:ext>
            </a:extLst>
          </p:cNvPr>
          <p:cNvPicPr>
            <a:picLocks noChangeAspect="1"/>
          </p:cNvPicPr>
          <p:nvPr/>
        </p:nvPicPr>
        <p:blipFill>
          <a:blip r:embed="rId4"/>
          <a:stretch>
            <a:fillRect/>
          </a:stretch>
        </p:blipFill>
        <p:spPr>
          <a:xfrm>
            <a:off x="5983659" y="2325020"/>
            <a:ext cx="2967892" cy="3459276"/>
          </a:xfrm>
          <a:prstGeom prst="rect">
            <a:avLst/>
          </a:prstGeom>
        </p:spPr>
      </p:pic>
      <p:pic>
        <p:nvPicPr>
          <p:cNvPr id="7" name="Picture 7" descr="Table&#10;&#10;Description automatically generated">
            <a:extLst>
              <a:ext uri="{FF2B5EF4-FFF2-40B4-BE49-F238E27FC236}">
                <a16:creationId xmlns:a16="http://schemas.microsoft.com/office/drawing/2014/main" id="{07BEDE68-BF66-4855-5ACB-7D6DAB99DBE4}"/>
              </a:ext>
            </a:extLst>
          </p:cNvPr>
          <p:cNvPicPr>
            <a:picLocks noChangeAspect="1"/>
          </p:cNvPicPr>
          <p:nvPr/>
        </p:nvPicPr>
        <p:blipFill rotWithShape="1">
          <a:blip r:embed="rId5"/>
          <a:srcRect l="8397" r="3308" b="-260"/>
          <a:stretch/>
        </p:blipFill>
        <p:spPr>
          <a:xfrm>
            <a:off x="8952597" y="2322477"/>
            <a:ext cx="3231896" cy="3593761"/>
          </a:xfrm>
          <a:prstGeom prst="rect">
            <a:avLst/>
          </a:prstGeom>
        </p:spPr>
      </p:pic>
      <p:sp>
        <p:nvSpPr>
          <p:cNvPr id="3" name="TextBox 2">
            <a:extLst>
              <a:ext uri="{FF2B5EF4-FFF2-40B4-BE49-F238E27FC236}">
                <a16:creationId xmlns:a16="http://schemas.microsoft.com/office/drawing/2014/main" id="{1252B8F4-B030-866D-8D19-B8B4E64338BD}"/>
              </a:ext>
            </a:extLst>
          </p:cNvPr>
          <p:cNvSpPr txBox="1"/>
          <p:nvPr/>
        </p:nvSpPr>
        <p:spPr>
          <a:xfrm>
            <a:off x="242675" y="6212484"/>
            <a:ext cx="2184076"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dirty="0">
                <a:ea typeface="Calibri"/>
                <a:cs typeface="Calibri"/>
              </a:rPr>
              <a:t>Kickers</a:t>
            </a:r>
            <a:endParaRPr lang="en-US" dirty="0"/>
          </a:p>
        </p:txBody>
      </p:sp>
      <p:sp>
        <p:nvSpPr>
          <p:cNvPr id="8" name="TextBox 7">
            <a:extLst>
              <a:ext uri="{FF2B5EF4-FFF2-40B4-BE49-F238E27FC236}">
                <a16:creationId xmlns:a16="http://schemas.microsoft.com/office/drawing/2014/main" id="{5B5502DE-B31D-FD3D-EB6F-7F011FDE7799}"/>
              </a:ext>
            </a:extLst>
          </p:cNvPr>
          <p:cNvSpPr txBox="1"/>
          <p:nvPr/>
        </p:nvSpPr>
        <p:spPr>
          <a:xfrm>
            <a:off x="2960637" y="6154241"/>
            <a:ext cx="2611184"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dirty="0">
                <a:ea typeface="Calibri"/>
                <a:cs typeface="Calibri"/>
              </a:rPr>
              <a:t>Quarterbacks</a:t>
            </a:r>
            <a:endParaRPr lang="en-US" dirty="0" err="1"/>
          </a:p>
        </p:txBody>
      </p:sp>
      <p:sp>
        <p:nvSpPr>
          <p:cNvPr id="9" name="TextBox 8">
            <a:extLst>
              <a:ext uri="{FF2B5EF4-FFF2-40B4-BE49-F238E27FC236}">
                <a16:creationId xmlns:a16="http://schemas.microsoft.com/office/drawing/2014/main" id="{ACAB38B6-DDF4-B74E-7124-712F5152A150}"/>
              </a:ext>
            </a:extLst>
          </p:cNvPr>
          <p:cNvSpPr txBox="1"/>
          <p:nvPr/>
        </p:nvSpPr>
        <p:spPr>
          <a:xfrm>
            <a:off x="6095999" y="6154241"/>
            <a:ext cx="2232611"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ea typeface="Calibri"/>
                <a:cs typeface="Calibri"/>
              </a:rPr>
              <a:t>Running backs</a:t>
            </a:r>
            <a:endParaRPr lang="en-US" dirty="0" err="1">
              <a:ea typeface="Calibri" panose="020F0502020204030204"/>
              <a:cs typeface="Calibri" panose="020F0502020204030204"/>
            </a:endParaRPr>
          </a:p>
        </p:txBody>
      </p:sp>
      <p:sp>
        <p:nvSpPr>
          <p:cNvPr id="11" name="TextBox 10">
            <a:extLst>
              <a:ext uri="{FF2B5EF4-FFF2-40B4-BE49-F238E27FC236}">
                <a16:creationId xmlns:a16="http://schemas.microsoft.com/office/drawing/2014/main" id="{E2C97FD4-5456-D660-C150-AA8111E54CB1}"/>
              </a:ext>
            </a:extLst>
          </p:cNvPr>
          <p:cNvSpPr txBox="1"/>
          <p:nvPr/>
        </p:nvSpPr>
        <p:spPr>
          <a:xfrm>
            <a:off x="9250776" y="5877591"/>
            <a:ext cx="2019057" cy="9233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ea typeface="Calibri"/>
                <a:cs typeface="Calibri"/>
              </a:rPr>
              <a:t>Wide Receivers</a:t>
            </a:r>
          </a:p>
          <a:p>
            <a:r>
              <a:rPr lang="en-US" dirty="0">
                <a:ea typeface="Calibri"/>
                <a:cs typeface="Calibri"/>
              </a:rPr>
              <a:t>And </a:t>
            </a:r>
          </a:p>
          <a:p>
            <a:r>
              <a:rPr lang="en-US" dirty="0">
                <a:ea typeface="Calibri"/>
                <a:cs typeface="Calibri"/>
              </a:rPr>
              <a:t>Tight ends</a:t>
            </a:r>
          </a:p>
        </p:txBody>
      </p:sp>
      <p:sp>
        <p:nvSpPr>
          <p:cNvPr id="10" name="TextBox 9">
            <a:extLst>
              <a:ext uri="{FF2B5EF4-FFF2-40B4-BE49-F238E27FC236}">
                <a16:creationId xmlns:a16="http://schemas.microsoft.com/office/drawing/2014/main" id="{4DE52F3B-3D30-3304-FEF6-833FDC5201AF}"/>
              </a:ext>
            </a:extLst>
          </p:cNvPr>
          <p:cNvSpPr txBox="1"/>
          <p:nvPr/>
        </p:nvSpPr>
        <p:spPr>
          <a:xfrm>
            <a:off x="4258464" y="1026031"/>
            <a:ext cx="2743200" cy="276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endParaRPr lang="en-US" sz="1200" dirty="0">
              <a:cs typeface="Segoe UI"/>
            </a:endParaRPr>
          </a:p>
        </p:txBody>
      </p:sp>
    </p:spTree>
    <p:extLst>
      <p:ext uri="{BB962C8B-B14F-4D97-AF65-F5344CB8AC3E}">
        <p14:creationId xmlns:p14="http://schemas.microsoft.com/office/powerpoint/2010/main" val="368621972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903DDC-D49D-598A-8000-BA6E9498FF7C}"/>
              </a:ext>
            </a:extLst>
          </p:cNvPr>
          <p:cNvSpPr>
            <a:spLocks noGrp="1"/>
          </p:cNvSpPr>
          <p:nvPr>
            <p:ph type="title"/>
          </p:nvPr>
        </p:nvSpPr>
        <p:spPr>
          <a:xfrm>
            <a:off x="793898" y="37288"/>
            <a:ext cx="10515600" cy="1325563"/>
          </a:xfrm>
        </p:spPr>
        <p:txBody>
          <a:bodyPr/>
          <a:lstStyle/>
          <a:p>
            <a:r>
              <a:rPr lang="en-US" dirty="0">
                <a:cs typeface="Calibri Light"/>
              </a:rPr>
              <a:t>Regression Code</a:t>
            </a:r>
            <a:endParaRPr lang="en-US" dirty="0"/>
          </a:p>
        </p:txBody>
      </p:sp>
      <p:sp>
        <p:nvSpPr>
          <p:cNvPr id="3" name="Content Placeholder 2">
            <a:extLst>
              <a:ext uri="{FF2B5EF4-FFF2-40B4-BE49-F238E27FC236}">
                <a16:creationId xmlns:a16="http://schemas.microsoft.com/office/drawing/2014/main" id="{BC626A0D-B90C-7A94-4F2A-8B974FFF0FA0}"/>
              </a:ext>
            </a:extLst>
          </p:cNvPr>
          <p:cNvSpPr>
            <a:spLocks noGrp="1"/>
          </p:cNvSpPr>
          <p:nvPr>
            <p:ph idx="1"/>
          </p:nvPr>
        </p:nvSpPr>
        <p:spPr>
          <a:xfrm>
            <a:off x="42226" y="1369396"/>
            <a:ext cx="12151229" cy="5487057"/>
          </a:xfrm>
        </p:spPr>
        <p:txBody>
          <a:bodyPr vert="horz" lIns="91440" tIns="45720" rIns="91440" bIns="45720" rtlCol="0" anchor="t">
            <a:noAutofit/>
          </a:bodyPr>
          <a:lstStyle/>
          <a:p>
            <a:pPr marL="0" indent="0">
              <a:buNone/>
            </a:pPr>
            <a:r>
              <a:rPr lang="en-US" sz="1100" dirty="0">
                <a:ea typeface="+mn-lt"/>
                <a:cs typeface="+mn-lt"/>
              </a:rPr>
              <a:t>proc reg data=final356.fantasy;</a:t>
            </a:r>
            <a:endParaRPr lang="en-US" sz="1100">
              <a:ea typeface="Calibri"/>
              <a:cs typeface="Calibri"/>
            </a:endParaRPr>
          </a:p>
          <a:p>
            <a:pPr marL="0" indent="0">
              <a:buNone/>
            </a:pPr>
            <a:r>
              <a:rPr lang="en-US" sz="1100" dirty="0">
                <a:ea typeface="+mn-lt"/>
                <a:cs typeface="+mn-lt"/>
              </a:rPr>
              <a:t>model </a:t>
            </a:r>
            <a:r>
              <a:rPr lang="en-US" sz="1100" dirty="0" err="1">
                <a:ea typeface="+mn-lt"/>
                <a:cs typeface="+mn-lt"/>
              </a:rPr>
              <a:t>Per_Game</a:t>
            </a:r>
            <a:r>
              <a:rPr lang="en-US" sz="1100" dirty="0">
                <a:ea typeface="+mn-lt"/>
                <a:cs typeface="+mn-lt"/>
              </a:rPr>
              <a:t> = Age Games </a:t>
            </a:r>
            <a:r>
              <a:rPr lang="en-US" sz="1100" dirty="0" err="1">
                <a:ea typeface="+mn-lt"/>
                <a:cs typeface="+mn-lt"/>
              </a:rPr>
              <a:t>Pass_Yards</a:t>
            </a:r>
            <a:r>
              <a:rPr lang="en-US" sz="1100" dirty="0">
                <a:ea typeface="+mn-lt"/>
                <a:cs typeface="+mn-lt"/>
              </a:rPr>
              <a:t> </a:t>
            </a:r>
            <a:r>
              <a:rPr lang="en-US" sz="1100" dirty="0" err="1">
                <a:ea typeface="+mn-lt"/>
                <a:cs typeface="+mn-lt"/>
              </a:rPr>
              <a:t>Pass_TDs</a:t>
            </a:r>
            <a:r>
              <a:rPr lang="en-US" sz="1100" dirty="0">
                <a:ea typeface="+mn-lt"/>
                <a:cs typeface="+mn-lt"/>
              </a:rPr>
              <a:t> </a:t>
            </a:r>
            <a:r>
              <a:rPr lang="en-US" sz="1100" dirty="0" err="1">
                <a:ea typeface="+mn-lt"/>
                <a:cs typeface="+mn-lt"/>
              </a:rPr>
              <a:t>Ints</a:t>
            </a:r>
            <a:r>
              <a:rPr lang="en-US" sz="1100" dirty="0">
                <a:ea typeface="+mn-lt"/>
                <a:cs typeface="+mn-lt"/>
              </a:rPr>
              <a:t> </a:t>
            </a:r>
            <a:r>
              <a:rPr lang="en-US" sz="1100" dirty="0" err="1">
                <a:ea typeface="+mn-lt"/>
                <a:cs typeface="+mn-lt"/>
              </a:rPr>
              <a:t>Rush_Yards</a:t>
            </a:r>
            <a:r>
              <a:rPr lang="en-US" sz="1100" dirty="0">
                <a:ea typeface="+mn-lt"/>
                <a:cs typeface="+mn-lt"/>
              </a:rPr>
              <a:t> </a:t>
            </a:r>
            <a:r>
              <a:rPr lang="en-US" sz="1100" dirty="0" err="1">
                <a:ea typeface="+mn-lt"/>
                <a:cs typeface="+mn-lt"/>
              </a:rPr>
              <a:t>Rush_TDs</a:t>
            </a:r>
            <a:r>
              <a:rPr lang="en-US" sz="1100" dirty="0">
                <a:ea typeface="+mn-lt"/>
                <a:cs typeface="+mn-lt"/>
              </a:rPr>
              <a:t> Receptions </a:t>
            </a:r>
            <a:r>
              <a:rPr lang="en-US" sz="1100" dirty="0" err="1">
                <a:ea typeface="+mn-lt"/>
                <a:cs typeface="+mn-lt"/>
              </a:rPr>
              <a:t>Rec_Yards</a:t>
            </a:r>
            <a:r>
              <a:rPr lang="en-US" sz="1100" dirty="0">
                <a:ea typeface="+mn-lt"/>
                <a:cs typeface="+mn-lt"/>
              </a:rPr>
              <a:t> </a:t>
            </a:r>
            <a:r>
              <a:rPr lang="en-US" sz="1100" dirty="0" err="1">
                <a:ea typeface="+mn-lt"/>
                <a:cs typeface="+mn-lt"/>
              </a:rPr>
              <a:t>Rec_TDs</a:t>
            </a:r>
            <a:r>
              <a:rPr lang="en-US" sz="1100" dirty="0">
                <a:ea typeface="+mn-lt"/>
                <a:cs typeface="+mn-lt"/>
              </a:rPr>
              <a:t> Fumbles </a:t>
            </a:r>
            <a:r>
              <a:rPr lang="en-US" sz="1100" dirty="0" err="1">
                <a:ea typeface="+mn-lt"/>
                <a:cs typeface="+mn-lt"/>
              </a:rPr>
              <a:t>Two_Pt</a:t>
            </a:r>
            <a:r>
              <a:rPr lang="en-US" sz="1100" dirty="0">
                <a:ea typeface="+mn-lt"/>
                <a:cs typeface="+mn-lt"/>
              </a:rPr>
              <a:t> XP FG_30 FG_40 FG_50 FG_60 </a:t>
            </a:r>
            <a:r>
              <a:rPr lang="en-US" sz="1100" dirty="0" err="1">
                <a:ea typeface="+mn-lt"/>
                <a:cs typeface="+mn-lt"/>
              </a:rPr>
              <a:t>FG_Miss</a:t>
            </a:r>
            <a:r>
              <a:rPr lang="en-US" sz="1100" dirty="0">
                <a:ea typeface="+mn-lt"/>
                <a:cs typeface="+mn-lt"/>
              </a:rPr>
              <a:t>;</a:t>
            </a:r>
          </a:p>
          <a:p>
            <a:pPr marL="0" indent="0">
              <a:buNone/>
            </a:pPr>
            <a:r>
              <a:rPr lang="en-US" sz="1100" dirty="0">
                <a:ea typeface="+mn-lt"/>
                <a:cs typeface="+mn-lt"/>
              </a:rPr>
              <a:t>run;</a:t>
            </a:r>
          </a:p>
          <a:p>
            <a:endParaRPr lang="en-US" sz="1100" dirty="0">
              <a:ea typeface="+mn-lt"/>
              <a:cs typeface="+mn-lt"/>
            </a:endParaRPr>
          </a:p>
          <a:p>
            <a:pPr marL="0" indent="0">
              <a:buNone/>
            </a:pPr>
            <a:r>
              <a:rPr lang="en-US" sz="1100" dirty="0">
                <a:ea typeface="+mn-lt"/>
                <a:cs typeface="+mn-lt"/>
              </a:rPr>
              <a:t>proc reg data=final356.ks;</a:t>
            </a:r>
          </a:p>
          <a:p>
            <a:pPr marL="0" indent="0">
              <a:buNone/>
            </a:pPr>
            <a:r>
              <a:rPr lang="en-US" sz="1100" dirty="0">
                <a:ea typeface="+mn-lt"/>
                <a:cs typeface="+mn-lt"/>
              </a:rPr>
              <a:t>model </a:t>
            </a:r>
            <a:r>
              <a:rPr lang="en-US" sz="1100" dirty="0" err="1">
                <a:ea typeface="+mn-lt"/>
                <a:cs typeface="+mn-lt"/>
              </a:rPr>
              <a:t>Per_Game</a:t>
            </a:r>
            <a:r>
              <a:rPr lang="en-US" sz="1100" dirty="0">
                <a:ea typeface="+mn-lt"/>
                <a:cs typeface="+mn-lt"/>
              </a:rPr>
              <a:t> = Age Games XP FG_30 FG_40 FG_50 FG_60 </a:t>
            </a:r>
            <a:r>
              <a:rPr lang="en-US" sz="1100" dirty="0" err="1">
                <a:ea typeface="+mn-lt"/>
                <a:cs typeface="+mn-lt"/>
              </a:rPr>
              <a:t>FG_Miss</a:t>
            </a:r>
            <a:r>
              <a:rPr lang="en-US" sz="1100" dirty="0">
                <a:ea typeface="+mn-lt"/>
                <a:cs typeface="+mn-lt"/>
              </a:rPr>
              <a:t>;</a:t>
            </a:r>
          </a:p>
          <a:p>
            <a:pPr marL="0" indent="0">
              <a:buNone/>
            </a:pPr>
            <a:r>
              <a:rPr lang="en-US" sz="1100" dirty="0">
                <a:ea typeface="+mn-lt"/>
                <a:cs typeface="+mn-lt"/>
              </a:rPr>
              <a:t>run;</a:t>
            </a:r>
          </a:p>
          <a:p>
            <a:endParaRPr lang="en-US" sz="1100" dirty="0">
              <a:ea typeface="+mn-lt"/>
              <a:cs typeface="+mn-lt"/>
            </a:endParaRPr>
          </a:p>
          <a:p>
            <a:pPr marL="0" indent="0">
              <a:buNone/>
            </a:pPr>
            <a:r>
              <a:rPr lang="en-US" sz="1100" dirty="0">
                <a:ea typeface="+mn-lt"/>
                <a:cs typeface="+mn-lt"/>
              </a:rPr>
              <a:t>proc reg data=final356.qbs;</a:t>
            </a:r>
          </a:p>
          <a:p>
            <a:pPr marL="0" indent="0">
              <a:buNone/>
            </a:pPr>
            <a:r>
              <a:rPr lang="en-US" sz="1100" dirty="0">
                <a:ea typeface="+mn-lt"/>
                <a:cs typeface="+mn-lt"/>
              </a:rPr>
              <a:t>model </a:t>
            </a:r>
            <a:r>
              <a:rPr lang="en-US" sz="1100" dirty="0" err="1">
                <a:ea typeface="+mn-lt"/>
                <a:cs typeface="+mn-lt"/>
              </a:rPr>
              <a:t>Per_Game</a:t>
            </a:r>
            <a:r>
              <a:rPr lang="en-US" sz="1100" dirty="0">
                <a:ea typeface="+mn-lt"/>
                <a:cs typeface="+mn-lt"/>
              </a:rPr>
              <a:t> = Age Games </a:t>
            </a:r>
            <a:r>
              <a:rPr lang="en-US" sz="1100" dirty="0" err="1">
                <a:ea typeface="+mn-lt"/>
                <a:cs typeface="+mn-lt"/>
              </a:rPr>
              <a:t>Pass_Yards</a:t>
            </a:r>
            <a:r>
              <a:rPr lang="en-US" sz="1100" dirty="0">
                <a:ea typeface="+mn-lt"/>
                <a:cs typeface="+mn-lt"/>
              </a:rPr>
              <a:t> </a:t>
            </a:r>
            <a:r>
              <a:rPr lang="en-US" sz="1100" dirty="0" err="1">
                <a:ea typeface="+mn-lt"/>
                <a:cs typeface="+mn-lt"/>
              </a:rPr>
              <a:t>Pass_TDs</a:t>
            </a:r>
            <a:r>
              <a:rPr lang="en-US" sz="1100" dirty="0">
                <a:ea typeface="+mn-lt"/>
                <a:cs typeface="+mn-lt"/>
              </a:rPr>
              <a:t> </a:t>
            </a:r>
            <a:r>
              <a:rPr lang="en-US" sz="1100" dirty="0" err="1">
                <a:ea typeface="+mn-lt"/>
                <a:cs typeface="+mn-lt"/>
              </a:rPr>
              <a:t>Ints</a:t>
            </a:r>
            <a:r>
              <a:rPr lang="en-US" sz="1100" dirty="0">
                <a:ea typeface="+mn-lt"/>
                <a:cs typeface="+mn-lt"/>
              </a:rPr>
              <a:t> </a:t>
            </a:r>
            <a:r>
              <a:rPr lang="en-US" sz="1100" dirty="0" err="1">
                <a:ea typeface="+mn-lt"/>
                <a:cs typeface="+mn-lt"/>
              </a:rPr>
              <a:t>Rush_Yards</a:t>
            </a:r>
            <a:r>
              <a:rPr lang="en-US" sz="1100" dirty="0">
                <a:ea typeface="+mn-lt"/>
                <a:cs typeface="+mn-lt"/>
              </a:rPr>
              <a:t> </a:t>
            </a:r>
            <a:r>
              <a:rPr lang="en-US" sz="1100" dirty="0" err="1">
                <a:ea typeface="+mn-lt"/>
                <a:cs typeface="+mn-lt"/>
              </a:rPr>
              <a:t>Rush_TDs</a:t>
            </a:r>
            <a:r>
              <a:rPr lang="en-US" sz="1100" dirty="0">
                <a:ea typeface="+mn-lt"/>
                <a:cs typeface="+mn-lt"/>
              </a:rPr>
              <a:t> Fumbles;</a:t>
            </a:r>
          </a:p>
          <a:p>
            <a:pPr marL="0" indent="0">
              <a:buNone/>
            </a:pPr>
            <a:r>
              <a:rPr lang="en-US" sz="1100" dirty="0">
                <a:ea typeface="+mn-lt"/>
                <a:cs typeface="+mn-lt"/>
              </a:rPr>
              <a:t>run;</a:t>
            </a:r>
          </a:p>
          <a:p>
            <a:endParaRPr lang="en-US" sz="1100" dirty="0">
              <a:ea typeface="+mn-lt"/>
              <a:cs typeface="+mn-lt"/>
            </a:endParaRPr>
          </a:p>
          <a:p>
            <a:pPr marL="0" indent="0">
              <a:buNone/>
            </a:pPr>
            <a:r>
              <a:rPr lang="en-US" sz="1100" dirty="0">
                <a:ea typeface="+mn-lt"/>
                <a:cs typeface="+mn-lt"/>
              </a:rPr>
              <a:t>proc reg data=final356.rbs;</a:t>
            </a:r>
          </a:p>
          <a:p>
            <a:pPr marL="0" indent="0">
              <a:buNone/>
            </a:pPr>
            <a:r>
              <a:rPr lang="en-US" sz="1100" dirty="0">
                <a:ea typeface="+mn-lt"/>
                <a:cs typeface="+mn-lt"/>
              </a:rPr>
              <a:t>model </a:t>
            </a:r>
            <a:r>
              <a:rPr lang="en-US" sz="1100" dirty="0" err="1">
                <a:ea typeface="+mn-lt"/>
                <a:cs typeface="+mn-lt"/>
              </a:rPr>
              <a:t>Per_Game</a:t>
            </a:r>
            <a:r>
              <a:rPr lang="en-US" sz="1100" dirty="0">
                <a:ea typeface="+mn-lt"/>
                <a:cs typeface="+mn-lt"/>
              </a:rPr>
              <a:t> = Age Games </a:t>
            </a:r>
            <a:r>
              <a:rPr lang="en-US" sz="1100" dirty="0" err="1">
                <a:ea typeface="+mn-lt"/>
                <a:cs typeface="+mn-lt"/>
              </a:rPr>
              <a:t>Rush_Yards</a:t>
            </a:r>
            <a:r>
              <a:rPr lang="en-US" sz="1100" dirty="0">
                <a:ea typeface="+mn-lt"/>
                <a:cs typeface="+mn-lt"/>
              </a:rPr>
              <a:t> </a:t>
            </a:r>
            <a:r>
              <a:rPr lang="en-US" sz="1100" dirty="0" err="1">
                <a:ea typeface="+mn-lt"/>
                <a:cs typeface="+mn-lt"/>
              </a:rPr>
              <a:t>Rush_TDs</a:t>
            </a:r>
            <a:r>
              <a:rPr lang="en-US" sz="1100" dirty="0">
                <a:ea typeface="+mn-lt"/>
                <a:cs typeface="+mn-lt"/>
              </a:rPr>
              <a:t> Receptions </a:t>
            </a:r>
            <a:r>
              <a:rPr lang="en-US" sz="1100" dirty="0" err="1">
                <a:ea typeface="+mn-lt"/>
                <a:cs typeface="+mn-lt"/>
              </a:rPr>
              <a:t>Rec_Yards</a:t>
            </a:r>
            <a:r>
              <a:rPr lang="en-US" sz="1100" dirty="0">
                <a:ea typeface="+mn-lt"/>
                <a:cs typeface="+mn-lt"/>
              </a:rPr>
              <a:t> </a:t>
            </a:r>
            <a:r>
              <a:rPr lang="en-US" sz="1100" dirty="0" err="1">
                <a:ea typeface="+mn-lt"/>
                <a:cs typeface="+mn-lt"/>
              </a:rPr>
              <a:t>Rec_TDs</a:t>
            </a:r>
            <a:r>
              <a:rPr lang="en-US" sz="1100" dirty="0">
                <a:ea typeface="+mn-lt"/>
                <a:cs typeface="+mn-lt"/>
              </a:rPr>
              <a:t> Fumbles;</a:t>
            </a:r>
          </a:p>
          <a:p>
            <a:pPr marL="0" indent="0">
              <a:buNone/>
            </a:pPr>
            <a:r>
              <a:rPr lang="en-US" sz="1100" dirty="0">
                <a:ea typeface="+mn-lt"/>
                <a:cs typeface="+mn-lt"/>
              </a:rPr>
              <a:t>run;</a:t>
            </a:r>
          </a:p>
          <a:p>
            <a:pPr marL="0" indent="0">
              <a:buNone/>
            </a:pPr>
            <a:endParaRPr lang="en-US" sz="1100" dirty="0">
              <a:ea typeface="+mn-lt"/>
              <a:cs typeface="+mn-lt"/>
            </a:endParaRPr>
          </a:p>
          <a:p>
            <a:pPr marL="0" indent="0">
              <a:buNone/>
            </a:pPr>
            <a:r>
              <a:rPr lang="en-US" sz="1100" dirty="0">
                <a:ea typeface="+mn-lt"/>
                <a:cs typeface="+mn-lt"/>
              </a:rPr>
              <a:t>proc reg data=final356.recs;</a:t>
            </a:r>
          </a:p>
          <a:p>
            <a:pPr marL="0" indent="0">
              <a:buNone/>
            </a:pPr>
            <a:r>
              <a:rPr lang="en-US" sz="1100" dirty="0">
                <a:ea typeface="+mn-lt"/>
                <a:cs typeface="+mn-lt"/>
              </a:rPr>
              <a:t>model </a:t>
            </a:r>
            <a:r>
              <a:rPr lang="en-US" sz="1100" dirty="0" err="1">
                <a:ea typeface="+mn-lt"/>
                <a:cs typeface="+mn-lt"/>
              </a:rPr>
              <a:t>Per_Game</a:t>
            </a:r>
            <a:r>
              <a:rPr lang="en-US" sz="1100" dirty="0">
                <a:ea typeface="+mn-lt"/>
                <a:cs typeface="+mn-lt"/>
              </a:rPr>
              <a:t> = Age Games </a:t>
            </a:r>
            <a:r>
              <a:rPr lang="en-US" sz="1100" dirty="0" err="1">
                <a:ea typeface="+mn-lt"/>
                <a:cs typeface="+mn-lt"/>
              </a:rPr>
              <a:t>Rush_Yards</a:t>
            </a:r>
            <a:r>
              <a:rPr lang="en-US" sz="1100" dirty="0">
                <a:ea typeface="+mn-lt"/>
                <a:cs typeface="+mn-lt"/>
              </a:rPr>
              <a:t> </a:t>
            </a:r>
            <a:r>
              <a:rPr lang="en-US" sz="1100" dirty="0" err="1">
                <a:ea typeface="+mn-lt"/>
                <a:cs typeface="+mn-lt"/>
              </a:rPr>
              <a:t>Rush_TDs</a:t>
            </a:r>
            <a:r>
              <a:rPr lang="en-US" sz="1100" dirty="0">
                <a:ea typeface="+mn-lt"/>
                <a:cs typeface="+mn-lt"/>
              </a:rPr>
              <a:t> Receptions </a:t>
            </a:r>
            <a:r>
              <a:rPr lang="en-US" sz="1100" dirty="0" err="1">
                <a:ea typeface="+mn-lt"/>
                <a:cs typeface="+mn-lt"/>
              </a:rPr>
              <a:t>Rec_Yards</a:t>
            </a:r>
            <a:r>
              <a:rPr lang="en-US" sz="1100" dirty="0">
                <a:ea typeface="+mn-lt"/>
                <a:cs typeface="+mn-lt"/>
              </a:rPr>
              <a:t> </a:t>
            </a:r>
            <a:r>
              <a:rPr lang="en-US" sz="1100" dirty="0" err="1">
                <a:ea typeface="+mn-lt"/>
                <a:cs typeface="+mn-lt"/>
              </a:rPr>
              <a:t>Rec_TDs</a:t>
            </a:r>
            <a:r>
              <a:rPr lang="en-US" sz="1100" dirty="0">
                <a:ea typeface="+mn-lt"/>
                <a:cs typeface="+mn-lt"/>
              </a:rPr>
              <a:t> Fumbles;</a:t>
            </a:r>
          </a:p>
          <a:p>
            <a:pPr marL="0" indent="0">
              <a:buNone/>
            </a:pPr>
            <a:r>
              <a:rPr lang="en-US" sz="1100" dirty="0">
                <a:ea typeface="+mn-lt"/>
                <a:cs typeface="+mn-lt"/>
              </a:rPr>
              <a:t>run;</a:t>
            </a:r>
          </a:p>
          <a:p>
            <a:endParaRPr lang="en-US" dirty="0">
              <a:cs typeface="Calibri"/>
            </a:endParaRPr>
          </a:p>
        </p:txBody>
      </p:sp>
      <p:sp>
        <p:nvSpPr>
          <p:cNvPr id="4" name="TextBox 3">
            <a:extLst>
              <a:ext uri="{FF2B5EF4-FFF2-40B4-BE49-F238E27FC236}">
                <a16:creationId xmlns:a16="http://schemas.microsoft.com/office/drawing/2014/main" id="{0BEF88E8-F31A-35AE-2D41-BB060F27D7C2}"/>
              </a:ext>
            </a:extLst>
          </p:cNvPr>
          <p:cNvSpPr txBox="1"/>
          <p:nvPr/>
        </p:nvSpPr>
        <p:spPr>
          <a:xfrm>
            <a:off x="6547884" y="3102983"/>
            <a:ext cx="4979580" cy="209288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dirty="0">
                <a:cs typeface="Calibri"/>
              </a:rPr>
              <a:t>data final356.qbs final356.rbs final356.recs final356.ks;</a:t>
            </a:r>
            <a:endParaRPr lang="en-US" sz="1600">
              <a:ea typeface="Calibri"/>
              <a:cs typeface="Calibri"/>
            </a:endParaRPr>
          </a:p>
          <a:p>
            <a:r>
              <a:rPr lang="en-US" sz="1600" dirty="0">
                <a:cs typeface="Calibri"/>
              </a:rPr>
              <a:t>set final356.fantasy;</a:t>
            </a:r>
            <a:endParaRPr lang="en-US" sz="1600">
              <a:ea typeface="Calibri"/>
              <a:cs typeface="Calibri"/>
            </a:endParaRPr>
          </a:p>
          <a:p>
            <a:r>
              <a:rPr lang="en-US" sz="1600" dirty="0">
                <a:cs typeface="Calibri"/>
              </a:rPr>
              <a:t>if Position = "QB" then output final356.qbs;</a:t>
            </a:r>
            <a:endParaRPr lang="en-US" sz="1600">
              <a:ea typeface="Calibri"/>
              <a:cs typeface="Calibri"/>
            </a:endParaRPr>
          </a:p>
          <a:p>
            <a:r>
              <a:rPr lang="en-US" sz="1600" dirty="0">
                <a:cs typeface="Calibri"/>
              </a:rPr>
              <a:t>if Position = "RB" then output final356.rbs;</a:t>
            </a:r>
            <a:endParaRPr lang="en-US" sz="1600">
              <a:ea typeface="Calibri"/>
              <a:cs typeface="Calibri"/>
            </a:endParaRPr>
          </a:p>
          <a:p>
            <a:r>
              <a:rPr lang="en-US" sz="1600" dirty="0">
                <a:cs typeface="Calibri"/>
              </a:rPr>
              <a:t>if Position in ("WR", "TE") then output final356.recs;</a:t>
            </a:r>
            <a:endParaRPr lang="en-US" sz="1600">
              <a:ea typeface="Calibri"/>
              <a:cs typeface="Calibri"/>
            </a:endParaRPr>
          </a:p>
          <a:p>
            <a:r>
              <a:rPr lang="en-US" sz="1600" dirty="0">
                <a:cs typeface="Calibri"/>
              </a:rPr>
              <a:t>if Position = "K" then output final356.ks;</a:t>
            </a:r>
            <a:endParaRPr lang="en-US" sz="1600">
              <a:ea typeface="Calibri"/>
              <a:cs typeface="Calibri"/>
            </a:endParaRPr>
          </a:p>
          <a:p>
            <a:r>
              <a:rPr lang="en-US" sz="1600" dirty="0">
                <a:cs typeface="Calibri"/>
              </a:rPr>
              <a:t>run;</a:t>
            </a:r>
            <a:endParaRPr lang="en-US" sz="1600">
              <a:ea typeface="Calibri"/>
              <a:cs typeface="Calibri"/>
            </a:endParaRPr>
          </a:p>
          <a:p>
            <a:pPr algn="l"/>
            <a:endParaRPr lang="en-US" dirty="0">
              <a:cs typeface="Calibri"/>
            </a:endParaRPr>
          </a:p>
        </p:txBody>
      </p:sp>
    </p:spTree>
    <p:extLst>
      <p:ext uri="{BB962C8B-B14F-4D97-AF65-F5344CB8AC3E}">
        <p14:creationId xmlns:p14="http://schemas.microsoft.com/office/powerpoint/2010/main" val="278309571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E537D3-527E-9602-DA93-F9988548FE7E}"/>
              </a:ext>
            </a:extLst>
          </p:cNvPr>
          <p:cNvSpPr>
            <a:spLocks noGrp="1"/>
          </p:cNvSpPr>
          <p:nvPr>
            <p:ph type="title"/>
          </p:nvPr>
        </p:nvSpPr>
        <p:spPr>
          <a:xfrm>
            <a:off x="838200" y="365125"/>
            <a:ext cx="10515600" cy="1059750"/>
          </a:xfrm>
        </p:spPr>
        <p:txBody>
          <a:bodyPr/>
          <a:lstStyle/>
          <a:p>
            <a:r>
              <a:rPr lang="en-US" dirty="0">
                <a:cs typeface="Calibri Light"/>
              </a:rPr>
              <a:t>Total Points and Per Game for each Age</a:t>
            </a:r>
            <a:endParaRPr lang="en-US" dirty="0"/>
          </a:p>
        </p:txBody>
      </p:sp>
      <p:pic>
        <p:nvPicPr>
          <p:cNvPr id="4" name="Picture 4" descr="Graphical user interface, application&#10;&#10;Description automatically generated">
            <a:extLst>
              <a:ext uri="{FF2B5EF4-FFF2-40B4-BE49-F238E27FC236}">
                <a16:creationId xmlns:a16="http://schemas.microsoft.com/office/drawing/2014/main" id="{A6E35B80-3B3A-B317-F8DB-422585844F2A}"/>
              </a:ext>
            </a:extLst>
          </p:cNvPr>
          <p:cNvPicPr>
            <a:picLocks noGrp="1" noChangeAspect="1"/>
          </p:cNvPicPr>
          <p:nvPr>
            <p:ph idx="1"/>
          </p:nvPr>
        </p:nvPicPr>
        <p:blipFill>
          <a:blip r:embed="rId2"/>
          <a:stretch>
            <a:fillRect/>
          </a:stretch>
        </p:blipFill>
        <p:spPr>
          <a:xfrm>
            <a:off x="411347" y="2084776"/>
            <a:ext cx="4210050" cy="838200"/>
          </a:xfrm>
        </p:spPr>
      </p:pic>
      <p:pic>
        <p:nvPicPr>
          <p:cNvPr id="5" name="Picture 5">
            <a:extLst>
              <a:ext uri="{FF2B5EF4-FFF2-40B4-BE49-F238E27FC236}">
                <a16:creationId xmlns:a16="http://schemas.microsoft.com/office/drawing/2014/main" id="{D9B4AFC0-BA4E-E6F0-254D-5FC186C6B7A8}"/>
              </a:ext>
            </a:extLst>
          </p:cNvPr>
          <p:cNvPicPr>
            <a:picLocks noChangeAspect="1"/>
          </p:cNvPicPr>
          <p:nvPr/>
        </p:nvPicPr>
        <p:blipFill>
          <a:blip r:embed="rId3"/>
          <a:stretch>
            <a:fillRect/>
          </a:stretch>
        </p:blipFill>
        <p:spPr>
          <a:xfrm>
            <a:off x="409353" y="3037571"/>
            <a:ext cx="4214037" cy="765137"/>
          </a:xfrm>
          <a:prstGeom prst="rect">
            <a:avLst/>
          </a:prstGeom>
        </p:spPr>
      </p:pic>
      <p:pic>
        <p:nvPicPr>
          <p:cNvPr id="6" name="Picture 6">
            <a:extLst>
              <a:ext uri="{FF2B5EF4-FFF2-40B4-BE49-F238E27FC236}">
                <a16:creationId xmlns:a16="http://schemas.microsoft.com/office/drawing/2014/main" id="{C5F44558-C77B-D667-AD6D-AD329CCBFB68}"/>
              </a:ext>
            </a:extLst>
          </p:cNvPr>
          <p:cNvPicPr>
            <a:picLocks noChangeAspect="1"/>
          </p:cNvPicPr>
          <p:nvPr/>
        </p:nvPicPr>
        <p:blipFill>
          <a:blip r:embed="rId4"/>
          <a:stretch>
            <a:fillRect/>
          </a:stretch>
        </p:blipFill>
        <p:spPr>
          <a:xfrm>
            <a:off x="409353" y="3909678"/>
            <a:ext cx="4214037" cy="837320"/>
          </a:xfrm>
          <a:prstGeom prst="rect">
            <a:avLst/>
          </a:prstGeom>
        </p:spPr>
      </p:pic>
      <p:pic>
        <p:nvPicPr>
          <p:cNvPr id="7" name="Picture 7">
            <a:extLst>
              <a:ext uri="{FF2B5EF4-FFF2-40B4-BE49-F238E27FC236}">
                <a16:creationId xmlns:a16="http://schemas.microsoft.com/office/drawing/2014/main" id="{DCB7FA90-7C38-51A1-DE00-5A9DAAA48B83}"/>
              </a:ext>
            </a:extLst>
          </p:cNvPr>
          <p:cNvPicPr>
            <a:picLocks noChangeAspect="1"/>
          </p:cNvPicPr>
          <p:nvPr/>
        </p:nvPicPr>
        <p:blipFill>
          <a:blip r:embed="rId5"/>
          <a:stretch>
            <a:fillRect/>
          </a:stretch>
        </p:blipFill>
        <p:spPr>
          <a:xfrm>
            <a:off x="409353" y="4877303"/>
            <a:ext cx="4267200" cy="762766"/>
          </a:xfrm>
          <a:prstGeom prst="rect">
            <a:avLst/>
          </a:prstGeom>
        </p:spPr>
      </p:pic>
      <p:pic>
        <p:nvPicPr>
          <p:cNvPr id="8" name="Picture 8">
            <a:extLst>
              <a:ext uri="{FF2B5EF4-FFF2-40B4-BE49-F238E27FC236}">
                <a16:creationId xmlns:a16="http://schemas.microsoft.com/office/drawing/2014/main" id="{55685AE8-3842-9CE7-CC6F-9579D1507296}"/>
              </a:ext>
            </a:extLst>
          </p:cNvPr>
          <p:cNvPicPr>
            <a:picLocks noChangeAspect="1"/>
          </p:cNvPicPr>
          <p:nvPr/>
        </p:nvPicPr>
        <p:blipFill>
          <a:blip r:embed="rId6"/>
          <a:stretch>
            <a:fillRect/>
          </a:stretch>
        </p:blipFill>
        <p:spPr>
          <a:xfrm>
            <a:off x="409353" y="5779152"/>
            <a:ext cx="4214037" cy="713439"/>
          </a:xfrm>
          <a:prstGeom prst="rect">
            <a:avLst/>
          </a:prstGeom>
        </p:spPr>
      </p:pic>
      <p:pic>
        <p:nvPicPr>
          <p:cNvPr id="9" name="Picture 9">
            <a:extLst>
              <a:ext uri="{FF2B5EF4-FFF2-40B4-BE49-F238E27FC236}">
                <a16:creationId xmlns:a16="http://schemas.microsoft.com/office/drawing/2014/main" id="{3324711F-667B-61D8-EE3A-B876F2EAE28C}"/>
              </a:ext>
            </a:extLst>
          </p:cNvPr>
          <p:cNvPicPr>
            <a:picLocks noChangeAspect="1"/>
          </p:cNvPicPr>
          <p:nvPr/>
        </p:nvPicPr>
        <p:blipFill>
          <a:blip r:embed="rId7"/>
          <a:stretch>
            <a:fillRect/>
          </a:stretch>
        </p:blipFill>
        <p:spPr>
          <a:xfrm>
            <a:off x="7293934" y="2086664"/>
            <a:ext cx="4533013" cy="770812"/>
          </a:xfrm>
          <a:prstGeom prst="rect">
            <a:avLst/>
          </a:prstGeom>
        </p:spPr>
      </p:pic>
      <p:pic>
        <p:nvPicPr>
          <p:cNvPr id="10" name="Picture 10">
            <a:extLst>
              <a:ext uri="{FF2B5EF4-FFF2-40B4-BE49-F238E27FC236}">
                <a16:creationId xmlns:a16="http://schemas.microsoft.com/office/drawing/2014/main" id="{484E5EF7-E775-C39A-B525-6BDCFFFFF928}"/>
              </a:ext>
            </a:extLst>
          </p:cNvPr>
          <p:cNvPicPr>
            <a:picLocks noChangeAspect="1"/>
          </p:cNvPicPr>
          <p:nvPr/>
        </p:nvPicPr>
        <p:blipFill>
          <a:blip r:embed="rId8"/>
          <a:stretch>
            <a:fillRect/>
          </a:stretch>
        </p:blipFill>
        <p:spPr>
          <a:xfrm>
            <a:off x="7293935" y="2977517"/>
            <a:ext cx="4559595" cy="823223"/>
          </a:xfrm>
          <a:prstGeom prst="rect">
            <a:avLst/>
          </a:prstGeom>
        </p:spPr>
      </p:pic>
      <p:pic>
        <p:nvPicPr>
          <p:cNvPr id="11" name="Picture 11">
            <a:extLst>
              <a:ext uri="{FF2B5EF4-FFF2-40B4-BE49-F238E27FC236}">
                <a16:creationId xmlns:a16="http://schemas.microsoft.com/office/drawing/2014/main" id="{FA281CB5-10ED-574F-68B8-2F26A6AD22AD}"/>
              </a:ext>
            </a:extLst>
          </p:cNvPr>
          <p:cNvPicPr>
            <a:picLocks noChangeAspect="1"/>
          </p:cNvPicPr>
          <p:nvPr/>
        </p:nvPicPr>
        <p:blipFill>
          <a:blip r:embed="rId9"/>
          <a:stretch>
            <a:fillRect/>
          </a:stretch>
        </p:blipFill>
        <p:spPr>
          <a:xfrm>
            <a:off x="7293935" y="3936845"/>
            <a:ext cx="4559595" cy="907031"/>
          </a:xfrm>
          <a:prstGeom prst="rect">
            <a:avLst/>
          </a:prstGeom>
        </p:spPr>
      </p:pic>
      <p:pic>
        <p:nvPicPr>
          <p:cNvPr id="12" name="Picture 12">
            <a:extLst>
              <a:ext uri="{FF2B5EF4-FFF2-40B4-BE49-F238E27FC236}">
                <a16:creationId xmlns:a16="http://schemas.microsoft.com/office/drawing/2014/main" id="{29A0C51C-049B-CEE7-0AFB-903C7FF95416}"/>
              </a:ext>
            </a:extLst>
          </p:cNvPr>
          <p:cNvPicPr>
            <a:picLocks noChangeAspect="1"/>
          </p:cNvPicPr>
          <p:nvPr/>
        </p:nvPicPr>
        <p:blipFill>
          <a:blip r:embed="rId10"/>
          <a:stretch>
            <a:fillRect/>
          </a:stretch>
        </p:blipFill>
        <p:spPr>
          <a:xfrm>
            <a:off x="7293935" y="4975862"/>
            <a:ext cx="4533013" cy="813740"/>
          </a:xfrm>
          <a:prstGeom prst="rect">
            <a:avLst/>
          </a:prstGeom>
        </p:spPr>
      </p:pic>
      <p:pic>
        <p:nvPicPr>
          <p:cNvPr id="13" name="Picture 13" descr="Graphical user interface, application&#10;&#10;Description automatically generated">
            <a:extLst>
              <a:ext uri="{FF2B5EF4-FFF2-40B4-BE49-F238E27FC236}">
                <a16:creationId xmlns:a16="http://schemas.microsoft.com/office/drawing/2014/main" id="{7500ACBC-01FA-6510-741B-6E383EE57050}"/>
              </a:ext>
            </a:extLst>
          </p:cNvPr>
          <p:cNvPicPr>
            <a:picLocks noChangeAspect="1"/>
          </p:cNvPicPr>
          <p:nvPr/>
        </p:nvPicPr>
        <p:blipFill>
          <a:blip r:embed="rId11"/>
          <a:stretch>
            <a:fillRect/>
          </a:stretch>
        </p:blipFill>
        <p:spPr>
          <a:xfrm>
            <a:off x="7293935" y="5886189"/>
            <a:ext cx="4488711" cy="800622"/>
          </a:xfrm>
          <a:prstGeom prst="rect">
            <a:avLst/>
          </a:prstGeom>
        </p:spPr>
      </p:pic>
      <p:sp>
        <p:nvSpPr>
          <p:cNvPr id="14" name="TextBox 13">
            <a:extLst>
              <a:ext uri="{FF2B5EF4-FFF2-40B4-BE49-F238E27FC236}">
                <a16:creationId xmlns:a16="http://schemas.microsoft.com/office/drawing/2014/main" id="{22694F70-65B3-31ED-A658-CF9242B7E08D}"/>
              </a:ext>
            </a:extLst>
          </p:cNvPr>
          <p:cNvSpPr txBox="1"/>
          <p:nvPr/>
        </p:nvSpPr>
        <p:spPr>
          <a:xfrm>
            <a:off x="1940442" y="1559442"/>
            <a:ext cx="1461976"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cs typeface="Calibri"/>
              </a:rPr>
              <a:t>Top 5</a:t>
            </a:r>
            <a:endParaRPr lang="en-US" dirty="0"/>
          </a:p>
        </p:txBody>
      </p:sp>
      <p:sp>
        <p:nvSpPr>
          <p:cNvPr id="15" name="TextBox 14">
            <a:extLst>
              <a:ext uri="{FF2B5EF4-FFF2-40B4-BE49-F238E27FC236}">
                <a16:creationId xmlns:a16="http://schemas.microsoft.com/office/drawing/2014/main" id="{30D8B38E-EBFA-6B9B-2BEF-D0CE33F410C1}"/>
              </a:ext>
            </a:extLst>
          </p:cNvPr>
          <p:cNvSpPr txBox="1"/>
          <p:nvPr/>
        </p:nvSpPr>
        <p:spPr>
          <a:xfrm>
            <a:off x="9002232" y="1559442"/>
            <a:ext cx="1391093"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cs typeface="Calibri"/>
              </a:rPr>
              <a:t>Bottom 5</a:t>
            </a:r>
            <a:endParaRPr lang="en-US" dirty="0"/>
          </a:p>
        </p:txBody>
      </p:sp>
      <p:sp>
        <p:nvSpPr>
          <p:cNvPr id="3" name="TextBox 2">
            <a:extLst>
              <a:ext uri="{FF2B5EF4-FFF2-40B4-BE49-F238E27FC236}">
                <a16:creationId xmlns:a16="http://schemas.microsoft.com/office/drawing/2014/main" id="{0F742379-D026-3948-2B3C-DAF8C14F0B6D}"/>
              </a:ext>
            </a:extLst>
          </p:cNvPr>
          <p:cNvSpPr txBox="1"/>
          <p:nvPr/>
        </p:nvSpPr>
        <p:spPr>
          <a:xfrm>
            <a:off x="4724400" y="4917195"/>
            <a:ext cx="2743200" cy="175432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200">
                <a:cs typeface="Segoe UI"/>
              </a:rPr>
              <a:t>proc sort data=final356.fantasy out=final356.agesort; </a:t>
            </a:r>
          </a:p>
          <a:p>
            <a:r>
              <a:rPr lang="en-US" sz="1200">
                <a:cs typeface="Segoe UI"/>
              </a:rPr>
              <a:t>by Age; </a:t>
            </a:r>
          </a:p>
          <a:p>
            <a:r>
              <a:rPr lang="en-US" sz="1200">
                <a:cs typeface="Segoe UI"/>
              </a:rPr>
              <a:t>run; </a:t>
            </a:r>
          </a:p>
          <a:p>
            <a:r>
              <a:rPr lang="en-US" sz="1200">
                <a:cs typeface="Segoe UI"/>
              </a:rPr>
              <a:t>  </a:t>
            </a:r>
          </a:p>
          <a:p>
            <a:r>
              <a:rPr lang="en-US" sz="1200">
                <a:cs typeface="Segoe UI"/>
              </a:rPr>
              <a:t>proc means data=final356.agesort; </a:t>
            </a:r>
          </a:p>
          <a:p>
            <a:r>
              <a:rPr lang="en-US" sz="1200">
                <a:cs typeface="Segoe UI"/>
              </a:rPr>
              <a:t>by Age; </a:t>
            </a:r>
          </a:p>
          <a:p>
            <a:r>
              <a:rPr lang="en-US" sz="1200">
                <a:cs typeface="Segoe UI"/>
              </a:rPr>
              <a:t>var Per_Game Total; </a:t>
            </a:r>
          </a:p>
          <a:p>
            <a:r>
              <a:rPr lang="en-US" sz="1200">
                <a:cs typeface="Segoe UI"/>
              </a:rPr>
              <a:t>run;  </a:t>
            </a:r>
          </a:p>
        </p:txBody>
      </p:sp>
    </p:spTree>
    <p:extLst>
      <p:ext uri="{BB962C8B-B14F-4D97-AF65-F5344CB8AC3E}">
        <p14:creationId xmlns:p14="http://schemas.microsoft.com/office/powerpoint/2010/main" val="9956833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4904D9-032C-793E-6967-D5B2561768AA}"/>
              </a:ext>
            </a:extLst>
          </p:cNvPr>
          <p:cNvSpPr>
            <a:spLocks noGrp="1"/>
          </p:cNvSpPr>
          <p:nvPr>
            <p:ph type="title"/>
          </p:nvPr>
        </p:nvSpPr>
        <p:spPr>
          <a:xfrm>
            <a:off x="838200" y="365125"/>
            <a:ext cx="10515600" cy="926843"/>
          </a:xfrm>
        </p:spPr>
        <p:txBody>
          <a:bodyPr/>
          <a:lstStyle/>
          <a:p>
            <a:r>
              <a:rPr lang="en-US" dirty="0">
                <a:cs typeface="Calibri Light"/>
              </a:rPr>
              <a:t>Total Points and Per Game for each Team</a:t>
            </a:r>
            <a:endParaRPr lang="en-US"/>
          </a:p>
        </p:txBody>
      </p:sp>
      <p:pic>
        <p:nvPicPr>
          <p:cNvPr id="4" name="Picture 4">
            <a:extLst>
              <a:ext uri="{FF2B5EF4-FFF2-40B4-BE49-F238E27FC236}">
                <a16:creationId xmlns:a16="http://schemas.microsoft.com/office/drawing/2014/main" id="{CA30D8C2-F93C-F8B5-DA61-0A753A9A0FD9}"/>
              </a:ext>
            </a:extLst>
          </p:cNvPr>
          <p:cNvPicPr>
            <a:picLocks noGrp="1" noChangeAspect="1"/>
          </p:cNvPicPr>
          <p:nvPr>
            <p:ph idx="1"/>
          </p:nvPr>
        </p:nvPicPr>
        <p:blipFill>
          <a:blip r:embed="rId2"/>
          <a:stretch>
            <a:fillRect/>
          </a:stretch>
        </p:blipFill>
        <p:spPr>
          <a:xfrm>
            <a:off x="221290" y="1833803"/>
            <a:ext cx="5042047" cy="781935"/>
          </a:xfrm>
        </p:spPr>
      </p:pic>
      <p:pic>
        <p:nvPicPr>
          <p:cNvPr id="5" name="Picture 5" descr="Table&#10;&#10;Description automatically generated">
            <a:extLst>
              <a:ext uri="{FF2B5EF4-FFF2-40B4-BE49-F238E27FC236}">
                <a16:creationId xmlns:a16="http://schemas.microsoft.com/office/drawing/2014/main" id="{20FB7BCD-AF29-A197-B5C2-4313D66D0549}"/>
              </a:ext>
            </a:extLst>
          </p:cNvPr>
          <p:cNvPicPr>
            <a:picLocks noChangeAspect="1"/>
          </p:cNvPicPr>
          <p:nvPr/>
        </p:nvPicPr>
        <p:blipFill>
          <a:blip r:embed="rId3"/>
          <a:stretch>
            <a:fillRect/>
          </a:stretch>
        </p:blipFill>
        <p:spPr>
          <a:xfrm>
            <a:off x="220785" y="2738389"/>
            <a:ext cx="5043512" cy="801884"/>
          </a:xfrm>
          <a:prstGeom prst="rect">
            <a:avLst/>
          </a:prstGeom>
        </p:spPr>
      </p:pic>
      <p:pic>
        <p:nvPicPr>
          <p:cNvPr id="6" name="Picture 6" descr="Table&#10;&#10;Description automatically generated">
            <a:extLst>
              <a:ext uri="{FF2B5EF4-FFF2-40B4-BE49-F238E27FC236}">
                <a16:creationId xmlns:a16="http://schemas.microsoft.com/office/drawing/2014/main" id="{2D728174-FABE-1CE1-AAA9-8A1F3DE5CDF5}"/>
              </a:ext>
            </a:extLst>
          </p:cNvPr>
          <p:cNvPicPr>
            <a:picLocks noChangeAspect="1"/>
          </p:cNvPicPr>
          <p:nvPr/>
        </p:nvPicPr>
        <p:blipFill>
          <a:blip r:embed="rId4"/>
          <a:stretch>
            <a:fillRect/>
          </a:stretch>
        </p:blipFill>
        <p:spPr>
          <a:xfrm>
            <a:off x="220785" y="3540683"/>
            <a:ext cx="5043512" cy="865789"/>
          </a:xfrm>
          <a:prstGeom prst="rect">
            <a:avLst/>
          </a:prstGeom>
        </p:spPr>
      </p:pic>
      <p:pic>
        <p:nvPicPr>
          <p:cNvPr id="7" name="Picture 7" descr="A picture containing graphical user interface&#10;&#10;Description automatically generated">
            <a:extLst>
              <a:ext uri="{FF2B5EF4-FFF2-40B4-BE49-F238E27FC236}">
                <a16:creationId xmlns:a16="http://schemas.microsoft.com/office/drawing/2014/main" id="{6793EA55-3622-0C58-D2A4-2B368DE724FF}"/>
              </a:ext>
            </a:extLst>
          </p:cNvPr>
          <p:cNvPicPr>
            <a:picLocks noChangeAspect="1"/>
          </p:cNvPicPr>
          <p:nvPr/>
        </p:nvPicPr>
        <p:blipFill>
          <a:blip r:embed="rId5"/>
          <a:stretch>
            <a:fillRect/>
          </a:stretch>
        </p:blipFill>
        <p:spPr>
          <a:xfrm>
            <a:off x="220785" y="4398071"/>
            <a:ext cx="5043512" cy="926967"/>
          </a:xfrm>
          <a:prstGeom prst="rect">
            <a:avLst/>
          </a:prstGeom>
        </p:spPr>
      </p:pic>
      <p:pic>
        <p:nvPicPr>
          <p:cNvPr id="8" name="Picture 8" descr="Table&#10;&#10;Description automatically generated">
            <a:extLst>
              <a:ext uri="{FF2B5EF4-FFF2-40B4-BE49-F238E27FC236}">
                <a16:creationId xmlns:a16="http://schemas.microsoft.com/office/drawing/2014/main" id="{E6F1C3CB-282D-C1EE-17ED-9A4E49A6D7BF}"/>
              </a:ext>
            </a:extLst>
          </p:cNvPr>
          <p:cNvPicPr>
            <a:picLocks noChangeAspect="1"/>
          </p:cNvPicPr>
          <p:nvPr/>
        </p:nvPicPr>
        <p:blipFill>
          <a:blip r:embed="rId6"/>
          <a:stretch>
            <a:fillRect/>
          </a:stretch>
        </p:blipFill>
        <p:spPr>
          <a:xfrm>
            <a:off x="220785" y="5404185"/>
            <a:ext cx="5043512" cy="866086"/>
          </a:xfrm>
          <a:prstGeom prst="rect">
            <a:avLst/>
          </a:prstGeom>
        </p:spPr>
      </p:pic>
      <p:pic>
        <p:nvPicPr>
          <p:cNvPr id="9" name="Picture 9" descr="A picture containing table&#10;&#10;Description automatically generated">
            <a:extLst>
              <a:ext uri="{FF2B5EF4-FFF2-40B4-BE49-F238E27FC236}">
                <a16:creationId xmlns:a16="http://schemas.microsoft.com/office/drawing/2014/main" id="{B076838A-3A9A-D8AE-7098-8D95697B39EF}"/>
              </a:ext>
            </a:extLst>
          </p:cNvPr>
          <p:cNvPicPr>
            <a:picLocks noChangeAspect="1"/>
          </p:cNvPicPr>
          <p:nvPr/>
        </p:nvPicPr>
        <p:blipFill>
          <a:blip r:embed="rId7"/>
          <a:stretch>
            <a:fillRect/>
          </a:stretch>
        </p:blipFill>
        <p:spPr>
          <a:xfrm>
            <a:off x="7305391" y="1770018"/>
            <a:ext cx="4657060" cy="843747"/>
          </a:xfrm>
          <a:prstGeom prst="rect">
            <a:avLst/>
          </a:prstGeom>
        </p:spPr>
      </p:pic>
      <p:pic>
        <p:nvPicPr>
          <p:cNvPr id="10" name="Picture 10">
            <a:extLst>
              <a:ext uri="{FF2B5EF4-FFF2-40B4-BE49-F238E27FC236}">
                <a16:creationId xmlns:a16="http://schemas.microsoft.com/office/drawing/2014/main" id="{1C20CC8A-6E58-6478-76C1-F134BBB82402}"/>
              </a:ext>
            </a:extLst>
          </p:cNvPr>
          <p:cNvPicPr>
            <a:picLocks noChangeAspect="1"/>
          </p:cNvPicPr>
          <p:nvPr/>
        </p:nvPicPr>
        <p:blipFill>
          <a:blip r:embed="rId8"/>
          <a:stretch>
            <a:fillRect/>
          </a:stretch>
        </p:blipFill>
        <p:spPr>
          <a:xfrm>
            <a:off x="7334512" y="2700313"/>
            <a:ext cx="4657060" cy="779350"/>
          </a:xfrm>
          <a:prstGeom prst="rect">
            <a:avLst/>
          </a:prstGeom>
        </p:spPr>
      </p:pic>
      <p:pic>
        <p:nvPicPr>
          <p:cNvPr id="11" name="Picture 11">
            <a:extLst>
              <a:ext uri="{FF2B5EF4-FFF2-40B4-BE49-F238E27FC236}">
                <a16:creationId xmlns:a16="http://schemas.microsoft.com/office/drawing/2014/main" id="{D0B9E598-F825-F0A7-8203-54BD2746C88F}"/>
              </a:ext>
            </a:extLst>
          </p:cNvPr>
          <p:cNvPicPr>
            <a:picLocks noChangeAspect="1"/>
          </p:cNvPicPr>
          <p:nvPr/>
        </p:nvPicPr>
        <p:blipFill>
          <a:blip r:embed="rId9"/>
          <a:stretch>
            <a:fillRect/>
          </a:stretch>
        </p:blipFill>
        <p:spPr>
          <a:xfrm>
            <a:off x="7363633" y="3541388"/>
            <a:ext cx="4657060" cy="775609"/>
          </a:xfrm>
          <a:prstGeom prst="rect">
            <a:avLst/>
          </a:prstGeom>
        </p:spPr>
      </p:pic>
      <p:pic>
        <p:nvPicPr>
          <p:cNvPr id="12" name="Picture 12" descr="Graphical user interface, table&#10;&#10;Description automatically generated">
            <a:extLst>
              <a:ext uri="{FF2B5EF4-FFF2-40B4-BE49-F238E27FC236}">
                <a16:creationId xmlns:a16="http://schemas.microsoft.com/office/drawing/2014/main" id="{68BFC7C2-938A-498D-723F-C41047B66E5A}"/>
              </a:ext>
            </a:extLst>
          </p:cNvPr>
          <p:cNvPicPr>
            <a:picLocks noChangeAspect="1"/>
          </p:cNvPicPr>
          <p:nvPr/>
        </p:nvPicPr>
        <p:blipFill>
          <a:blip r:embed="rId10"/>
          <a:stretch>
            <a:fillRect/>
          </a:stretch>
        </p:blipFill>
        <p:spPr>
          <a:xfrm>
            <a:off x="7305391" y="4406784"/>
            <a:ext cx="4657060" cy="775149"/>
          </a:xfrm>
          <a:prstGeom prst="rect">
            <a:avLst/>
          </a:prstGeom>
        </p:spPr>
      </p:pic>
      <p:pic>
        <p:nvPicPr>
          <p:cNvPr id="13" name="Picture 13" descr="Table&#10;&#10;Description automatically generated">
            <a:extLst>
              <a:ext uri="{FF2B5EF4-FFF2-40B4-BE49-F238E27FC236}">
                <a16:creationId xmlns:a16="http://schemas.microsoft.com/office/drawing/2014/main" id="{FDA84927-B0D8-BACA-8252-7B3217FD7B7A}"/>
              </a:ext>
            </a:extLst>
          </p:cNvPr>
          <p:cNvPicPr>
            <a:picLocks noChangeAspect="1"/>
          </p:cNvPicPr>
          <p:nvPr/>
        </p:nvPicPr>
        <p:blipFill>
          <a:blip r:embed="rId11"/>
          <a:stretch>
            <a:fillRect/>
          </a:stretch>
        </p:blipFill>
        <p:spPr>
          <a:xfrm>
            <a:off x="7315098" y="5374634"/>
            <a:ext cx="4657060" cy="813244"/>
          </a:xfrm>
          <a:prstGeom prst="rect">
            <a:avLst/>
          </a:prstGeom>
        </p:spPr>
      </p:pic>
      <p:sp>
        <p:nvSpPr>
          <p:cNvPr id="14" name="TextBox 13">
            <a:extLst>
              <a:ext uri="{FF2B5EF4-FFF2-40B4-BE49-F238E27FC236}">
                <a16:creationId xmlns:a16="http://schemas.microsoft.com/office/drawing/2014/main" id="{4F598ED5-EFBF-DBEC-76B4-F0EE9B0981CE}"/>
              </a:ext>
            </a:extLst>
          </p:cNvPr>
          <p:cNvSpPr txBox="1"/>
          <p:nvPr/>
        </p:nvSpPr>
        <p:spPr>
          <a:xfrm>
            <a:off x="1736651" y="1302488"/>
            <a:ext cx="2401186"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cs typeface="Calibri"/>
              </a:rPr>
              <a:t>Top 5</a:t>
            </a:r>
            <a:endParaRPr lang="en-US" dirty="0"/>
          </a:p>
        </p:txBody>
      </p:sp>
      <p:sp>
        <p:nvSpPr>
          <p:cNvPr id="15" name="TextBox 14">
            <a:extLst>
              <a:ext uri="{FF2B5EF4-FFF2-40B4-BE49-F238E27FC236}">
                <a16:creationId xmlns:a16="http://schemas.microsoft.com/office/drawing/2014/main" id="{00D87C5D-D4AB-E89A-A42D-3E00554994C0}"/>
              </a:ext>
            </a:extLst>
          </p:cNvPr>
          <p:cNvSpPr txBox="1"/>
          <p:nvPr/>
        </p:nvSpPr>
        <p:spPr>
          <a:xfrm>
            <a:off x="8612372" y="1293627"/>
            <a:ext cx="1577162"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cs typeface="Calibri"/>
              </a:rPr>
              <a:t>Bottom 5</a:t>
            </a:r>
            <a:endParaRPr lang="en-US" dirty="0"/>
          </a:p>
        </p:txBody>
      </p:sp>
      <p:sp>
        <p:nvSpPr>
          <p:cNvPr id="3" name="TextBox 2">
            <a:extLst>
              <a:ext uri="{FF2B5EF4-FFF2-40B4-BE49-F238E27FC236}">
                <a16:creationId xmlns:a16="http://schemas.microsoft.com/office/drawing/2014/main" id="{441A935A-A75E-2260-ADAB-E25C7682ABD8}"/>
              </a:ext>
            </a:extLst>
          </p:cNvPr>
          <p:cNvSpPr txBox="1"/>
          <p:nvPr/>
        </p:nvSpPr>
        <p:spPr>
          <a:xfrm>
            <a:off x="5087243" y="5100283"/>
            <a:ext cx="2743200" cy="175432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200">
                <a:cs typeface="Segoe UI"/>
              </a:rPr>
              <a:t>proc sort data=final356.fantasy out=final356.teamsort; </a:t>
            </a:r>
          </a:p>
          <a:p>
            <a:r>
              <a:rPr lang="en-US" sz="1200">
                <a:cs typeface="Segoe UI"/>
              </a:rPr>
              <a:t>by Team; </a:t>
            </a:r>
          </a:p>
          <a:p>
            <a:r>
              <a:rPr lang="en-US" sz="1200">
                <a:cs typeface="Segoe UI"/>
              </a:rPr>
              <a:t>run; </a:t>
            </a:r>
          </a:p>
          <a:p>
            <a:r>
              <a:rPr lang="en-US" sz="1200">
                <a:cs typeface="Segoe UI"/>
              </a:rPr>
              <a:t>  </a:t>
            </a:r>
          </a:p>
          <a:p>
            <a:r>
              <a:rPr lang="en-US" sz="1200">
                <a:cs typeface="Segoe UI"/>
              </a:rPr>
              <a:t>proc means data=final356.teamsort; </a:t>
            </a:r>
          </a:p>
          <a:p>
            <a:r>
              <a:rPr lang="en-US" sz="1200">
                <a:cs typeface="Segoe UI"/>
              </a:rPr>
              <a:t>by team; </a:t>
            </a:r>
          </a:p>
          <a:p>
            <a:r>
              <a:rPr lang="en-US" sz="1200">
                <a:cs typeface="Segoe UI"/>
              </a:rPr>
              <a:t>var Per_Game Total; </a:t>
            </a:r>
          </a:p>
          <a:p>
            <a:r>
              <a:rPr lang="en-US" sz="1200">
                <a:cs typeface="Segoe UI"/>
              </a:rPr>
              <a:t>run; </a:t>
            </a:r>
          </a:p>
        </p:txBody>
      </p:sp>
    </p:spTree>
    <p:extLst>
      <p:ext uri="{BB962C8B-B14F-4D97-AF65-F5344CB8AC3E}">
        <p14:creationId xmlns:p14="http://schemas.microsoft.com/office/powerpoint/2010/main" val="263561362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4AA484-F125-860A-E527-92F69B3D750A}"/>
              </a:ext>
            </a:extLst>
          </p:cNvPr>
          <p:cNvSpPr>
            <a:spLocks noGrp="1"/>
          </p:cNvSpPr>
          <p:nvPr>
            <p:ph type="title"/>
          </p:nvPr>
        </p:nvSpPr>
        <p:spPr>
          <a:xfrm>
            <a:off x="838200" y="365125"/>
            <a:ext cx="10515600" cy="749633"/>
          </a:xfrm>
        </p:spPr>
        <p:txBody>
          <a:bodyPr/>
          <a:lstStyle/>
          <a:p>
            <a:r>
              <a:rPr lang="en-US" dirty="0">
                <a:cs typeface="Calibri Light"/>
              </a:rPr>
              <a:t>Total Points and Per Game for each State</a:t>
            </a:r>
            <a:endParaRPr lang="en-US" dirty="0"/>
          </a:p>
        </p:txBody>
      </p:sp>
      <p:pic>
        <p:nvPicPr>
          <p:cNvPr id="4" name="Picture 4">
            <a:extLst>
              <a:ext uri="{FF2B5EF4-FFF2-40B4-BE49-F238E27FC236}">
                <a16:creationId xmlns:a16="http://schemas.microsoft.com/office/drawing/2014/main" id="{18150AA3-9C91-506F-C76D-BAF5422B01B7}"/>
              </a:ext>
            </a:extLst>
          </p:cNvPr>
          <p:cNvPicPr>
            <a:picLocks noGrp="1" noChangeAspect="1"/>
          </p:cNvPicPr>
          <p:nvPr>
            <p:ph idx="1"/>
          </p:nvPr>
        </p:nvPicPr>
        <p:blipFill>
          <a:blip r:embed="rId2"/>
          <a:stretch>
            <a:fillRect/>
          </a:stretch>
        </p:blipFill>
        <p:spPr>
          <a:xfrm>
            <a:off x="437264" y="1861159"/>
            <a:ext cx="4229100" cy="771525"/>
          </a:xfrm>
        </p:spPr>
      </p:pic>
      <p:pic>
        <p:nvPicPr>
          <p:cNvPr id="5" name="Picture 5">
            <a:extLst>
              <a:ext uri="{FF2B5EF4-FFF2-40B4-BE49-F238E27FC236}">
                <a16:creationId xmlns:a16="http://schemas.microsoft.com/office/drawing/2014/main" id="{79B3BE8D-AA9A-9653-DA6C-870EED616B4E}"/>
              </a:ext>
            </a:extLst>
          </p:cNvPr>
          <p:cNvPicPr>
            <a:picLocks noChangeAspect="1"/>
          </p:cNvPicPr>
          <p:nvPr/>
        </p:nvPicPr>
        <p:blipFill>
          <a:blip r:embed="rId3"/>
          <a:stretch>
            <a:fillRect/>
          </a:stretch>
        </p:blipFill>
        <p:spPr>
          <a:xfrm>
            <a:off x="435935" y="2748516"/>
            <a:ext cx="4231758" cy="705293"/>
          </a:xfrm>
          <a:prstGeom prst="rect">
            <a:avLst/>
          </a:prstGeom>
        </p:spPr>
      </p:pic>
      <p:pic>
        <p:nvPicPr>
          <p:cNvPr id="6" name="Picture 6">
            <a:extLst>
              <a:ext uri="{FF2B5EF4-FFF2-40B4-BE49-F238E27FC236}">
                <a16:creationId xmlns:a16="http://schemas.microsoft.com/office/drawing/2014/main" id="{896607C8-52FE-3835-0FCC-B5256C69E103}"/>
              </a:ext>
            </a:extLst>
          </p:cNvPr>
          <p:cNvPicPr>
            <a:picLocks noChangeAspect="1"/>
          </p:cNvPicPr>
          <p:nvPr/>
        </p:nvPicPr>
        <p:blipFill>
          <a:blip r:embed="rId4"/>
          <a:stretch>
            <a:fillRect/>
          </a:stretch>
        </p:blipFill>
        <p:spPr>
          <a:xfrm>
            <a:off x="435935" y="3573830"/>
            <a:ext cx="4231758" cy="729292"/>
          </a:xfrm>
          <a:prstGeom prst="rect">
            <a:avLst/>
          </a:prstGeom>
        </p:spPr>
      </p:pic>
      <p:pic>
        <p:nvPicPr>
          <p:cNvPr id="7" name="Picture 7" descr="Table&#10;&#10;Description automatically generated">
            <a:extLst>
              <a:ext uri="{FF2B5EF4-FFF2-40B4-BE49-F238E27FC236}">
                <a16:creationId xmlns:a16="http://schemas.microsoft.com/office/drawing/2014/main" id="{CD862ADA-1DDE-679B-495D-E4D884D17DE0}"/>
              </a:ext>
            </a:extLst>
          </p:cNvPr>
          <p:cNvPicPr>
            <a:picLocks noChangeAspect="1"/>
          </p:cNvPicPr>
          <p:nvPr/>
        </p:nvPicPr>
        <p:blipFill>
          <a:blip r:embed="rId5"/>
          <a:stretch>
            <a:fillRect/>
          </a:stretch>
        </p:blipFill>
        <p:spPr>
          <a:xfrm>
            <a:off x="435935" y="4422027"/>
            <a:ext cx="4231758" cy="760689"/>
          </a:xfrm>
          <a:prstGeom prst="rect">
            <a:avLst/>
          </a:prstGeom>
        </p:spPr>
      </p:pic>
      <p:pic>
        <p:nvPicPr>
          <p:cNvPr id="8" name="Picture 8" descr="Table&#10;&#10;Description automatically generated">
            <a:extLst>
              <a:ext uri="{FF2B5EF4-FFF2-40B4-BE49-F238E27FC236}">
                <a16:creationId xmlns:a16="http://schemas.microsoft.com/office/drawing/2014/main" id="{37FA0358-5E70-ACAA-EC0F-517259A60D58}"/>
              </a:ext>
            </a:extLst>
          </p:cNvPr>
          <p:cNvPicPr>
            <a:picLocks noChangeAspect="1"/>
          </p:cNvPicPr>
          <p:nvPr/>
        </p:nvPicPr>
        <p:blipFill>
          <a:blip r:embed="rId6"/>
          <a:stretch>
            <a:fillRect/>
          </a:stretch>
        </p:blipFill>
        <p:spPr>
          <a:xfrm>
            <a:off x="435935" y="5303153"/>
            <a:ext cx="4231758" cy="743948"/>
          </a:xfrm>
          <a:prstGeom prst="rect">
            <a:avLst/>
          </a:prstGeom>
        </p:spPr>
      </p:pic>
      <p:pic>
        <p:nvPicPr>
          <p:cNvPr id="9" name="Picture 9" descr="Table&#10;&#10;Description automatically generated">
            <a:extLst>
              <a:ext uri="{FF2B5EF4-FFF2-40B4-BE49-F238E27FC236}">
                <a16:creationId xmlns:a16="http://schemas.microsoft.com/office/drawing/2014/main" id="{5EAB4ACA-3476-91A3-0418-AB7DA8DE3DFF}"/>
              </a:ext>
            </a:extLst>
          </p:cNvPr>
          <p:cNvPicPr>
            <a:picLocks noChangeAspect="1"/>
          </p:cNvPicPr>
          <p:nvPr/>
        </p:nvPicPr>
        <p:blipFill>
          <a:blip r:embed="rId7"/>
          <a:stretch>
            <a:fillRect/>
          </a:stretch>
        </p:blipFill>
        <p:spPr>
          <a:xfrm>
            <a:off x="7223051" y="1862333"/>
            <a:ext cx="4231757" cy="652402"/>
          </a:xfrm>
          <a:prstGeom prst="rect">
            <a:avLst/>
          </a:prstGeom>
        </p:spPr>
      </p:pic>
      <p:pic>
        <p:nvPicPr>
          <p:cNvPr id="10" name="Picture 10">
            <a:extLst>
              <a:ext uri="{FF2B5EF4-FFF2-40B4-BE49-F238E27FC236}">
                <a16:creationId xmlns:a16="http://schemas.microsoft.com/office/drawing/2014/main" id="{0C2B661F-070F-546B-33FF-639EA05EE551}"/>
              </a:ext>
            </a:extLst>
          </p:cNvPr>
          <p:cNvPicPr>
            <a:picLocks noChangeAspect="1"/>
          </p:cNvPicPr>
          <p:nvPr/>
        </p:nvPicPr>
        <p:blipFill>
          <a:blip r:embed="rId8"/>
          <a:stretch>
            <a:fillRect/>
          </a:stretch>
        </p:blipFill>
        <p:spPr>
          <a:xfrm>
            <a:off x="7223051" y="2748516"/>
            <a:ext cx="4231758" cy="705293"/>
          </a:xfrm>
          <a:prstGeom prst="rect">
            <a:avLst/>
          </a:prstGeom>
        </p:spPr>
      </p:pic>
      <p:pic>
        <p:nvPicPr>
          <p:cNvPr id="11" name="Picture 11">
            <a:extLst>
              <a:ext uri="{FF2B5EF4-FFF2-40B4-BE49-F238E27FC236}">
                <a16:creationId xmlns:a16="http://schemas.microsoft.com/office/drawing/2014/main" id="{200ABBAA-1285-9C82-0DAE-E0B696C7AC8D}"/>
              </a:ext>
            </a:extLst>
          </p:cNvPr>
          <p:cNvPicPr>
            <a:picLocks noChangeAspect="1"/>
          </p:cNvPicPr>
          <p:nvPr/>
        </p:nvPicPr>
        <p:blipFill>
          <a:blip r:embed="rId9"/>
          <a:stretch>
            <a:fillRect/>
          </a:stretch>
        </p:blipFill>
        <p:spPr>
          <a:xfrm>
            <a:off x="7223051" y="3690001"/>
            <a:ext cx="4184502" cy="724598"/>
          </a:xfrm>
          <a:prstGeom prst="rect">
            <a:avLst/>
          </a:prstGeom>
        </p:spPr>
      </p:pic>
      <p:pic>
        <p:nvPicPr>
          <p:cNvPr id="12" name="Picture 12">
            <a:extLst>
              <a:ext uri="{FF2B5EF4-FFF2-40B4-BE49-F238E27FC236}">
                <a16:creationId xmlns:a16="http://schemas.microsoft.com/office/drawing/2014/main" id="{093C17C6-EC26-CDD8-1EFC-F16E7D46C51A}"/>
              </a:ext>
            </a:extLst>
          </p:cNvPr>
          <p:cNvPicPr>
            <a:picLocks noChangeAspect="1"/>
          </p:cNvPicPr>
          <p:nvPr/>
        </p:nvPicPr>
        <p:blipFill>
          <a:blip r:embed="rId10"/>
          <a:stretch>
            <a:fillRect/>
          </a:stretch>
        </p:blipFill>
        <p:spPr>
          <a:xfrm>
            <a:off x="7225323" y="4574770"/>
            <a:ext cx="4130431" cy="668536"/>
          </a:xfrm>
          <a:prstGeom prst="rect">
            <a:avLst/>
          </a:prstGeom>
        </p:spPr>
      </p:pic>
      <p:pic>
        <p:nvPicPr>
          <p:cNvPr id="13" name="Picture 13" descr="Table&#10;&#10;Description automatically generated">
            <a:extLst>
              <a:ext uri="{FF2B5EF4-FFF2-40B4-BE49-F238E27FC236}">
                <a16:creationId xmlns:a16="http://schemas.microsoft.com/office/drawing/2014/main" id="{DA60ECC0-7DF3-C3D1-28D0-898AB48EE799}"/>
              </a:ext>
            </a:extLst>
          </p:cNvPr>
          <p:cNvPicPr>
            <a:picLocks noChangeAspect="1"/>
          </p:cNvPicPr>
          <p:nvPr/>
        </p:nvPicPr>
        <p:blipFill>
          <a:blip r:embed="rId11"/>
          <a:stretch>
            <a:fillRect/>
          </a:stretch>
        </p:blipFill>
        <p:spPr>
          <a:xfrm>
            <a:off x="7225323" y="5479063"/>
            <a:ext cx="4130430" cy="745412"/>
          </a:xfrm>
          <a:prstGeom prst="rect">
            <a:avLst/>
          </a:prstGeom>
        </p:spPr>
      </p:pic>
      <p:sp>
        <p:nvSpPr>
          <p:cNvPr id="14" name="TextBox 13">
            <a:extLst>
              <a:ext uri="{FF2B5EF4-FFF2-40B4-BE49-F238E27FC236}">
                <a16:creationId xmlns:a16="http://schemas.microsoft.com/office/drawing/2014/main" id="{19275531-BBAC-D3E9-B985-0E8CD7754A3A}"/>
              </a:ext>
            </a:extLst>
          </p:cNvPr>
          <p:cNvSpPr txBox="1"/>
          <p:nvPr/>
        </p:nvSpPr>
        <p:spPr>
          <a:xfrm>
            <a:off x="1825255" y="1329069"/>
            <a:ext cx="1568302"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cs typeface="Calibri"/>
              </a:rPr>
              <a:t>Top 5</a:t>
            </a:r>
            <a:endParaRPr lang="en-US" dirty="0"/>
          </a:p>
        </p:txBody>
      </p:sp>
      <p:sp>
        <p:nvSpPr>
          <p:cNvPr id="15" name="TextBox 14">
            <a:extLst>
              <a:ext uri="{FF2B5EF4-FFF2-40B4-BE49-F238E27FC236}">
                <a16:creationId xmlns:a16="http://schemas.microsoft.com/office/drawing/2014/main" id="{365737FF-6628-9599-CA74-A24DA319C8FE}"/>
              </a:ext>
            </a:extLst>
          </p:cNvPr>
          <p:cNvSpPr txBox="1"/>
          <p:nvPr/>
        </p:nvSpPr>
        <p:spPr>
          <a:xfrm>
            <a:off x="8293395" y="1267046"/>
            <a:ext cx="1568302"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cs typeface="Calibri"/>
              </a:rPr>
              <a:t>Bottom 5</a:t>
            </a:r>
            <a:endParaRPr lang="en-US" dirty="0"/>
          </a:p>
        </p:txBody>
      </p:sp>
      <p:sp>
        <p:nvSpPr>
          <p:cNvPr id="3" name="TextBox 2">
            <a:extLst>
              <a:ext uri="{FF2B5EF4-FFF2-40B4-BE49-F238E27FC236}">
                <a16:creationId xmlns:a16="http://schemas.microsoft.com/office/drawing/2014/main" id="{658C11D1-2FC1-2CE6-444F-BC819915520C}"/>
              </a:ext>
            </a:extLst>
          </p:cNvPr>
          <p:cNvSpPr txBox="1"/>
          <p:nvPr/>
        </p:nvSpPr>
        <p:spPr>
          <a:xfrm>
            <a:off x="4669316" y="4972280"/>
            <a:ext cx="2743200" cy="175432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200">
                <a:cs typeface="Segoe UI"/>
              </a:rPr>
              <a:t>proc sort data=final356.fantasy out=final356.statesort; </a:t>
            </a:r>
          </a:p>
          <a:p>
            <a:r>
              <a:rPr lang="en-US" sz="1200">
                <a:cs typeface="Segoe UI"/>
              </a:rPr>
              <a:t>by State; </a:t>
            </a:r>
          </a:p>
          <a:p>
            <a:r>
              <a:rPr lang="en-US" sz="1200">
                <a:cs typeface="Segoe UI"/>
              </a:rPr>
              <a:t>run; </a:t>
            </a:r>
          </a:p>
          <a:p>
            <a:r>
              <a:rPr lang="en-US" sz="1200">
                <a:cs typeface="Segoe UI"/>
              </a:rPr>
              <a:t>  </a:t>
            </a:r>
          </a:p>
          <a:p>
            <a:r>
              <a:rPr lang="en-US" sz="1200">
                <a:cs typeface="Segoe UI"/>
              </a:rPr>
              <a:t>proc means data=final356.statesort; </a:t>
            </a:r>
          </a:p>
          <a:p>
            <a:r>
              <a:rPr lang="en-US" sz="1200">
                <a:cs typeface="Segoe UI"/>
              </a:rPr>
              <a:t>by State; </a:t>
            </a:r>
          </a:p>
          <a:p>
            <a:r>
              <a:rPr lang="en-US" sz="1200">
                <a:cs typeface="Segoe UI"/>
              </a:rPr>
              <a:t>var Per_Game Total; </a:t>
            </a:r>
          </a:p>
          <a:p>
            <a:r>
              <a:rPr lang="en-US" sz="1200">
                <a:cs typeface="Segoe UI"/>
              </a:rPr>
              <a:t>run; </a:t>
            </a:r>
          </a:p>
        </p:txBody>
      </p:sp>
    </p:spTree>
    <p:extLst>
      <p:ext uri="{BB962C8B-B14F-4D97-AF65-F5344CB8AC3E}">
        <p14:creationId xmlns:p14="http://schemas.microsoft.com/office/powerpoint/2010/main" val="334309145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AAB4C6-DDE0-797F-D176-C440B2D28B60}"/>
              </a:ext>
            </a:extLst>
          </p:cNvPr>
          <p:cNvSpPr>
            <a:spLocks noGrp="1"/>
          </p:cNvSpPr>
          <p:nvPr>
            <p:ph type="title"/>
          </p:nvPr>
        </p:nvSpPr>
        <p:spPr>
          <a:xfrm>
            <a:off x="838200" y="365125"/>
            <a:ext cx="10515600" cy="980005"/>
          </a:xfrm>
        </p:spPr>
        <p:txBody>
          <a:bodyPr/>
          <a:lstStyle/>
          <a:p>
            <a:r>
              <a:rPr lang="en-US" dirty="0">
                <a:cs typeface="Calibri Light"/>
              </a:rPr>
              <a:t>Total Points and Per Game for each College</a:t>
            </a:r>
            <a:endParaRPr lang="en-US" dirty="0"/>
          </a:p>
        </p:txBody>
      </p:sp>
      <p:pic>
        <p:nvPicPr>
          <p:cNvPr id="4" name="Picture 4" descr="Table&#10;&#10;Description automatically generated">
            <a:extLst>
              <a:ext uri="{FF2B5EF4-FFF2-40B4-BE49-F238E27FC236}">
                <a16:creationId xmlns:a16="http://schemas.microsoft.com/office/drawing/2014/main" id="{5C2EFBF2-926D-C2E6-3FA9-78EDF815356C}"/>
              </a:ext>
            </a:extLst>
          </p:cNvPr>
          <p:cNvPicPr>
            <a:picLocks noGrp="1" noChangeAspect="1"/>
          </p:cNvPicPr>
          <p:nvPr>
            <p:ph idx="1"/>
          </p:nvPr>
        </p:nvPicPr>
        <p:blipFill>
          <a:blip r:embed="rId2"/>
          <a:stretch>
            <a:fillRect/>
          </a:stretch>
        </p:blipFill>
        <p:spPr>
          <a:xfrm>
            <a:off x="346665" y="4438779"/>
            <a:ext cx="4277389" cy="666750"/>
          </a:xfrm>
        </p:spPr>
      </p:pic>
      <p:pic>
        <p:nvPicPr>
          <p:cNvPr id="7" name="Picture 7" descr="Table&#10;&#10;Description automatically generated">
            <a:extLst>
              <a:ext uri="{FF2B5EF4-FFF2-40B4-BE49-F238E27FC236}">
                <a16:creationId xmlns:a16="http://schemas.microsoft.com/office/drawing/2014/main" id="{494B5629-F707-BC5B-AC6D-D9C98ACA6FD4}"/>
              </a:ext>
            </a:extLst>
          </p:cNvPr>
          <p:cNvPicPr>
            <a:picLocks noChangeAspect="1"/>
          </p:cNvPicPr>
          <p:nvPr/>
        </p:nvPicPr>
        <p:blipFill>
          <a:blip r:embed="rId3"/>
          <a:stretch>
            <a:fillRect/>
          </a:stretch>
        </p:blipFill>
        <p:spPr>
          <a:xfrm>
            <a:off x="7161028" y="4361873"/>
            <a:ext cx="4178595" cy="712652"/>
          </a:xfrm>
          <a:prstGeom prst="rect">
            <a:avLst/>
          </a:prstGeom>
        </p:spPr>
      </p:pic>
      <p:pic>
        <p:nvPicPr>
          <p:cNvPr id="11" name="Picture 11">
            <a:extLst>
              <a:ext uri="{FF2B5EF4-FFF2-40B4-BE49-F238E27FC236}">
                <a16:creationId xmlns:a16="http://schemas.microsoft.com/office/drawing/2014/main" id="{5DE7C97F-0D99-B354-BBF3-6CE6B37E6680}"/>
              </a:ext>
            </a:extLst>
          </p:cNvPr>
          <p:cNvPicPr>
            <a:picLocks noChangeAspect="1"/>
          </p:cNvPicPr>
          <p:nvPr/>
        </p:nvPicPr>
        <p:blipFill>
          <a:blip r:embed="rId4"/>
          <a:stretch>
            <a:fillRect/>
          </a:stretch>
        </p:blipFill>
        <p:spPr>
          <a:xfrm>
            <a:off x="7161028" y="2577213"/>
            <a:ext cx="4152013" cy="728924"/>
          </a:xfrm>
          <a:prstGeom prst="rect">
            <a:avLst/>
          </a:prstGeom>
        </p:spPr>
      </p:pic>
      <p:pic>
        <p:nvPicPr>
          <p:cNvPr id="12" name="Picture 12" descr="Graphical user interface, table&#10;&#10;Description automatically generated">
            <a:extLst>
              <a:ext uri="{FF2B5EF4-FFF2-40B4-BE49-F238E27FC236}">
                <a16:creationId xmlns:a16="http://schemas.microsoft.com/office/drawing/2014/main" id="{94C1D556-0637-D8B4-B391-4CE1983BED41}"/>
              </a:ext>
            </a:extLst>
          </p:cNvPr>
          <p:cNvPicPr>
            <a:picLocks noChangeAspect="1"/>
          </p:cNvPicPr>
          <p:nvPr/>
        </p:nvPicPr>
        <p:blipFill>
          <a:blip r:embed="rId5"/>
          <a:stretch>
            <a:fillRect/>
          </a:stretch>
        </p:blipFill>
        <p:spPr>
          <a:xfrm>
            <a:off x="347330" y="2714465"/>
            <a:ext cx="4276059" cy="711372"/>
          </a:xfrm>
          <a:prstGeom prst="rect">
            <a:avLst/>
          </a:prstGeom>
        </p:spPr>
      </p:pic>
      <p:pic>
        <p:nvPicPr>
          <p:cNvPr id="13" name="Picture 13" descr="Table&#10;&#10;Description automatically generated">
            <a:extLst>
              <a:ext uri="{FF2B5EF4-FFF2-40B4-BE49-F238E27FC236}">
                <a16:creationId xmlns:a16="http://schemas.microsoft.com/office/drawing/2014/main" id="{CD508A09-3E26-3270-0EA4-B17C1563F078}"/>
              </a:ext>
            </a:extLst>
          </p:cNvPr>
          <p:cNvPicPr>
            <a:picLocks noChangeAspect="1"/>
          </p:cNvPicPr>
          <p:nvPr/>
        </p:nvPicPr>
        <p:blipFill>
          <a:blip r:embed="rId6"/>
          <a:stretch>
            <a:fillRect/>
          </a:stretch>
        </p:blipFill>
        <p:spPr>
          <a:xfrm>
            <a:off x="7161028" y="1683645"/>
            <a:ext cx="4178595" cy="779408"/>
          </a:xfrm>
          <a:prstGeom prst="rect">
            <a:avLst/>
          </a:prstGeom>
        </p:spPr>
      </p:pic>
      <p:pic>
        <p:nvPicPr>
          <p:cNvPr id="14" name="Picture 14">
            <a:extLst>
              <a:ext uri="{FF2B5EF4-FFF2-40B4-BE49-F238E27FC236}">
                <a16:creationId xmlns:a16="http://schemas.microsoft.com/office/drawing/2014/main" id="{B007C504-7177-D5D2-0725-1DD0DA159788}"/>
              </a:ext>
            </a:extLst>
          </p:cNvPr>
          <p:cNvPicPr>
            <a:picLocks noChangeAspect="1"/>
          </p:cNvPicPr>
          <p:nvPr/>
        </p:nvPicPr>
        <p:blipFill>
          <a:blip r:embed="rId7"/>
          <a:stretch>
            <a:fillRect/>
          </a:stretch>
        </p:blipFill>
        <p:spPr>
          <a:xfrm>
            <a:off x="347331" y="3591330"/>
            <a:ext cx="4276059" cy="765178"/>
          </a:xfrm>
          <a:prstGeom prst="rect">
            <a:avLst/>
          </a:prstGeom>
        </p:spPr>
      </p:pic>
      <p:pic>
        <p:nvPicPr>
          <p:cNvPr id="15" name="Picture 15">
            <a:extLst>
              <a:ext uri="{FF2B5EF4-FFF2-40B4-BE49-F238E27FC236}">
                <a16:creationId xmlns:a16="http://schemas.microsoft.com/office/drawing/2014/main" id="{6EEA2FB0-C739-97C6-74A2-F9950945BFF2}"/>
              </a:ext>
            </a:extLst>
          </p:cNvPr>
          <p:cNvPicPr>
            <a:picLocks noChangeAspect="1"/>
          </p:cNvPicPr>
          <p:nvPr/>
        </p:nvPicPr>
        <p:blipFill>
          <a:blip r:embed="rId8"/>
          <a:stretch>
            <a:fillRect/>
          </a:stretch>
        </p:blipFill>
        <p:spPr>
          <a:xfrm>
            <a:off x="347330" y="1826216"/>
            <a:ext cx="4276059" cy="751220"/>
          </a:xfrm>
          <a:prstGeom prst="rect">
            <a:avLst/>
          </a:prstGeom>
        </p:spPr>
      </p:pic>
      <p:pic>
        <p:nvPicPr>
          <p:cNvPr id="17" name="Picture 17" descr="Table&#10;&#10;Description automatically generated">
            <a:extLst>
              <a:ext uri="{FF2B5EF4-FFF2-40B4-BE49-F238E27FC236}">
                <a16:creationId xmlns:a16="http://schemas.microsoft.com/office/drawing/2014/main" id="{54DF0FF5-77CC-6450-DE6D-DAB69E72D660}"/>
              </a:ext>
            </a:extLst>
          </p:cNvPr>
          <p:cNvPicPr>
            <a:picLocks noChangeAspect="1"/>
          </p:cNvPicPr>
          <p:nvPr/>
        </p:nvPicPr>
        <p:blipFill>
          <a:blip r:embed="rId9"/>
          <a:stretch>
            <a:fillRect/>
          </a:stretch>
        </p:blipFill>
        <p:spPr>
          <a:xfrm>
            <a:off x="7161029" y="3433844"/>
            <a:ext cx="4152013" cy="778895"/>
          </a:xfrm>
          <a:prstGeom prst="rect">
            <a:avLst/>
          </a:prstGeom>
        </p:spPr>
      </p:pic>
      <p:pic>
        <p:nvPicPr>
          <p:cNvPr id="18" name="Picture 18">
            <a:extLst>
              <a:ext uri="{FF2B5EF4-FFF2-40B4-BE49-F238E27FC236}">
                <a16:creationId xmlns:a16="http://schemas.microsoft.com/office/drawing/2014/main" id="{1C724A44-CA56-393D-D94A-EEC054DBCAD8}"/>
              </a:ext>
            </a:extLst>
          </p:cNvPr>
          <p:cNvPicPr>
            <a:picLocks noChangeAspect="1"/>
          </p:cNvPicPr>
          <p:nvPr/>
        </p:nvPicPr>
        <p:blipFill>
          <a:blip r:embed="rId10"/>
          <a:stretch>
            <a:fillRect/>
          </a:stretch>
        </p:blipFill>
        <p:spPr>
          <a:xfrm>
            <a:off x="7161028" y="5233522"/>
            <a:ext cx="4178595" cy="626260"/>
          </a:xfrm>
          <a:prstGeom prst="rect">
            <a:avLst/>
          </a:prstGeom>
        </p:spPr>
      </p:pic>
      <p:pic>
        <p:nvPicPr>
          <p:cNvPr id="19" name="Picture 19">
            <a:extLst>
              <a:ext uri="{FF2B5EF4-FFF2-40B4-BE49-F238E27FC236}">
                <a16:creationId xmlns:a16="http://schemas.microsoft.com/office/drawing/2014/main" id="{AD085850-365B-11FD-575C-773BFF507928}"/>
              </a:ext>
            </a:extLst>
          </p:cNvPr>
          <p:cNvPicPr>
            <a:picLocks noChangeAspect="1"/>
          </p:cNvPicPr>
          <p:nvPr/>
        </p:nvPicPr>
        <p:blipFill>
          <a:blip r:embed="rId11"/>
          <a:stretch>
            <a:fillRect/>
          </a:stretch>
        </p:blipFill>
        <p:spPr>
          <a:xfrm>
            <a:off x="347330" y="5185427"/>
            <a:ext cx="4276059" cy="793332"/>
          </a:xfrm>
          <a:prstGeom prst="rect">
            <a:avLst/>
          </a:prstGeom>
        </p:spPr>
      </p:pic>
      <p:sp>
        <p:nvSpPr>
          <p:cNvPr id="20" name="TextBox 19">
            <a:extLst>
              <a:ext uri="{FF2B5EF4-FFF2-40B4-BE49-F238E27FC236}">
                <a16:creationId xmlns:a16="http://schemas.microsoft.com/office/drawing/2014/main" id="{0DE521F6-8150-7222-15C4-2F169A3D3ECF}"/>
              </a:ext>
            </a:extLst>
          </p:cNvPr>
          <p:cNvSpPr txBox="1"/>
          <p:nvPr/>
        </p:nvSpPr>
        <p:spPr>
          <a:xfrm>
            <a:off x="1993604" y="1337930"/>
            <a:ext cx="1586023"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cs typeface="Calibri"/>
              </a:rPr>
              <a:t>Top 5</a:t>
            </a:r>
            <a:endParaRPr lang="en-US" dirty="0"/>
          </a:p>
        </p:txBody>
      </p:sp>
      <p:sp>
        <p:nvSpPr>
          <p:cNvPr id="21" name="TextBox 20">
            <a:extLst>
              <a:ext uri="{FF2B5EF4-FFF2-40B4-BE49-F238E27FC236}">
                <a16:creationId xmlns:a16="http://schemas.microsoft.com/office/drawing/2014/main" id="{4F58BFC3-4F36-FBCB-3398-135FD3580B53}"/>
              </a:ext>
            </a:extLst>
          </p:cNvPr>
          <p:cNvSpPr txBox="1"/>
          <p:nvPr/>
        </p:nvSpPr>
        <p:spPr>
          <a:xfrm>
            <a:off x="8851603" y="1337930"/>
            <a:ext cx="1231604"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cs typeface="Calibri"/>
              </a:rPr>
              <a:t>Bottom 5</a:t>
            </a:r>
            <a:endParaRPr lang="en-US" dirty="0"/>
          </a:p>
        </p:txBody>
      </p:sp>
      <p:sp>
        <p:nvSpPr>
          <p:cNvPr id="3" name="TextBox 2">
            <a:extLst>
              <a:ext uri="{FF2B5EF4-FFF2-40B4-BE49-F238E27FC236}">
                <a16:creationId xmlns:a16="http://schemas.microsoft.com/office/drawing/2014/main" id="{C19B15BC-734F-946A-7898-FD742EB58E8F}"/>
              </a:ext>
            </a:extLst>
          </p:cNvPr>
          <p:cNvSpPr txBox="1"/>
          <p:nvPr/>
        </p:nvSpPr>
        <p:spPr>
          <a:xfrm>
            <a:off x="4577508" y="4981460"/>
            <a:ext cx="2743200" cy="175432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200">
                <a:cs typeface="Segoe UI"/>
              </a:rPr>
              <a:t>proc sort data=final356.fantasy out=final356.collegesort; </a:t>
            </a:r>
          </a:p>
          <a:p>
            <a:r>
              <a:rPr lang="en-US" sz="1200">
                <a:cs typeface="Segoe UI"/>
              </a:rPr>
              <a:t>by College; </a:t>
            </a:r>
          </a:p>
          <a:p>
            <a:r>
              <a:rPr lang="en-US" sz="1200">
                <a:cs typeface="Segoe UI"/>
              </a:rPr>
              <a:t>run; </a:t>
            </a:r>
          </a:p>
          <a:p>
            <a:r>
              <a:rPr lang="en-US" sz="1200">
                <a:cs typeface="Segoe UI"/>
              </a:rPr>
              <a:t>  </a:t>
            </a:r>
          </a:p>
          <a:p>
            <a:r>
              <a:rPr lang="en-US" sz="1200">
                <a:cs typeface="Segoe UI"/>
              </a:rPr>
              <a:t>proc means data=final356.collegesort; </a:t>
            </a:r>
          </a:p>
          <a:p>
            <a:r>
              <a:rPr lang="en-US" sz="1200">
                <a:cs typeface="Segoe UI"/>
              </a:rPr>
              <a:t>by College; </a:t>
            </a:r>
          </a:p>
          <a:p>
            <a:r>
              <a:rPr lang="en-US" sz="1200">
                <a:cs typeface="Segoe UI"/>
              </a:rPr>
              <a:t>var Per_Game Total; </a:t>
            </a:r>
          </a:p>
          <a:p>
            <a:r>
              <a:rPr lang="en-US" sz="1200">
                <a:cs typeface="Segoe UI"/>
              </a:rPr>
              <a:t>run; </a:t>
            </a:r>
          </a:p>
        </p:txBody>
      </p:sp>
    </p:spTree>
    <p:extLst>
      <p:ext uri="{BB962C8B-B14F-4D97-AF65-F5344CB8AC3E}">
        <p14:creationId xmlns:p14="http://schemas.microsoft.com/office/powerpoint/2010/main" val="275900106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6" name="Rectangle 30">
            <a:extLst>
              <a:ext uri="{FF2B5EF4-FFF2-40B4-BE49-F238E27FC236}">
                <a16:creationId xmlns:a16="http://schemas.microsoft.com/office/drawing/2014/main" id="{AB902CB9-C7DC-4673-B7D5-F22DCF0EC54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72319EF-0585-EA90-6D91-565B1043CF49}"/>
              </a:ext>
            </a:extLst>
          </p:cNvPr>
          <p:cNvSpPr>
            <a:spLocks noGrp="1"/>
          </p:cNvSpPr>
          <p:nvPr>
            <p:ph type="title"/>
          </p:nvPr>
        </p:nvSpPr>
        <p:spPr>
          <a:xfrm>
            <a:off x="900404" y="303625"/>
            <a:ext cx="10515595" cy="1499852"/>
          </a:xfrm>
        </p:spPr>
        <p:txBody>
          <a:bodyPr anchor="b">
            <a:normAutofit/>
          </a:bodyPr>
          <a:lstStyle/>
          <a:p>
            <a:pPr algn="ctr"/>
            <a:r>
              <a:rPr lang="en-US" sz="4000" dirty="0">
                <a:ea typeface="Calibri Light"/>
                <a:cs typeface="Calibri Light"/>
              </a:rPr>
              <a:t>Total points and </a:t>
            </a:r>
            <a:r>
              <a:rPr lang="en-US" sz="4000" dirty="0" err="1">
                <a:ea typeface="Calibri Light"/>
                <a:cs typeface="Calibri Light"/>
              </a:rPr>
              <a:t>Per_Game</a:t>
            </a:r>
            <a:r>
              <a:rPr lang="en-US" sz="4000" dirty="0">
                <a:ea typeface="Calibri Light"/>
                <a:cs typeface="Calibri Light"/>
              </a:rPr>
              <a:t> points for Position</a:t>
            </a:r>
            <a:br>
              <a:rPr lang="en-US" sz="4000" dirty="0">
                <a:ea typeface="Calibri Light"/>
                <a:cs typeface="Calibri Light"/>
              </a:rPr>
            </a:br>
            <a:endParaRPr lang="en-US" sz="4000"/>
          </a:p>
        </p:txBody>
      </p:sp>
      <p:pic>
        <p:nvPicPr>
          <p:cNvPr id="8" name="Picture 8" descr="Table&#10;&#10;Description automatically generated">
            <a:extLst>
              <a:ext uri="{FF2B5EF4-FFF2-40B4-BE49-F238E27FC236}">
                <a16:creationId xmlns:a16="http://schemas.microsoft.com/office/drawing/2014/main" id="{F814C0CA-6BAB-B48D-705E-089211F68813}"/>
              </a:ext>
            </a:extLst>
          </p:cNvPr>
          <p:cNvPicPr>
            <a:picLocks noChangeAspect="1"/>
          </p:cNvPicPr>
          <p:nvPr/>
        </p:nvPicPr>
        <p:blipFill>
          <a:blip r:embed="rId2"/>
          <a:stretch>
            <a:fillRect/>
          </a:stretch>
        </p:blipFill>
        <p:spPr>
          <a:xfrm>
            <a:off x="3551508" y="1607634"/>
            <a:ext cx="5091984" cy="4880239"/>
          </a:xfrm>
          <a:prstGeom prst="rect">
            <a:avLst/>
          </a:prstGeom>
        </p:spPr>
      </p:pic>
      <p:sp>
        <p:nvSpPr>
          <p:cNvPr id="5" name="TextBox 4">
            <a:extLst>
              <a:ext uri="{FF2B5EF4-FFF2-40B4-BE49-F238E27FC236}">
                <a16:creationId xmlns:a16="http://schemas.microsoft.com/office/drawing/2014/main" id="{730D71EB-C74E-3441-0CA1-00419E3B842B}"/>
              </a:ext>
            </a:extLst>
          </p:cNvPr>
          <p:cNvSpPr txBox="1"/>
          <p:nvPr/>
        </p:nvSpPr>
        <p:spPr>
          <a:xfrm>
            <a:off x="898849" y="4174931"/>
            <a:ext cx="274320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endParaRPr lang="en-US"/>
          </a:p>
        </p:txBody>
      </p:sp>
      <p:sp>
        <p:nvSpPr>
          <p:cNvPr id="3" name="TextBox 2">
            <a:extLst>
              <a:ext uri="{FF2B5EF4-FFF2-40B4-BE49-F238E27FC236}">
                <a16:creationId xmlns:a16="http://schemas.microsoft.com/office/drawing/2014/main" id="{611EC6C5-96F9-2D1F-D6D0-8774E947D524}"/>
              </a:ext>
            </a:extLst>
          </p:cNvPr>
          <p:cNvSpPr txBox="1"/>
          <p:nvPr/>
        </p:nvSpPr>
        <p:spPr>
          <a:xfrm>
            <a:off x="8877771" y="4897665"/>
            <a:ext cx="3199429" cy="175432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200">
                <a:cs typeface="Segoe UI"/>
              </a:rPr>
              <a:t>proc sort data=final356.fantasy out=final356.positionsort; ​</a:t>
            </a:r>
          </a:p>
          <a:p>
            <a:r>
              <a:rPr lang="en-US" sz="1200">
                <a:cs typeface="Segoe UI"/>
              </a:rPr>
              <a:t>by Position; ​</a:t>
            </a:r>
          </a:p>
          <a:p>
            <a:r>
              <a:rPr lang="en-US" sz="1200">
                <a:cs typeface="Segoe UI"/>
              </a:rPr>
              <a:t>run; ​</a:t>
            </a:r>
          </a:p>
          <a:p>
            <a:r>
              <a:rPr lang="en-US" sz="1200">
                <a:cs typeface="Segoe UI"/>
              </a:rPr>
              <a:t>  ​</a:t>
            </a:r>
          </a:p>
          <a:p>
            <a:r>
              <a:rPr lang="en-US" sz="1200">
                <a:cs typeface="Segoe UI"/>
              </a:rPr>
              <a:t>proc means data=final356.positionsort; ​</a:t>
            </a:r>
          </a:p>
          <a:p>
            <a:r>
              <a:rPr lang="en-US" sz="1200">
                <a:cs typeface="Segoe UI"/>
              </a:rPr>
              <a:t>by Position; ​</a:t>
            </a:r>
          </a:p>
          <a:p>
            <a:r>
              <a:rPr lang="en-US" sz="1200">
                <a:cs typeface="Segoe UI"/>
              </a:rPr>
              <a:t>var Per_Game Total; ​</a:t>
            </a:r>
          </a:p>
          <a:p>
            <a:r>
              <a:rPr lang="en-US" sz="1200">
                <a:cs typeface="Segoe UI"/>
              </a:rPr>
              <a:t>run; </a:t>
            </a:r>
          </a:p>
        </p:txBody>
      </p:sp>
    </p:spTree>
    <p:extLst>
      <p:ext uri="{BB962C8B-B14F-4D97-AF65-F5344CB8AC3E}">
        <p14:creationId xmlns:p14="http://schemas.microsoft.com/office/powerpoint/2010/main" val="400738561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2953F9-67B9-34A1-95D4-69C45E7D4EBD}"/>
              </a:ext>
            </a:extLst>
          </p:cNvPr>
          <p:cNvSpPr>
            <a:spLocks noGrp="1"/>
          </p:cNvSpPr>
          <p:nvPr>
            <p:ph type="title"/>
          </p:nvPr>
        </p:nvSpPr>
        <p:spPr>
          <a:xfrm>
            <a:off x="838200" y="365125"/>
            <a:ext cx="10515600" cy="1131423"/>
          </a:xfrm>
          <a:solidFill>
            <a:srgbClr val="ED7D31"/>
          </a:solidFill>
        </p:spPr>
        <p:txBody>
          <a:bodyPr/>
          <a:lstStyle/>
          <a:p>
            <a:r>
              <a:rPr lang="en-US">
                <a:cs typeface="Calibri Light"/>
              </a:rPr>
              <a:t>Conclusions</a:t>
            </a:r>
            <a:endParaRPr lang="en-US"/>
          </a:p>
        </p:txBody>
      </p:sp>
      <p:sp>
        <p:nvSpPr>
          <p:cNvPr id="3" name="Content Placeholder 2">
            <a:extLst>
              <a:ext uri="{FF2B5EF4-FFF2-40B4-BE49-F238E27FC236}">
                <a16:creationId xmlns:a16="http://schemas.microsoft.com/office/drawing/2014/main" id="{2DC13487-5552-1249-F95C-ECC8C6992B4B}"/>
              </a:ext>
            </a:extLst>
          </p:cNvPr>
          <p:cNvSpPr>
            <a:spLocks noGrp="1"/>
          </p:cNvSpPr>
          <p:nvPr>
            <p:ph idx="1"/>
          </p:nvPr>
        </p:nvSpPr>
        <p:spPr>
          <a:xfrm>
            <a:off x="32519" y="1427638"/>
            <a:ext cx="12156083" cy="5419108"/>
          </a:xfrm>
        </p:spPr>
        <p:txBody>
          <a:bodyPr vert="horz" lIns="91440" tIns="45720" rIns="91440" bIns="45720" rtlCol="0" anchor="t">
            <a:normAutofit/>
          </a:bodyPr>
          <a:lstStyle/>
          <a:p>
            <a:r>
              <a:rPr lang="en-US" sz="2000" dirty="0">
                <a:ea typeface="Calibri"/>
                <a:cs typeface="Calibri"/>
              </a:rPr>
              <a:t>We believe that these are the biggest take aways from this data</a:t>
            </a:r>
          </a:p>
          <a:p>
            <a:endParaRPr lang="en-US" sz="2000" dirty="0">
              <a:ea typeface="Calibri"/>
              <a:cs typeface="Calibri"/>
            </a:endParaRPr>
          </a:p>
          <a:p>
            <a:pPr marL="514350" indent="-514350">
              <a:buAutoNum type="arabicPeriod"/>
            </a:pPr>
            <a:r>
              <a:rPr lang="en-US" sz="2000" dirty="0">
                <a:ea typeface="Calibri"/>
                <a:cs typeface="Calibri"/>
              </a:rPr>
              <a:t>Age matters a lot in real life football, but in regards to fantasy football, it really doesn't have a large impact on how many points will be scored.</a:t>
            </a:r>
          </a:p>
          <a:p>
            <a:pPr marL="514350" indent="-514350">
              <a:buAutoNum type="arabicPeriod"/>
            </a:pPr>
            <a:endParaRPr lang="en-US" sz="2000" dirty="0">
              <a:ea typeface="Calibri"/>
              <a:cs typeface="Calibri"/>
            </a:endParaRPr>
          </a:p>
          <a:p>
            <a:pPr marL="514350" indent="-514350">
              <a:buAutoNum type="arabicPeriod"/>
            </a:pPr>
            <a:r>
              <a:rPr lang="en-US" sz="2000" dirty="0">
                <a:ea typeface="Calibri"/>
                <a:cs typeface="Calibri"/>
              </a:rPr>
              <a:t>Even if a player is amazing in real life, the more games that they miss in the season, the more it affects their per game score in the ones that they do play.</a:t>
            </a:r>
          </a:p>
          <a:p>
            <a:pPr marL="514350" indent="-514350">
              <a:buAutoNum type="arabicPeriod"/>
            </a:pPr>
            <a:endParaRPr lang="en-US" sz="2000" dirty="0">
              <a:ea typeface="Calibri"/>
              <a:cs typeface="Calibri"/>
            </a:endParaRPr>
          </a:p>
          <a:p>
            <a:pPr marL="514350" indent="-514350">
              <a:buAutoNum type="arabicPeriod"/>
            </a:pPr>
            <a:r>
              <a:rPr lang="en-US" sz="2000" dirty="0">
                <a:ea typeface="Calibri"/>
                <a:cs typeface="Calibri"/>
              </a:rPr>
              <a:t>Most points from each position: QB &gt; RB &gt; WR &gt; K &gt; TE</a:t>
            </a:r>
          </a:p>
          <a:p>
            <a:pPr marL="514350" indent="-514350">
              <a:buAutoNum type="arabicPeriod"/>
            </a:pPr>
            <a:endParaRPr lang="en-US" sz="2000" dirty="0">
              <a:ea typeface="Calibri"/>
              <a:cs typeface="Calibri"/>
            </a:endParaRPr>
          </a:p>
          <a:p>
            <a:pPr marL="514350" indent="-514350">
              <a:buAutoNum type="arabicPeriod"/>
            </a:pPr>
            <a:r>
              <a:rPr lang="en-US" sz="2000" dirty="0">
                <a:ea typeface="Calibri"/>
                <a:cs typeface="Calibri"/>
              </a:rPr>
              <a:t>When the sample size is large, it is important to know the state a player was born in, the college they played for, and the team they currently play for in the NFL.  It seems that these give a real nice insight to how many points a player will score whether it be high or low</a:t>
            </a:r>
          </a:p>
        </p:txBody>
      </p:sp>
    </p:spTree>
    <p:extLst>
      <p:ext uri="{BB962C8B-B14F-4D97-AF65-F5344CB8AC3E}">
        <p14:creationId xmlns:p14="http://schemas.microsoft.com/office/powerpoint/2010/main" val="13020266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FA1918-2E88-60C6-CCB7-A469CADBFC7E}"/>
              </a:ext>
            </a:extLst>
          </p:cNvPr>
          <p:cNvSpPr>
            <a:spLocks noGrp="1"/>
          </p:cNvSpPr>
          <p:nvPr>
            <p:ph type="title"/>
          </p:nvPr>
        </p:nvSpPr>
        <p:spPr/>
        <p:txBody>
          <a:bodyPr/>
          <a:lstStyle/>
          <a:p>
            <a:r>
              <a:rPr lang="en-US" dirty="0">
                <a:ea typeface="Calibri Light"/>
                <a:cs typeface="Calibri Light"/>
              </a:rPr>
              <a:t>Source</a:t>
            </a:r>
            <a:endParaRPr lang="en-US" dirty="0"/>
          </a:p>
        </p:txBody>
      </p:sp>
      <p:sp>
        <p:nvSpPr>
          <p:cNvPr id="3" name="Content Placeholder 2">
            <a:extLst>
              <a:ext uri="{FF2B5EF4-FFF2-40B4-BE49-F238E27FC236}">
                <a16:creationId xmlns:a16="http://schemas.microsoft.com/office/drawing/2014/main" id="{62E71325-FD81-816E-A24C-FCF4DDC14CB1}"/>
              </a:ext>
            </a:extLst>
          </p:cNvPr>
          <p:cNvSpPr>
            <a:spLocks noGrp="1"/>
          </p:cNvSpPr>
          <p:nvPr>
            <p:ph idx="1"/>
          </p:nvPr>
        </p:nvSpPr>
        <p:spPr/>
        <p:txBody>
          <a:bodyPr vert="horz" lIns="91440" tIns="45720" rIns="91440" bIns="45720" rtlCol="0" anchor="t">
            <a:normAutofit/>
          </a:bodyPr>
          <a:lstStyle/>
          <a:p>
            <a:r>
              <a:rPr lang="en-US" sz="2400" i="1" dirty="0">
                <a:ea typeface="Calibri"/>
                <a:cs typeface="Calibri"/>
              </a:rPr>
              <a:t>Pro Football Stats, history, scores, standings, playoffs, Schedule &amp; Records</a:t>
            </a:r>
            <a:r>
              <a:rPr lang="en-US" sz="2400" dirty="0">
                <a:ea typeface="Calibri"/>
                <a:cs typeface="Calibri"/>
              </a:rPr>
              <a:t>. Pro. (n.d.). Retrieved April 18, 2023, from </a:t>
            </a:r>
            <a:r>
              <a:rPr lang="en-US" sz="2400" u="sng" dirty="0">
                <a:solidFill>
                  <a:srgbClr val="0563C1"/>
                </a:solidFill>
                <a:ea typeface="Calibri"/>
                <a:cs typeface="Calibri"/>
                <a:hlinkClick r:id="rId2"/>
              </a:rPr>
              <a:t>https://www.pro-football-reference.com/</a:t>
            </a:r>
            <a:endParaRPr lang="en-US" sz="2400" dirty="0">
              <a:ea typeface="Calibri"/>
              <a:cs typeface="Calibri"/>
            </a:endParaRPr>
          </a:p>
        </p:txBody>
      </p:sp>
    </p:spTree>
    <p:extLst>
      <p:ext uri="{BB962C8B-B14F-4D97-AF65-F5344CB8AC3E}">
        <p14:creationId xmlns:p14="http://schemas.microsoft.com/office/powerpoint/2010/main" val="1847071997"/>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0</TotalTime>
  <Words>1671</Words>
  <Application>Microsoft Office PowerPoint</Application>
  <PresentationFormat>Widescreen</PresentationFormat>
  <Paragraphs>208</Paragraphs>
  <Slides>24</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24</vt:i4>
      </vt:variant>
    </vt:vector>
  </HeadingPairs>
  <TitlesOfParts>
    <vt:vector size="29" baseType="lpstr">
      <vt:lpstr>Arial</vt:lpstr>
      <vt:lpstr>Calibri</vt:lpstr>
      <vt:lpstr>Calibri Light</vt:lpstr>
      <vt:lpstr>Segoe UI</vt:lpstr>
      <vt:lpstr>office theme</vt:lpstr>
      <vt:lpstr>Who Helps you WIN?!</vt:lpstr>
      <vt:lpstr>Introduction</vt:lpstr>
      <vt:lpstr>Contents Procedure</vt:lpstr>
      <vt:lpstr>Variables: Pt.1 </vt:lpstr>
      <vt:lpstr>Variables: Pt.2 Player Variables</vt:lpstr>
      <vt:lpstr>Variables: Pt.3 Kicker Variables</vt:lpstr>
      <vt:lpstr>Variables: Pt.4 </vt:lpstr>
      <vt:lpstr>Formula:  Player Stats</vt:lpstr>
      <vt:lpstr>Formula:  Kicking Stats</vt:lpstr>
      <vt:lpstr>Data Tables</vt:lpstr>
      <vt:lpstr>Means Procedure</vt:lpstr>
      <vt:lpstr>Means Procedure Continued</vt:lpstr>
      <vt:lpstr>Frequency Fananza</vt:lpstr>
      <vt:lpstr>We Said Fananza</vt:lpstr>
      <vt:lpstr>Regression Analysis Test</vt:lpstr>
      <vt:lpstr>ANOVA Tables by Position vs Per-game Score </vt:lpstr>
      <vt:lpstr>Regression Code</vt:lpstr>
      <vt:lpstr>Total Points and Per Game for each Age</vt:lpstr>
      <vt:lpstr>Total Points and Per Game for each Team</vt:lpstr>
      <vt:lpstr>Total Points and Per Game for each State</vt:lpstr>
      <vt:lpstr>Total Points and Per Game for each College</vt:lpstr>
      <vt:lpstr>Total points and Per_Game points for Position </vt:lpstr>
      <vt:lpstr>Conclusions</vt:lpstr>
      <vt:lpstr>Source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
  <cp:lastModifiedBy>Mueller, Christopher J</cp:lastModifiedBy>
  <cp:revision>223</cp:revision>
  <dcterms:created xsi:type="dcterms:W3CDTF">2023-04-09T03:25:59Z</dcterms:created>
  <dcterms:modified xsi:type="dcterms:W3CDTF">2026-01-03T13:48:27Z</dcterms:modified>
</cp:coreProperties>
</file>